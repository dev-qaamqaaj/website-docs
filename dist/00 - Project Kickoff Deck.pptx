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4297680" cy="2377440"/>
          </a:xfrm>
          <a:prstGeom prst="rect">
            <a:avLst/>
          </a:prstGeom>
          <a:solidFill>
            <a:srgbClr val="4E0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7B1E2E"/>
                </a:solidFill>
                <a:latin typeface="Playfair Display"/>
              </a:rPr>
              <a:t>OBD</a:t>
            </a:r>
          </a:p>
        </p:txBody>
      </p:sp>
      <p:sp>
        <p:nvSpPr>
          <p:cNvPr id="6" name="Oval 5"/>
          <p:cNvSpPr/>
          <p:nvPr/>
        </p:nvSpPr>
        <p:spPr>
          <a:xfrm>
            <a:off x="996697" y="996697"/>
            <a:ext cx="61813" cy="61813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64958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906353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E7A3AE"/>
                </a:solidFill>
                <a:latin typeface="Inter"/>
              </a:rPr>
              <a:t>A I   S O L U T I O N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1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FFFFFF"/>
                </a:solidFill>
                <a:latin typeface="Playfair Display"/>
              </a:rPr>
              <a:t>Build.  </a:t>
            </a:r>
            <a:r>
              <a:rPr sz="2400" b="0" i="0">
                <a:solidFill>
                  <a:srgbClr val="FFFFFF"/>
                </a:solidFill>
                <a:latin typeface="Playfair Display"/>
              </a:rPr>
              <a:t>Launch.  </a:t>
            </a:r>
            <a:r>
              <a:rPr sz="2400" b="0" i="0">
                <a:solidFill>
                  <a:srgbClr val="E7A3AE"/>
                </a:solidFill>
                <a:latin typeface="Playfair Display"/>
              </a:rPr>
              <a:t>Care.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E7A3AE"/>
                </a:solidFill>
                <a:latin typeface="Inter"/>
              </a:rPr>
              <a:t>AI Solutions · MVP Development · Web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PROJECT KICKOFF  ·  CLIENT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141414"/>
                </a:solidFill>
                <a:latin typeface="Playfair Display"/>
              </a:rPr>
              <a:t>Your website,</a:t>
            </a:r>
          </a:p>
          <a:p>
            <a:pPr algn="l">
              <a:lnSpc>
                <a:spcPct val="100000"/>
              </a:lnSpc>
            </a:pPr>
            <a:r>
              <a:rPr sz="4600" b="0" i="1">
                <a:solidFill>
                  <a:srgbClr val="7B1E2E"/>
                </a:solidFill>
                <a:latin typeface="Playfair Display"/>
              </a:rPr>
              <a:t>launched properly.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840480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11480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A6C"/>
                </a:solidFill>
                <a:latin typeface="Inter"/>
              </a:rPr>
              <a:t>From a finished build to a secure, professional presence on your own domain, with the infrastructure, email and support behind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5532120"/>
            <a:ext cx="6583680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PREPARED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Prepared for our valued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PRESENTED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Omer Bin Dawood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6692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897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Inter"/>
              </a:rPr>
              <a:t>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WHO WE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01 · OBD AI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An engineering studio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built on 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6A6C"/>
                </a:solidFill>
                <a:latin typeface="Inter"/>
              </a:rPr>
              <a:t>We design and ship AI products, MVPs and production web platforms for founders and growing businesses, working with clients in the United States, Australia and Pakistan.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7B1E2E"/>
                </a:solidFill>
                <a:latin typeface="Playfair Display"/>
              </a:rP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US &amp; Australian
clients 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7B1E2E"/>
                </a:solidFill>
                <a:latin typeface="Playfair Display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Businesses served
in Pakistan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3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7B1E2E"/>
                </a:solidFill>
                <a:latin typeface="Playfair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Countries
US · AU · 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468880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6243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7B1E2E"/>
                </a:solidFill>
                <a:latin typeface="Inter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06040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AI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71800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Intelligent automation, LLM assistants and data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639312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794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7B1E2E"/>
                </a:solidFill>
                <a:latin typeface="Inte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76472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MVP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142232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Idea to investor-ready product, on foundations that scale.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09744"/>
            <a:ext cx="455371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965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7B1E2E"/>
                </a:solidFill>
                <a:latin typeface="Inter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946904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Web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312664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Fast, secure websites with infrastructure, email and support.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98932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7B1E2E"/>
                </a:solidFill>
                <a:latin typeface="Inter"/>
              </a:rPr>
              <a:t>← Your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02 · TRACK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The teams we've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built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Aginit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LEASAP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7B1E2E"/>
                </a:solidFill>
                <a:latin typeface="Inter"/>
              </a:rPr>
              <a:t>CA, 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Marketing Transformers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7B1E2E"/>
                </a:solidFill>
                <a:latin typeface="Inter"/>
              </a:rPr>
              <a:t>AUSTRALIA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4232" y="2606040"/>
            <a:ext cx="2542032" cy="141732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1392" y="283464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DevNeuron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611880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7B1E2E"/>
                </a:solidFill>
                <a:latin typeface="Inter"/>
              </a:rPr>
              <a:t>CA, USA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6E6A6C"/>
                </a:solidFill>
                <a:latin typeface="Inter"/>
              </a:rPr>
              <a:t>…plus 25+ local businesses across Pakistan.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728655" cy="10972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Founder-led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7A3AE"/>
                </a:solidFill>
                <a:latin typeface="Inter"/>
              </a:rPr>
              <a:t>Omer oversees every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Documented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7A3AE"/>
                </a:solidFill>
                <a:latin typeface="Inter"/>
              </a:rPr>
              <a:t>Scope, fees &amp; support in 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Transparent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7A3AE"/>
                </a:solidFill>
                <a:latin typeface="Inter"/>
              </a:rPr>
              <a:t>No markups on third-party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FFFFF"/>
                </a:solidFill>
                <a:latin typeface="Playfair Display"/>
              </a:rPr>
              <a:t>Yours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7A3AE"/>
                </a:solidFill>
                <a:latin typeface="Inter"/>
              </a:rPr>
              <a:t>Everything registered to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YOUR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03 · WHO YOU'LL WORK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Your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project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971800"/>
            <a:ext cx="914400" cy="914400"/>
          </a:xfrm>
          <a:prstGeom prst="ellipse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017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PROJECT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735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Omer Bin Dawood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7307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CEO &amp; Founder, OBD AI Solutions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AI Engineer, DevNeuron (CA, USA)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80560"/>
            <a:ext cx="4526280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D"/>
                </a:solidFill>
                <a:latin typeface="Inter"/>
              </a:rPr>
              <a:t>Owns technical decisions, setup, configuration and launch. Your escalation point for anything critical.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60604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2971800"/>
            <a:ext cx="914400" cy="91440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>
                <a:solidFill>
                  <a:srgbClr val="FFFFFF"/>
                </a:solidFill>
                <a:latin typeface="Playfair Display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017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ACCOUNT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735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Hira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7307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Client relations, OBD AI Solutions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4480560"/>
            <a:ext cx="4526280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D"/>
                </a:solidFill>
                <a:latin typeface="Inter"/>
              </a:rPr>
              <a:t>Your day-to-day contact for scheduling, documents, billing and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YOUR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04 · WHERE WE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Development is done.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Now we launch.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WORKSTREAM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06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06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98648"/>
            <a:ext cx="10728655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Website design &amp;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OBD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99923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304495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930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414"/>
                </a:solidFill>
                <a:latin typeface="Inter"/>
              </a:rPr>
              <a:t>Onboarding &amp; agreement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930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Both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4930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04488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6849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414"/>
                </a:solidFill>
                <a:latin typeface="Inter"/>
              </a:rPr>
              <a:t>Domain &amp; hosting purchase (in your name)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684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You, guided by 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950208"/>
            <a:ext cx="13258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9959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Next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379976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439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414"/>
                </a:solidFill>
                <a:latin typeface="Inter"/>
              </a:rPr>
              <a:t>Deployment, SSL &amp;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4439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OBD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4425696"/>
            <a:ext cx="13258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447141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Scheduled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855464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1947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414"/>
                </a:solidFill>
                <a:latin typeface="Inter"/>
              </a:rPr>
              <a:t>Professional email &amp; device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9194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OBD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4901184"/>
            <a:ext cx="13258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494690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Scheduled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33095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94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41414"/>
                </a:solidFill>
                <a:latin typeface="Inter"/>
              </a:rPr>
              <a:t>Go-live, walkthrough &amp; handover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A6C"/>
                </a:solidFill>
                <a:latin typeface="Inter"/>
              </a:rPr>
              <a:t>Both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5376672"/>
            <a:ext cx="13258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542239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Scheduled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806440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LAUNCH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05 ·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Five working days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to go 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063240"/>
            <a:ext cx="10454335" cy="1905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935224"/>
            <a:ext cx="274320" cy="274320"/>
          </a:xfrm>
          <a:prstGeom prst="ellipse">
            <a:avLst/>
          </a:prstGeom>
          <a:solidFill>
            <a:srgbClr val="7B1E2E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DAY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Onboard &amp; 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A6C"/>
                </a:solidFill>
                <a:latin typeface="Inter"/>
              </a:rPr>
              <a:t>Review pack, onboarding form, agreement, first instalment.</a:t>
            </a:r>
          </a:p>
        </p:txBody>
      </p:sp>
      <p:sp>
        <p:nvSpPr>
          <p:cNvPr id="18" name="Oval 17"/>
          <p:cNvSpPr/>
          <p:nvPr/>
        </p:nvSpPr>
        <p:spPr>
          <a:xfrm>
            <a:off x="2922971" y="2935224"/>
            <a:ext cx="274320" cy="274320"/>
          </a:xfrm>
          <a:prstGeom prst="ellipse">
            <a:avLst/>
          </a:prstGeom>
          <a:solidFill>
            <a:srgbClr val="7B1E2E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7251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DAY 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7251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Domain &amp;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7251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A6C"/>
                </a:solidFill>
                <a:latin typeface="Inter"/>
              </a:rPr>
              <a:t>Guided purchase, in your name, on a short call.</a:t>
            </a:r>
          </a:p>
        </p:txBody>
      </p:sp>
      <p:sp>
        <p:nvSpPr>
          <p:cNvPr id="22" name="Oval 21"/>
          <p:cNvSpPr/>
          <p:nvPr/>
        </p:nvSpPr>
        <p:spPr>
          <a:xfrm>
            <a:off x="5068702" y="2935224"/>
            <a:ext cx="274320" cy="274320"/>
          </a:xfrm>
          <a:prstGeom prst="ellipse">
            <a:avLst/>
          </a:prstGeom>
          <a:solidFill>
            <a:srgbClr val="7B1E2E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2982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DAY 2–4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Deploy &amp; configure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2982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A6C"/>
                </a:solidFill>
                <a:latin typeface="Inter"/>
              </a:rPr>
              <a:t>Production deploy, DNS, SSL, email and devices.</a:t>
            </a:r>
          </a:p>
        </p:txBody>
      </p:sp>
      <p:sp>
        <p:nvSpPr>
          <p:cNvPr id="26" name="Oval 25"/>
          <p:cNvSpPr/>
          <p:nvPr/>
        </p:nvSpPr>
        <p:spPr>
          <a:xfrm>
            <a:off x="7214433" y="2935224"/>
            <a:ext cx="274320" cy="274320"/>
          </a:xfrm>
          <a:prstGeom prst="ellipse">
            <a:avLst/>
          </a:prstGeom>
          <a:solidFill>
            <a:srgbClr val="7B1E2E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713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713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Review &amp; 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713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A6C"/>
                </a:solidFill>
                <a:latin typeface="Inter"/>
              </a:rPr>
              <a:t>Final review, launch, walkthrough and handover.</a:t>
            </a:r>
          </a:p>
        </p:txBody>
      </p:sp>
      <p:sp>
        <p:nvSpPr>
          <p:cNvPr id="30" name="Oval 29"/>
          <p:cNvSpPr/>
          <p:nvPr/>
        </p:nvSpPr>
        <p:spPr>
          <a:xfrm>
            <a:off x="9360164" y="293522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4444" y="2514600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TO SEPTEMBER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4444" y="3429000"/>
            <a:ext cx="19171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Care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4444" y="4114800"/>
            <a:ext cx="18714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A6C"/>
                </a:solidFill>
                <a:latin typeface="Inter"/>
              </a:rPr>
              <a:t>Support &amp; maintenance, free minor changes in month one.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74920"/>
            <a:ext cx="10728655" cy="77724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28523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414"/>
                </a:solidFill>
                <a:latin typeface="Inter"/>
              </a:rPr>
              <a:t>Launch quality checklist:  </a:t>
            </a:r>
            <a:r>
              <a:rPr sz="1200" b="0" i="0">
                <a:solidFill>
                  <a:srgbClr val="2A2A2D"/>
                </a:solidFill>
                <a:latin typeface="Inter"/>
              </a:rPr>
              <a:t>HTTPS everywhere  ·  mobile &amp; browser tested  ·  speed reviewed  ·  SPF/DKIM/DMARC email  ·  forms verified  ·  backup handed 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7B1E2E"/>
                </a:solidFill>
                <a:latin typeface="Playfair Display"/>
              </a:rPr>
              <a:t>OBD</a:t>
            </a:r>
          </a:p>
        </p:txBody>
      </p:sp>
      <p:sp>
        <p:nvSpPr>
          <p:cNvPr id="4" name="Oval 3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E7A3AE"/>
                </a:solidFill>
                <a:latin typeface="Inter"/>
              </a:rPr>
              <a:t>A I   S O L U T I O N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E7A3AE"/>
                </a:solidFill>
                <a:latin typeface="Inter"/>
              </a:rPr>
              <a:t>06 · OUR OWNERSHIP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</a:rPr>
              <a:t>Everything that runs your business online </a:t>
            </a:r>
            <a:r>
              <a:rPr sz="3000" b="0" i="1">
                <a:solidFill>
                  <a:srgbClr val="E7A3AE"/>
                </a:solidFill>
                <a:latin typeface="Playfair Display"/>
              </a:rPr>
              <a:t>belongs to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02920" cy="27940"/>
          </a:xfrm>
          <a:prstGeom prst="rect">
            <a:avLst/>
          </a:prstGeom>
          <a:solidFill>
            <a:srgbClr val="E7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9050" cy="12344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C4C5"/>
                </a:solidFill>
                <a:latin typeface="Inter"/>
              </a:rPr>
              <a:t>Registered in your name with your contact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683" y="2834640"/>
            <a:ext cx="19050" cy="12344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C4C5"/>
                </a:solidFill>
                <a:latin typeface="Inter"/>
              </a:rPr>
              <a:t>Account and billing in your name, paid to the provider.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2834640"/>
            <a:ext cx="19050" cy="12344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C4C5"/>
                </a:solidFill>
                <a:latin typeface="Inter"/>
              </a:rPr>
              <a:t>Mailboxes on your domain, with passwords that are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011" y="2834640"/>
            <a:ext cx="19050" cy="12344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611" y="2834640"/>
            <a:ext cx="22249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Playfair Display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611" y="3291840"/>
            <a:ext cx="22249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C4C5"/>
                </a:solidFill>
                <a:latin typeface="Inter"/>
              </a:rPr>
              <a:t>Delegated for setup only. Revoke it at any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10728655" cy="7620"/>
          </a:xfrm>
          <a:prstGeom prst="rect">
            <a:avLst/>
          </a:prstGeom>
          <a:solidFill>
            <a:srgbClr val="3A3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E7A3AE"/>
                </a:solidFill>
                <a:latin typeface="Inter"/>
              </a:rPr>
              <a:t>INDICATIVE THIRD-PARTY COSTS  ·  PAID DIRECTLY BY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Playfair Display"/>
              </a:rPr>
              <a:t>~ PKR 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C4C5"/>
                </a:solidFill>
                <a:latin typeface="Inter"/>
              </a:rPr>
              <a:t>Domain name (1 year)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29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Playfair Display"/>
              </a:rPr>
              <a:t>~ PKR 7,000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C4C5"/>
                </a:solidFill>
                <a:latin typeface="Inter"/>
              </a:rPr>
              <a:t>Web hosting (1 year)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29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0% commission.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9C4C5"/>
                </a:solidFill>
                <a:latin typeface="Inter"/>
              </a:rPr>
              <a:t>We don't resell or mark up domains, hosting or email.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8A8586"/>
                </a:solidFill>
                <a:latin typeface="Inter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YOUR 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07 · REFERRAL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Below our standard rates,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by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E6A6C"/>
                </a:solidFill>
                <a:latin typeface="Inter"/>
              </a:rPr>
              <a:t>Because you were referred by Isha, preferential rates apply to both development and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063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YOUR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55848"/>
            <a:ext cx="10728655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Website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96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Completed, built from your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66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538728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15,000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Deployment · Complete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62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B1E2E"/>
                </a:solidFill>
                <a:latin typeface="Inter"/>
              </a:rPr>
              <a:t>Option A  ·  Recommended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793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251960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20,000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7375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4690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41414"/>
                </a:solidFill>
                <a:latin typeface="Playfair Display"/>
              </a:rPr>
              <a:t>Deployment · Launch Essentials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760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Option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9926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 i="0" strike="sngStrike">
                <a:solidFill>
                  <a:srgbClr val="A29C9E"/>
                </a:solidFill>
                <a:latin typeface="Inter"/>
              </a:rPr>
              <a:t>PKR 25,000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965192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 i="0">
                <a:solidFill>
                  <a:srgbClr val="141414"/>
                </a:solidFill>
                <a:latin typeface="Inter"/>
              </a:rPr>
              <a:t>PKR 12,000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86984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CHOOSE YOUR PACKAGE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08 · DEPLOYMENT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Choose how we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look after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525780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5257800" cy="82296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697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OPTION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99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Complete 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7B1E2E"/>
                </a:solidFill>
                <a:latin typeface="Playfair Display"/>
              </a:rPr>
              <a:t>PKR 20,000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Total with development: PKR 35,000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4340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Domain &amp; DNS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811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81144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Hosting setup and production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188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1888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SSL certificate (HTTPS) and security hardening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5663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5663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Professional email accounts on your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943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9437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Email setup on your phone and laptop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3212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53212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Support &amp; maintenance until 30 September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6986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69864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Free minor UI/content changes for 30 days after launch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468880"/>
            <a:ext cx="5257800" cy="361188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OPTION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999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41414"/>
                </a:solidFill>
                <a:latin typeface="Playfair Display"/>
              </a:rPr>
              <a:t>Launch Essentials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474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7B1E2E"/>
                </a:solidFill>
                <a:latin typeface="Playfair Display"/>
              </a:rPr>
              <a:t>PKR 12,000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Total with development: PKR 27,000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3434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343400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Domain &amp; DNS configuration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8114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581144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Hosting setup and production 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81888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81888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SSL certificate (HTTPS) and security hardening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05663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7B1E2E"/>
                </a:solidFill>
                <a:latin typeface="Inter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05663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A2A2D"/>
                </a:solidFill>
                <a:latin typeface="Inter"/>
              </a:rPr>
              <a:t>Defect fixes reported within 14 days of go-live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2943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6E6A6C"/>
                </a:solidFill>
                <a:latin typeface="Inter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29437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A6C"/>
                </a:solidFill>
                <a:latin typeface="Inter"/>
              </a:rPr>
              <a:t>No mailbox setup or annual maintenance (available later)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PAYMENT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09 · WHEN YOU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Two simple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instalments.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52578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7B1E2E"/>
                </a:solidFill>
                <a:latin typeface="Playfair Display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INSTALMENT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63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41414"/>
                </a:solidFill>
                <a:latin typeface="Playfair Display"/>
              </a:rPr>
              <a:t>On signing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03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A6C"/>
                </a:solidFill>
                <a:latin typeface="Inter"/>
              </a:rPr>
              <a:t>Development fee (100%)
+ deployment advance (50%)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34840"/>
            <a:ext cx="4526280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OPTION A · COMPLETE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OPTION B · LAUNCH ESSENTIALS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21,000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14600"/>
            <a:ext cx="5257800" cy="265176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0">
                <a:solidFill>
                  <a:srgbClr val="7B1E2E"/>
                </a:solidFill>
                <a:latin typeface="Playfair Display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INSTALMENT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063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41414"/>
                </a:solidFill>
                <a:latin typeface="Playfair Display"/>
              </a:rPr>
              <a:t>On 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A6C"/>
                </a:solidFill>
                <a:latin typeface="Inter"/>
              </a:rPr>
              <a:t>Deployment balance (50%)
once your site is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434840"/>
            <a:ext cx="4526280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OPTION A · COMPLETE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10,000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553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6E6A6C"/>
                </a:solidFill>
                <a:latin typeface="Inter"/>
              </a:rPr>
              <a:t>OPTION B · LAUNCH ESSENTIALS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754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1414"/>
                </a:solidFill>
                <a:latin typeface="Inter"/>
              </a:rPr>
              <a:t>PKR 6,000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6E6A6C"/>
                </a:solidFill>
                <a:latin typeface="Inter"/>
              </a:rPr>
              <a:t>Bank transfer or mobile wallet  ·  A receipt is issued for every payment  ·  Invoices and a signed agreement support both parties' tax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CARE &amp;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10 · AFTER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Care that doesn't stop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at go-live.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3931920" cy="3429000"/>
          </a:xfrm>
          <a:prstGeom prst="roundRect">
            <a:avLst>
              <a:gd name="adj" fmla="val 5000"/>
            </a:avLst>
          </a:prstGeom>
          <a:solidFill>
            <a:srgbClr val="7B1E2E"/>
          </a:solidFill>
          <a:ln w="9525">
            <a:solidFill>
              <a:srgbClr val="7B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E7A3AE"/>
                </a:solidFill>
                <a:latin typeface="Inter"/>
              </a:rPr>
              <a:t>SUPPORTED UNTIL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Playfair Display"/>
              </a:rPr>
              <a:t>30 September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Inter"/>
              </a:rPr>
              <a:t>+ Free minor UI/content changes for the first 30 days.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E7A3AE"/>
                </a:solidFill>
                <a:latin typeface="Inter"/>
              </a:rPr>
              <a:t>Something we don't normally include. Complete Care package.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514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FIRST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2807208"/>
            <a:ext cx="6473952" cy="152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7B1E2E"/>
                </a:solidFill>
                <a:latin typeface="Inter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Website or email 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971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Same business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3383280"/>
            <a:ext cx="6473952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Key page or form broken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52044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Within 1 business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931920"/>
            <a:ext cx="6473952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069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1414"/>
                </a:solidFill>
                <a:latin typeface="Inter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A2A2D"/>
                </a:solidFill>
                <a:latin typeface="Inter"/>
              </a:rPr>
              <a:t>Minor change or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06908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141414"/>
                </a:solidFill>
                <a:latin typeface="Inter"/>
              </a:rPr>
              <a:t>Within 1 business 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4480560"/>
            <a:ext cx="6473952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4754880"/>
            <a:ext cx="64739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414"/>
                </a:solidFill>
                <a:latin typeface="Inter"/>
              </a:rPr>
              <a:t>Channels:  </a:t>
            </a:r>
            <a:r>
              <a:rPr sz="1200" b="0" i="0">
                <a:solidFill>
                  <a:srgbClr val="6E6A6C"/>
                </a:solidFill>
                <a:latin typeface="Inter"/>
              </a:rPr>
              <a:t>WhatsApp project group  ·  Hira (account manager)  ·  Omer Bin Dawood (escalations)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414"/>
                </a:solidFill>
                <a:latin typeface="Inter"/>
              </a:rPr>
              <a:t>Hours:  </a:t>
            </a:r>
            <a:r>
              <a:rPr sz="1200" b="0" i="0">
                <a:solidFill>
                  <a:srgbClr val="6E6A6C"/>
                </a:solidFill>
                <a:latin typeface="Inter"/>
              </a:rPr>
              <a:t>Monday–Saturday, 10:00–19:00 PKT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3" name="Oval 2"/>
          <p:cNvSpPr/>
          <p:nvPr/>
        </p:nvSpPr>
        <p:spPr>
          <a:xfrm>
            <a:off x="1019557" y="672085"/>
            <a:ext cx="49926" cy="49926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391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41414"/>
                </a:solidFill>
                <a:latin typeface="Playfair Display"/>
              </a:rPr>
              <a:t>OBD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584" y="59911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7B1E2E"/>
                </a:solidFill>
                <a:latin typeface="Inter"/>
              </a:rPr>
              <a:t>A I   S O L U T I O N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575" y="475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6E6A6C"/>
                </a:solidFill>
                <a:latin typeface="Inter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91072"/>
            <a:ext cx="10728655" cy="7620"/>
          </a:xfrm>
          <a:prstGeom prst="rect">
            <a:avLst/>
          </a:prstGeom>
          <a:solidFill>
            <a:srgbClr val="E8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OBD AI Solutions  ·  OBD-WEB-2026-09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0" i="0">
                <a:solidFill>
                  <a:srgbClr val="6E6A6C"/>
                </a:solidFill>
                <a:latin typeface="Inter"/>
              </a:rPr>
              <a:t>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11 · LET'S GET YOU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141414"/>
                </a:solidFill>
                <a:latin typeface="Playfair Display"/>
              </a:rPr>
              <a:t>Four steps </a:t>
            </a:r>
            <a:r>
              <a:rPr sz="3400" b="0" i="1">
                <a:solidFill>
                  <a:srgbClr val="7B1E2E"/>
                </a:solidFill>
                <a:latin typeface="Playfair Display"/>
              </a:rPr>
              <a:t>from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21992"/>
            <a:ext cx="502920" cy="2794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7B1E2E"/>
                </a:solidFill>
                <a:latin typeface="Playfair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This deck and the Welcome &amp; Onboarding Pack.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973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2293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7B1E2E"/>
                </a:solidFill>
                <a:latin typeface="Playfair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2293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2293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The Client Onboarding Form: details, domains, email accounts.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8747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7B1E2E"/>
                </a:solidFill>
                <a:latin typeface="Playfair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747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Choose a package and sign the Service Agreement. Pay instalment 1.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0881" y="2514600"/>
            <a:ext cx="2579293" cy="2057400"/>
          </a:xfrm>
          <a:prstGeom prst="roundRect">
            <a:avLst>
              <a:gd name="adj" fmla="val 5000"/>
            </a:avLst>
          </a:prstGeom>
          <a:solidFill>
            <a:srgbClr val="FBF6F6"/>
          </a:solidFill>
          <a:ln w="9525">
            <a:solidFill>
              <a:srgbClr val="E8D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5201" y="26974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7B1E2E"/>
                </a:solidFill>
                <a:latin typeface="Playfair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5201" y="347472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41414"/>
                </a:solidFill>
                <a:latin typeface="Playfair Display"/>
              </a:rPr>
              <a:t>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5201" y="3840480"/>
            <a:ext cx="21220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A6C"/>
                </a:solidFill>
                <a:latin typeface="Inter"/>
              </a:rPr>
              <a:t>Book the domain &amp; hosting call. We go live within 5 working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7B1E2E"/>
                </a:solidFill>
                <a:latin typeface="Inter"/>
              </a:rPr>
              <a:t>YOUR ONBOARDING DOCUMENTS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7B1E2E"/>
                </a:solidFill>
                <a:latin typeface="Inter"/>
              </a:rPr>
              <a:t>01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Welcome &amp; Onboarding Pack      </a:t>
            </a:r>
            <a:r>
              <a:rPr sz="1000" b="1" i="0">
                <a:solidFill>
                  <a:srgbClr val="7B1E2E"/>
                </a:solidFill>
                <a:latin typeface="Inter"/>
              </a:rPr>
              <a:t>02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Client Onboarding Form      </a:t>
            </a:r>
            <a:r>
              <a:rPr sz="1000" b="1" i="0">
                <a:solidFill>
                  <a:srgbClr val="7B1E2E"/>
                </a:solidFill>
                <a:latin typeface="Inter"/>
              </a:rPr>
              <a:t>03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Website Service Agreement      </a:t>
            </a:r>
            <a:r>
              <a:rPr sz="1000" b="1" i="0">
                <a:solidFill>
                  <a:srgbClr val="7B1E2E"/>
                </a:solidFill>
                <a:latin typeface="Inter"/>
              </a:rPr>
              <a:t>04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Fee &amp; Payment Schedule      </a:t>
            </a:r>
            <a:r>
              <a:rPr sz="1000" b="1" i="0">
                <a:solidFill>
                  <a:srgbClr val="7B1E2E"/>
                </a:solidFill>
                <a:latin typeface="Inter"/>
              </a:rPr>
              <a:t>05 </a:t>
            </a:r>
            <a:r>
              <a:rPr sz="1000" b="0" i="0">
                <a:solidFill>
                  <a:srgbClr val="141414"/>
                </a:solidFill>
                <a:latin typeface="Inter"/>
              </a:rPr>
              <a:t>Go-Live Acceptance &amp; Handover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4E0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7B1E2E"/>
                </a:solidFill>
                <a:latin typeface="Playfair Display"/>
              </a:rPr>
              <a:t>OBD</a:t>
            </a:r>
          </a:p>
        </p:txBody>
      </p:sp>
      <p:sp>
        <p:nvSpPr>
          <p:cNvPr id="5" name="Oval 4"/>
          <p:cNvSpPr/>
          <p:nvPr/>
        </p:nvSpPr>
        <p:spPr>
          <a:xfrm>
            <a:off x="1088137" y="996697"/>
            <a:ext cx="61813" cy="61813"/>
          </a:xfrm>
          <a:prstGeom prst="ellipse">
            <a:avLst/>
          </a:prstGeom>
          <a:solidFill>
            <a:srgbClr val="C2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5024" y="64958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Playfair Display"/>
              </a:rPr>
              <a:t>OBD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906353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E7A3AE"/>
                </a:solidFill>
                <a:latin typeface="Inter"/>
              </a:rPr>
              <a:t>A I   S O L U T I O N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b="0" i="0">
                <a:solidFill>
                  <a:srgbClr val="FFFFFF"/>
                </a:solidFill>
                <a:latin typeface="Playfair Display"/>
              </a:rPr>
              <a:t>Thank you for </a:t>
            </a:r>
            <a:r>
              <a:rPr sz="5200" b="0" i="1">
                <a:solidFill>
                  <a:srgbClr val="E7A3AE"/>
                </a:solidFill>
                <a:latin typeface="Playfair Display"/>
              </a:rPr>
              <a:t>trusting 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502920" cy="27940"/>
          </a:xfrm>
          <a:prstGeom prst="rect">
            <a:avLst/>
          </a:prstGeom>
          <a:solidFill>
            <a:srgbClr val="E7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3DCE0"/>
                </a:solidFill>
                <a:latin typeface="Inter"/>
              </a:rPr>
              <a:t>We're excited to put your business online, and to look after it once it's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FFFFFF"/>
                </a:solidFill>
                <a:latin typeface="Playfair Display"/>
              </a:rPr>
              <a:t>Omer Bin Dawood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E7A3AE"/>
                </a:solidFill>
                <a:latin typeface="Inter"/>
              </a:rPr>
              <a:t>CEO &amp; Founder, OBD AI Solutions  ·  AI Engineer, DevNeuron (CA, USA)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