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urce-mark-circuit.jpg"/>
          <p:cNvPicPr>
            <a:picLocks noChangeAspect="1"/>
          </p:cNvPicPr>
          <p:nvPr/>
        </p:nvPicPr>
        <p:blipFill>
          <a:blip r:embed="rId2"/>
          <a:srcRect l="8036" r="8036"/>
          <a:stretch>
            <a:fillRect/>
          </a:stretch>
        </p:blipFill>
        <p:spPr>
          <a:xfrm>
            <a:off x="0" y="0"/>
            <a:ext cx="429768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120640"/>
            <a:ext cx="4297680" cy="173736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FFFFFF"/>
                </a:solidFill>
                <a:latin typeface="Playfair Display"/>
              </a:rPr>
              <a:t>Build.  </a:t>
            </a:r>
            <a:r>
              <a:rPr sz="2200" b="0" i="0">
                <a:solidFill>
                  <a:srgbClr val="FFFFFF"/>
                </a:solidFill>
                <a:latin typeface="Playfair Display"/>
              </a:rPr>
              <a:t>Launch.  </a:t>
            </a:r>
            <a:r>
              <a:rPr sz="2200" b="0" i="0">
                <a:solidFill>
                  <a:srgbClr val="C9B4FF"/>
                </a:solidFill>
                <a:latin typeface="Playfair Display"/>
              </a:rPr>
              <a:t>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C9B4FF"/>
                </a:solidFill>
                <a:latin typeface="Inter"/>
              </a:rPr>
              <a:t>AI Solutions · MVP Development · Web Engineering</a:t>
            </a:r>
          </a:p>
        </p:txBody>
      </p:sp>
      <p:pic>
        <p:nvPicPr>
          <p:cNvPr id="8" name="Picture 7" descr="ob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40080"/>
            <a:ext cx="451241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00735" y="63130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0735" y="8946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PROJECT KICKOFF  ·  GFX-T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141414"/>
                </a:solidFill>
                <a:latin typeface="Playfair Display"/>
              </a:rPr>
              <a:t>GFX-T, your website</a:t>
            </a:r>
          </a:p>
          <a:p>
            <a:pPr algn="l">
              <a:lnSpc>
                <a:spcPct val="100000"/>
              </a:lnSpc>
            </a:pPr>
            <a:r>
              <a:rPr sz="4200" b="0" i="1">
                <a:solidFill>
                  <a:srgbClr val="6A26D8"/>
                </a:solidFill>
                <a:latin typeface="Playfair Display"/>
              </a:rPr>
              <a:t>is almost ready to launch.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840480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3840480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6878"/>
                </a:solidFill>
                <a:latin typeface="Inter"/>
              </a:rPr>
              <a:t>All 7 pages are built and getting their final touches. Next, we take it live on your own domain with a professional mailbox, at no deployment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5532120"/>
            <a:ext cx="65836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GFX-T, Lahore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PRESENTED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Omer Bin Dawood &amp; Hira Baig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B6878"/>
                </a:solidFill>
                <a:latin typeface="Inter"/>
              </a:rP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01 · OBD AI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An engineering studio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built on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878"/>
                </a:solidFill>
                <a:latin typeface="Inter"/>
              </a:rPr>
              <a:t>We design and ship AI products, MVPs and production web platforms for founders and growing businesses, working with clients in the United States, Australia and Pakistan.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US &amp; Australian
clients 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Businesses served
in Pakistan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6A26D8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Countries
US · AU ·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68880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6243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AI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71800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Intelligent automation, LLM assistants and data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639312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76472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MVP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142232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Idea to investor-ready product, on foundations that scale.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09744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965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946904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312664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Fast, secure websites with infrastructure, email and support.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98932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← Your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03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02 · TRACK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The teams we've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built with.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Aginit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LEASAP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CA, 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Marketing Transformers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AUSTRALIA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DevNeuron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CA, 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6B6878"/>
                </a:solidFill>
                <a:latin typeface="Inter"/>
              </a:rPr>
              <a:t>…plus 25+ local businesses across Pakistan.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728655" cy="1097280"/>
          </a:xfrm>
          <a:prstGeom prst="roundRect">
            <a:avLst>
              <a:gd name="adj" fmla="val 8000"/>
            </a:avLst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Founder-led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Omer oversees every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Documented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Scope, fees &amp; support in 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No markups on third-party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Yours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Everything registered to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03 · WHO YOU'LL WORK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Your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project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971800"/>
            <a:ext cx="914400" cy="914400"/>
          </a:xfrm>
          <a:prstGeom prst="ellipse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PROJECT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Founder, OBD AI Solutions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AI Engineer, DevNeuron (CA, USA)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8056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Owns technical decisions, setup, configuration and launch. Your escalation point for anything critical.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2971800"/>
            <a:ext cx="914400" cy="9144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HB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MANAGING 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Hira Baig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Managing Director, OBD AI Solutions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Client relations &amp; operations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480560"/>
            <a:ext cx="452628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Your day-to-day contact for scheduling, documents, billing and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04 · GFX-T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Built from your content.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Almost 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6573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573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About 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0881" y="251460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9481" y="262432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9481" y="282549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Portfolio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Clients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973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6573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6573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Our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4427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3027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A26D8"/>
                </a:solidFill>
                <a:latin typeface="Inter"/>
              </a:rPr>
              <a:t>PAGE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3027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41414"/>
                </a:solidFill>
                <a:latin typeface="Playfair Display"/>
              </a:rPr>
              <a:t>Contact 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0881" y="3383280"/>
            <a:ext cx="2579293" cy="731520"/>
          </a:xfrm>
          <a:prstGeom prst="roundRect">
            <a:avLst>
              <a:gd name="adj" fmla="val 5000"/>
            </a:avLst>
          </a:prstGeom>
          <a:solidFill>
            <a:srgbClr val="120E2E"/>
          </a:solidFill>
          <a:ln w="9525">
            <a:solidFill>
              <a:srgbClr val="120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9481" y="3493008"/>
            <a:ext cx="25792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C9B4FF"/>
                </a:solidFill>
                <a:latin typeface="Inter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9481" y="3694176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Almost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RECEIVED FROM YOU, THANK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754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754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CEO &amp; COO photos for the Management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840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50840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Client logos for the Clients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13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6A26D8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413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A2A2D"/>
                </a:solidFill>
                <a:latin typeface="Inter"/>
              </a:rPr>
              <a:t>Portfolio images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434840"/>
            <a:ext cx="4416552" cy="132588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461772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41414"/>
                </a:solidFill>
                <a:latin typeface="Inter"/>
              </a:rPr>
              <a:t>All content is in. 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878"/>
                </a:solidFill>
                <a:latin typeface="Inter"/>
              </a:rPr>
              <a:t>We're adding the final touches now, and the site will be ready for your review shortly.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LAUNCH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05 ·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A clear path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to go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063240"/>
            <a:ext cx="10454335" cy="1905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Sign the Service Agreement and settle the development fee.</a:t>
            </a:r>
          </a:p>
        </p:txBody>
      </p:sp>
      <p:sp>
        <p:nvSpPr>
          <p:cNvPr id="18" name="Oval 17"/>
          <p:cNvSpPr/>
          <p:nvPr/>
        </p:nvSpPr>
        <p:spPr>
          <a:xfrm>
            <a:off x="2922971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7251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1–2 WORKING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7251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Domain &amp;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7251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Guided purchase, registered in your name.</a:t>
            </a:r>
          </a:p>
        </p:txBody>
      </p:sp>
      <p:sp>
        <p:nvSpPr>
          <p:cNvPr id="22" name="Oval 21"/>
          <p:cNvSpPr/>
          <p:nvPr/>
        </p:nvSpPr>
        <p:spPr>
          <a:xfrm>
            <a:off x="5068702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2982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2–3 WORKING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2982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Go-live with SSL, plus your mailbox on phone and laptop.</a:t>
            </a:r>
          </a:p>
        </p:txBody>
      </p:sp>
      <p:sp>
        <p:nvSpPr>
          <p:cNvPr id="26" name="Oval 25"/>
          <p:cNvSpPr/>
          <p:nvPr/>
        </p:nvSpPr>
        <p:spPr>
          <a:xfrm>
            <a:off x="7214433" y="2935224"/>
            <a:ext cx="274320" cy="274320"/>
          </a:xfrm>
          <a:prstGeom prst="ellipse">
            <a:avLst/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713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LAUNCH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713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Handover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713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Final review together and handover of all access.</a:t>
            </a:r>
          </a:p>
        </p:txBody>
      </p:sp>
      <p:sp>
        <p:nvSpPr>
          <p:cNvPr id="30" name="Oval 29"/>
          <p:cNvSpPr/>
          <p:nvPr/>
        </p:nvSpPr>
        <p:spPr>
          <a:xfrm>
            <a:off x="9360164" y="293522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4444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14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Launch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4444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878"/>
                </a:solidFill>
                <a:latin typeface="Inter"/>
              </a:rPr>
              <a:t>Any reported issues fixed at no cost.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74920"/>
            <a:ext cx="10728655" cy="77724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2852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Inter"/>
              </a:rPr>
              <a:t>Launch quality checklist:  </a:t>
            </a:r>
            <a:r>
              <a:rPr sz="1200" b="0" i="0">
                <a:solidFill>
                  <a:srgbClr val="2A2A2D"/>
                </a:solidFill>
                <a:latin typeface="Inter"/>
              </a:rPr>
              <a:t>HTTPS everywhere  ·  mobile &amp; browser tested  ·  speed reviewed  ·  SPF/DKIM/DMARC email  ·  forms verified  ·  backup handed 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d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C9B4FF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9B4FF"/>
                </a:solidFill>
                <a:latin typeface="Inter"/>
              </a:rPr>
              <a:t>06 · OUR OWNERSHIP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</a:rPr>
              <a:t>Everything that runs your business online </a:t>
            </a:r>
            <a:r>
              <a:rPr sz="3000" b="0" i="1">
                <a:solidFill>
                  <a:srgbClr val="C9B4FF"/>
                </a:solidFill>
                <a:latin typeface="Playfair Display"/>
              </a:rPr>
              <a:t>belongs to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2004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423160"/>
            <a:ext cx="22860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Registered in your name with your contact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683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Account and billing in your name, paid to the provider.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Mailboxes on your domain, with passwords that are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2834640"/>
            <a:ext cx="19050" cy="123444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611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8C3DA"/>
                </a:solidFill>
                <a:latin typeface="Inter"/>
              </a:rPr>
              <a:t>Delegated for setup only. Revoke it at any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10728655" cy="7620"/>
          </a:xfrm>
          <a:prstGeom prst="rect">
            <a:avLst/>
          </a:prstGeom>
          <a:solidFill>
            <a:srgbClr val="3A3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C9B4FF"/>
                </a:solidFill>
                <a:latin typeface="Inter"/>
              </a:rPr>
              <a:t>APPROX. THIRD-PARTY COSTS  ·  PAID DIRECTLY BY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B4FF"/>
                </a:solidFill>
                <a:latin typeface="Inter"/>
              </a:rPr>
              <a:t>approx. </a:t>
            </a:r>
            <a:r>
              <a:rPr sz="2600" b="0" i="0">
                <a:solidFill>
                  <a:srgbClr val="FFFFFF"/>
                </a:solidFill>
                <a:latin typeface="Playfair Display"/>
              </a:rPr>
              <a:t>~ PKR 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8C3DA"/>
                </a:solidFill>
                <a:latin typeface="Inter"/>
              </a:rPr>
              <a:t>Domain (1 year)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B4FF"/>
                </a:solidFill>
                <a:latin typeface="Inter"/>
              </a:rPr>
              <a:t>approx. </a:t>
            </a:r>
            <a:r>
              <a:rPr sz="2600" b="0" i="0">
                <a:solidFill>
                  <a:srgbClr val="FFFFFF"/>
                </a:solidFill>
                <a:latin typeface="Playfair Display"/>
              </a:rPr>
              <a:t>~ PKR 7,000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8C3DA"/>
                </a:solidFill>
                <a:latin typeface="Inter"/>
              </a:rPr>
              <a:t>Hosting (1 year)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29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0% commission.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8C3DA"/>
                </a:solidFill>
                <a:latin typeface="Inter"/>
              </a:rPr>
              <a:t>Mailbox subscriptions are paid to the email provider as per their pricing.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8A84A6"/>
                </a:solidFill>
                <a:latin typeface="Inter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07 ·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Simple,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transparent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878"/>
                </a:solidFill>
                <a:latin typeface="Inter"/>
              </a:rPr>
              <a:t>As a referral from </a:t>
            </a:r>
            <a:r>
              <a:rPr sz="1300" b="1" i="0">
                <a:solidFill>
                  <a:srgbClr val="6A26D8"/>
                </a:solidFill>
                <a:latin typeface="Inter"/>
              </a:rPr>
              <a:t>Isha (Wajeeha Baig)</a:t>
            </a:r>
            <a:r>
              <a:rPr sz="1300" b="0" i="0">
                <a:solidFill>
                  <a:srgbClr val="6B6878"/>
                </a:solidFill>
                <a:latin typeface="Inter"/>
              </a:rPr>
              <a:t>, you receive preferential pricing. Because the deployment charges were not communicated clearly at the start, we have waived the deployment fee in full.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YOUR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38728"/>
            <a:ext cx="6400800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Website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878"/>
                </a:solidFill>
                <a:latin typeface="Inter"/>
              </a:rPr>
              <a:t>7-page website, built from your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490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7216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15,000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640080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165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4573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26D8"/>
                </a:solidFill>
                <a:latin typeface="Inter"/>
              </a:rPr>
              <a:t>Waived  ·  includes 1 professional mailbox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4622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348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56632"/>
            <a:ext cx="6400800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1414"/>
                </a:solidFill>
                <a:latin typeface="Inter"/>
              </a:rPr>
              <a:t>Total, payable on signing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200" b="0" i="0">
                <a:solidFill>
                  <a:srgbClr val="6A26D8"/>
                </a:solidFill>
                <a:latin typeface="Playfair Display"/>
              </a:rPr>
              <a:t>PKR 15,000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246120"/>
            <a:ext cx="3867912" cy="265176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3474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OPTIONAL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7307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Additional professional emails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1605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6A26D8"/>
                </a:solidFill>
                <a:latin typeface="Playfair Display"/>
              </a:rPr>
              <a:t>PKR 1,500</a:t>
            </a:r>
            <a:r>
              <a:rPr sz="1100" b="0" i="0">
                <a:solidFill>
                  <a:srgbClr val="6B6878"/>
                </a:solidFill>
                <a:latin typeface="Inter"/>
              </a:rPr>
              <a:t>  per account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7548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878"/>
                </a:solidFill>
                <a:latin typeface="Inter"/>
              </a:rPr>
              <a:t>One-time setup fee paid to OBD. The mailbox subscription is paid by you directly to the email provider.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09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08 · AFTER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Support you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can rely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3931920" cy="3429000"/>
          </a:xfrm>
          <a:prstGeom prst="roundRect">
            <a:avLst>
              <a:gd name="adj" fmla="val 5000"/>
            </a:avLst>
          </a:prstGeom>
          <a:solidFill>
            <a:srgbClr val="6A26D8"/>
          </a:solidFill>
          <a:ln w="9525">
            <a:solidFill>
              <a:srgbClr val="6A2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9B4FF"/>
                </a:solidFill>
                <a:latin typeface="Inter"/>
              </a:rPr>
              <a:t>LAUNCH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FFFFFF"/>
                </a:solidFill>
                <a:latin typeface="Playfair Display"/>
              </a:rPr>
              <a:t>14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Any issue you report after go-live is fixed at no cost.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C9B4FF"/>
                </a:solidFill>
                <a:latin typeface="Inter"/>
              </a:rPr>
              <a:t>Further changes and ongoing maintenance are available on request, quoted in advance.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FIRST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807208"/>
            <a:ext cx="6473952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A26D8"/>
                </a:solidFill>
                <a:latin typeface="Inter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Website or email 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71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Same working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338328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Key page or form broken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2044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working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93192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069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Question or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06908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working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4480560"/>
            <a:ext cx="6473952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754880"/>
            <a:ext cx="64739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Contact:  </a:t>
            </a:r>
            <a:r>
              <a:rPr sz="1200" b="0" i="0">
                <a:solidFill>
                  <a:srgbClr val="6B6878"/>
                </a:solidFill>
                <a:latin typeface="Inter"/>
              </a:rPr>
              <a:t>WhatsApp project group  ·  Hira Baig (Managing Director)  ·  Omer Bin Dawood (escalations)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Hours:  </a:t>
            </a:r>
            <a:r>
              <a:rPr sz="1200" b="0" i="0">
                <a:solidFill>
                  <a:srgbClr val="6B6878"/>
                </a:solidFill>
                <a:latin typeface="Inter"/>
              </a:rPr>
              <a:t>Monday to Saturday, 10:00–19:00 PKT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"/>
            <a:ext cx="39483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5105" y="376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5105" y="606795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6A26D8"/>
                </a:solidFill>
                <a:latin typeface="Inter"/>
              </a:rPr>
              <a:t>A I   S O L U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B6878"/>
                </a:solidFill>
                <a:latin typeface="Inter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6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OBD AI Solutions  ·  OBD-GFXT-2026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B6878"/>
                </a:solidFill>
                <a:latin typeface="Inter"/>
              </a:rP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A26D8"/>
                </a:solidFill>
                <a:latin typeface="Inter"/>
              </a:rPr>
              <a:t>09 ·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Three steps </a:t>
            </a:r>
            <a:r>
              <a:rPr sz="3400" b="0" i="1">
                <a:solidFill>
                  <a:srgbClr val="6A26D8"/>
                </a:solidFill>
                <a:latin typeface="Playfair Display"/>
              </a:rPr>
              <a:t>to launch.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21992"/>
            <a:ext cx="320040" cy="30480"/>
          </a:xfrm>
          <a:prstGeom prst="rect">
            <a:avLst/>
          </a:prstGeom>
          <a:solidFill>
            <a:srgbClr val="6A2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21992"/>
            <a:ext cx="228600" cy="30480"/>
          </a:xfrm>
          <a:prstGeom prst="rect">
            <a:avLst/>
          </a:prstGeom>
          <a:solidFill>
            <a:srgbClr val="2B3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3484778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7472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41414"/>
                </a:solidFill>
                <a:latin typeface="Playfair Display"/>
              </a:rPr>
              <a:t>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878"/>
                </a:solidFill>
                <a:latin typeface="Inter"/>
              </a:rPr>
              <a:t>Review and sign the Service Agreement.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3458" y="2514600"/>
            <a:ext cx="3484778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3498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47472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41414"/>
                </a:solidFill>
                <a:latin typeface="Playfair Display"/>
              </a:rPr>
              <a:t>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498" y="388620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878"/>
                </a:solidFill>
                <a:latin typeface="Inter"/>
              </a:rPr>
              <a:t>Settle the development fee of PKR 15,000.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5396" y="2514600"/>
            <a:ext cx="3484778" cy="2057400"/>
          </a:xfrm>
          <a:prstGeom prst="roundRect">
            <a:avLst>
              <a:gd name="adj" fmla="val 5000"/>
            </a:avLst>
          </a:prstGeom>
          <a:solidFill>
            <a:srgbClr val="F8F6FD"/>
          </a:solidFill>
          <a:ln w="9525">
            <a:solidFill>
              <a:srgbClr val="E6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5436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6A26D8"/>
                </a:solidFill>
                <a:latin typeface="Playfair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47472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41414"/>
                </a:solidFill>
                <a:latin typeface="Playfair Display"/>
              </a:rP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5436" y="388620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878"/>
                </a:solidFill>
                <a:latin typeface="Inter"/>
              </a:rPr>
              <a:t>Short call to purchase the domain &amp; hosting. We then take the website live.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26D8"/>
                </a:solidFill>
                <a:latin typeface="Inter"/>
              </a:rPr>
              <a:t>YOUR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A26D8"/>
                </a:solidFill>
                <a:latin typeface="Inter"/>
              </a:rPr>
              <a:t>01 </a:t>
            </a:r>
            <a:r>
              <a:rPr sz="1100" b="0" i="0">
                <a:solidFill>
                  <a:srgbClr val="141414"/>
                </a:solidFill>
                <a:latin typeface="Inter"/>
              </a:rPr>
              <a:t>Welcome Pack      </a:t>
            </a:r>
            <a:r>
              <a:rPr sz="1100" b="1" i="0">
                <a:solidFill>
                  <a:srgbClr val="6A26D8"/>
                </a:solidFill>
                <a:latin typeface="Inter"/>
              </a:rPr>
              <a:t>02 </a:t>
            </a:r>
            <a:r>
              <a:rPr sz="1100" b="0" i="0">
                <a:solidFill>
                  <a:srgbClr val="141414"/>
                </a:solidFill>
                <a:latin typeface="Inter"/>
              </a:rPr>
              <a:t>Service Agreement      </a:t>
            </a:r>
            <a:r>
              <a:rPr sz="1100" b="1" i="0">
                <a:solidFill>
                  <a:srgbClr val="6A26D8"/>
                </a:solidFill>
                <a:latin typeface="Inter"/>
              </a:rPr>
              <a:t>03 </a:t>
            </a:r>
            <a:r>
              <a:rPr sz="1100" b="0" i="0">
                <a:solidFill>
                  <a:srgbClr val="141414"/>
                </a:solidFill>
                <a:latin typeface="Inter"/>
              </a:rPr>
              <a:t>Go-Live &amp; Handover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ircuit-strip.jpg"/>
          <p:cNvPicPr>
            <a:picLocks noChangeAspect="1"/>
          </p:cNvPicPr>
          <p:nvPr/>
        </p:nvPicPr>
        <p:blipFill>
          <a:blip r:embed="rId2"/>
          <a:srcRect t="24923" b="24923"/>
          <a:stretch>
            <a:fillRect/>
          </a:stretch>
        </p:blipFill>
        <p:spPr>
          <a:xfrm>
            <a:off x="8899855" y="0"/>
            <a:ext cx="3291840" cy="6858000"/>
          </a:xfrm>
          <a:prstGeom prst="rect">
            <a:avLst/>
          </a:prstGeom>
        </p:spPr>
      </p:pic>
      <p:pic>
        <p:nvPicPr>
          <p:cNvPr id="4" name="Picture 3" descr="obd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488844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9288" y="63057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9288" y="91586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C9B4FF"/>
                </a:solidFill>
                <a:latin typeface="Inter"/>
              </a:rPr>
              <a:t>A I   S O L U T I O N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8046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0" i="0">
                <a:solidFill>
                  <a:srgbClr val="FFFFFF"/>
                </a:solidFill>
                <a:latin typeface="Playfair Display"/>
              </a:rPr>
              <a:t>Thank you, </a:t>
            </a:r>
            <a:r>
              <a:rPr sz="5000" b="0" i="1">
                <a:solidFill>
                  <a:srgbClr val="C9B4FF"/>
                </a:solidFill>
                <a:latin typeface="Playfair Display"/>
              </a:rPr>
              <a:t>GFX-T.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37560"/>
            <a:ext cx="32004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337560"/>
            <a:ext cx="228600" cy="30480"/>
          </a:xfrm>
          <a:prstGeom prst="rect">
            <a:avLst/>
          </a:prstGeom>
          <a:solidFill>
            <a:srgbClr val="C9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DD3F7"/>
                </a:solidFill>
                <a:latin typeface="Inter"/>
              </a:rPr>
              <a:t>We Create. We Strategize. We Elevate. Let's give that promise a home online.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32120"/>
            <a:ext cx="7589520" cy="7620"/>
          </a:xfrm>
          <a:prstGeom prst="rect">
            <a:avLst/>
          </a:prstGeom>
          <a:solidFill>
            <a:srgbClr val="3A3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Founder, OBD AI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Playfair Display"/>
              </a:rPr>
              <a:t>Hira Baig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B4FF"/>
                </a:solidFill>
                <a:latin typeface="Inter"/>
              </a:rPr>
              <a:t>Managing Director, OBD AI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