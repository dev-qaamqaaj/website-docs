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urce-mark-circuit.jpg"/>
          <p:cNvPicPr>
            <a:picLocks noChangeAspect="1"/>
          </p:cNvPicPr>
          <p:nvPr/>
        </p:nvPicPr>
        <p:blipFill>
          <a:blip r:embed="rId2"/>
          <a:srcRect l="8036" r="8036"/>
          <a:stretch>
            <a:fillRect/>
          </a:stretch>
        </p:blipFill>
        <p:spPr>
          <a:xfrm>
            <a:off x="0" y="0"/>
            <a:ext cx="429768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120640"/>
            <a:ext cx="4297680" cy="1737360"/>
          </a:xfrm>
          <a:prstGeom prst="rect">
            <a:avLst/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FFFFFF"/>
                </a:solidFill>
                <a:latin typeface="Playfair Display"/>
              </a:rPr>
              <a:t>Build.  </a:t>
            </a:r>
            <a:r>
              <a:rPr sz="2200" b="0" i="0">
                <a:solidFill>
                  <a:srgbClr val="FFFFFF"/>
                </a:solidFill>
                <a:latin typeface="Playfair Display"/>
              </a:rPr>
              <a:t>Launch.  </a:t>
            </a:r>
            <a:r>
              <a:rPr sz="2200" b="0" i="0">
                <a:solidFill>
                  <a:srgbClr val="C9B4FF"/>
                </a:solidFill>
                <a:latin typeface="Playfair Display"/>
              </a:rPr>
              <a:t>Care.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C9B4FF"/>
                </a:solidFill>
                <a:latin typeface="Inter"/>
              </a:rPr>
              <a:t>AI Solutions · MVP Development · Web Engineering</a:t>
            </a:r>
          </a:p>
        </p:txBody>
      </p:sp>
      <p:pic>
        <p:nvPicPr>
          <p:cNvPr id="8" name="Picture 7" descr="ob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640080"/>
            <a:ext cx="451241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00735" y="63130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00735" y="89464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737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PROJECT KICKOFF  ·  GFX-T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103120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141414"/>
                </a:solidFill>
                <a:latin typeface="Playfair Display"/>
              </a:rPr>
              <a:t>GFX-T, your website</a:t>
            </a:r>
          </a:p>
          <a:p>
            <a:pPr algn="l">
              <a:lnSpc>
                <a:spcPct val="100000"/>
              </a:lnSpc>
            </a:pPr>
            <a:r>
              <a:rPr sz="4200" b="0" i="1">
                <a:solidFill>
                  <a:srgbClr val="6A26D8"/>
                </a:solidFill>
                <a:latin typeface="Playfair Display"/>
              </a:rPr>
              <a:t>is ready to launch.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840480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0680" y="3840480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4114800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B6878"/>
                </a:solidFill>
                <a:latin typeface="Inter"/>
              </a:rPr>
              <a:t>All 7 pages are built. Next, we put it live on your own domain with professional email and look after it once it's live.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5532120"/>
            <a:ext cx="65836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56692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5897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41414"/>
                </a:solidFill>
                <a:latin typeface="Inter"/>
              </a:rPr>
              <a:t>GFX-T, Lahore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56692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PRESENTED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5897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41414"/>
                </a:solidFill>
                <a:latin typeface="Inter"/>
              </a:rPr>
              <a:t>Omer Bin Dawood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6692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5897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41414"/>
                </a:solidFill>
                <a:latin typeface="Inter"/>
              </a:rPr>
              <a:t>25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01 · OBD AI SOLUTIONS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An engineering studio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built on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B6878"/>
                </a:solidFill>
                <a:latin typeface="Inter"/>
              </a:rPr>
              <a:t>We design and ship AI products, MVPs and production web platforms for founders and growing businesses, working with clients in the United States, Australia and Pakistan.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6A26D8"/>
                </a:solidFill>
                <a:latin typeface="Playfair Display"/>
              </a:rPr>
              <a:t>10+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US &amp; Australian
clients 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977639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6A26D8"/>
                </a:solidFill>
                <a:latin typeface="Playfair Display"/>
              </a:rPr>
              <a:t>25+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846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Businesses served
in Pakistan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977639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6A26D8"/>
                </a:solidFill>
                <a:latin typeface="Playfair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846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Countries
US · AU · PK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2468880"/>
            <a:ext cx="4553712" cy="100584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262432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606040"/>
            <a:ext cx="3639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AI Solutions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971800"/>
            <a:ext cx="3639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Intelligent automation, LLM assistants and data workflows.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3639312"/>
            <a:ext cx="4553712" cy="100584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37947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3776472"/>
            <a:ext cx="3639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MVP 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4142232"/>
            <a:ext cx="3639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Idea to investor-ready product, on foundations that scale.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09744"/>
            <a:ext cx="4553712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49651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946904"/>
            <a:ext cx="3639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Web Engineering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5312664"/>
            <a:ext cx="3639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Fast, secure websites with infrastructure, email and support.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598932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← Your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03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02 · TRACK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The teams we've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built with.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Aginit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2424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LEASAP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2424" y="3611880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CA, USA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3328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0488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Marketing Transformers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611880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AUSTRALIA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14232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51392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DevNeuron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4232" y="3611880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CA, USA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976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6B6878"/>
                </a:solidFill>
                <a:latin typeface="Inter"/>
              </a:rPr>
              <a:t>…plus 25+ local businesses across Pakistan.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846320"/>
            <a:ext cx="10728655" cy="1097280"/>
          </a:xfrm>
          <a:prstGeom prst="roundRect">
            <a:avLst>
              <a:gd name="adj" fmla="val 8000"/>
            </a:avLst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Founder-led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Omer oversees every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6472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Documented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Scope, fees &amp; support in writing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No markups on third-party costs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Yours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Everything registered to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04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03 · WHO YOU'LL WORK WITH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Your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project team.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5257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2971800"/>
            <a:ext cx="914400" cy="914400"/>
          </a:xfrm>
          <a:prstGeom prst="ellipse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>
                <a:solidFill>
                  <a:srgbClr val="FFFFFF"/>
                </a:solidFill>
                <a:latin typeface="Playfair Display"/>
              </a:rPr>
              <a:t>OBD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0175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PROJECT LEAD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327355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1414"/>
                </a:solidFill>
                <a:latin typeface="Playfair Display"/>
              </a:rPr>
              <a:t>Omer Bin Dawood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730752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CEO &amp; Founder, OBD AI Solutions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AI Engineer, DevNeuron (CA, USA)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480560"/>
            <a:ext cx="45262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1772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A2A2D"/>
                </a:solidFill>
                <a:latin typeface="Inter"/>
              </a:rPr>
              <a:t>Owns technical decisions, setup, configuration and launch. Your escalation point for anything critical.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06040"/>
            <a:ext cx="5257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2971800"/>
            <a:ext cx="914400" cy="91440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>
                <a:solidFill>
                  <a:srgbClr val="FFFFFF"/>
                </a:solidFill>
                <a:latin typeface="Playfair Display"/>
              </a:rPr>
              <a:t>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0175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ACCOUNT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27355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1414"/>
                </a:solidFill>
                <a:latin typeface="Playfair Display"/>
              </a:rPr>
              <a:t>Hira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730752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Client relations, OBD AI Solutions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4480560"/>
            <a:ext cx="45262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61772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A2A2D"/>
                </a:solidFill>
                <a:latin typeface="Inter"/>
              </a:rPr>
              <a:t>Your day-to-day contact for scheduling, documents, billing and updates.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WEBSITE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05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04 · GFX-T 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Built from your content.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Ready to go.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Home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47973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6573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6573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About 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4427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3027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3027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0881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481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9481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Portfolio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Clients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7973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76573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76573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Our Management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4427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3027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3027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Contact Us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0881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120E2E"/>
          </a:solidFill>
          <a:ln w="9525">
            <a:solidFill>
              <a:srgbClr val="120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09481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C9B4FF"/>
                </a:solidFill>
                <a:latin typeface="Inter"/>
              </a:rPr>
              <a:t>STATUS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Built 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34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STILL TO COME FROM YOUR SIDE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754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6A26D8"/>
                </a:solidFill>
                <a:latin typeface="Inter"/>
              </a:rPr>
              <a:t>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A2A2D"/>
                </a:solidFill>
                <a:latin typeface="Inter"/>
              </a:rPr>
              <a:t>Photos of the CEO and COO for the Management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0840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6A26D8"/>
                </a:solidFill>
                <a:latin typeface="Inter"/>
              </a:rPr>
              <a:t>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84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A2A2D"/>
                </a:solidFill>
                <a:latin typeface="Inter"/>
              </a:rPr>
              <a:t>Remaining client logos for the Clients page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413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6A26D8"/>
                </a:solidFill>
                <a:latin typeface="Inter"/>
              </a:rPr>
              <a:t>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413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A2A2D"/>
                </a:solidFill>
                <a:latin typeface="Inter"/>
              </a:rPr>
              <a:t>Portfolio images you'd like to showcase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40880" y="4434840"/>
            <a:ext cx="4416552" cy="132588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0" y="4617720"/>
            <a:ext cx="3931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41414"/>
                </a:solidFill>
                <a:latin typeface="Inter"/>
              </a:rPr>
              <a:t>Send these whenever they're ready. 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B6878"/>
                </a:solidFill>
                <a:latin typeface="Inter"/>
              </a:rPr>
              <a:t>We'll add them at no extra cost as part of the launch.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LAUNCH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06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05 · 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Five working days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to go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3063240"/>
            <a:ext cx="10454335" cy="1905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DAY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Onboard &amp; 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Review pack, onboarding form, agreement, first instalment.</a:t>
            </a:r>
          </a:p>
        </p:txBody>
      </p:sp>
      <p:sp>
        <p:nvSpPr>
          <p:cNvPr id="18" name="Oval 17"/>
          <p:cNvSpPr/>
          <p:nvPr/>
        </p:nvSpPr>
        <p:spPr>
          <a:xfrm>
            <a:off x="2922971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7251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DAY 1–2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7251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Domain &amp; hosting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7251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Guided purchase, in your name, on a short call.</a:t>
            </a:r>
          </a:p>
        </p:txBody>
      </p:sp>
      <p:sp>
        <p:nvSpPr>
          <p:cNvPr id="22" name="Oval 21"/>
          <p:cNvSpPr/>
          <p:nvPr/>
        </p:nvSpPr>
        <p:spPr>
          <a:xfrm>
            <a:off x="5068702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2982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DAY 2–4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2982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Deploy &amp; configure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2982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Production deploy, DNS, SSL, email and devices.</a:t>
            </a:r>
          </a:p>
        </p:txBody>
      </p:sp>
      <p:sp>
        <p:nvSpPr>
          <p:cNvPr id="26" name="Oval 25"/>
          <p:cNvSpPr/>
          <p:nvPr/>
        </p:nvSpPr>
        <p:spPr>
          <a:xfrm>
            <a:off x="7214433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68713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DAY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8713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Review &amp; go-live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713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Final review, launch, walkthrough and handover.</a:t>
            </a:r>
          </a:p>
        </p:txBody>
      </p:sp>
      <p:sp>
        <p:nvSpPr>
          <p:cNvPr id="30" name="Oval 29"/>
          <p:cNvSpPr/>
          <p:nvPr/>
        </p:nvSpPr>
        <p:spPr>
          <a:xfrm>
            <a:off x="9360164" y="293522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4444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TO SEPTEMBER 2027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4444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Care period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4444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Support &amp; maintenance, free minor changes in month one.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074920"/>
            <a:ext cx="10728655" cy="77724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52852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Inter"/>
              </a:rPr>
              <a:t>Launch quality checklist:  </a:t>
            </a:r>
            <a:r>
              <a:rPr sz="1200" b="0" i="0">
                <a:solidFill>
                  <a:srgbClr val="2A2A2D"/>
                </a:solidFill>
                <a:latin typeface="Inter"/>
              </a:rPr>
              <a:t>HTTPS everywhere  ·  mobile &amp; browser tested  ·  speed reviewed  ·  SPF/DKIM/DMARC email  ·  forms verified  ·  backup handed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bd-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FFFFFF"/>
                </a:solidFill>
                <a:latin typeface="Playfair Display"/>
              </a:rPr>
              <a:t>OBD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C9B4FF"/>
                </a:solidFill>
                <a:latin typeface="Inter"/>
              </a:rPr>
              <a:t>A I   S O L U T I O N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C9B4FF"/>
                </a:solidFill>
                <a:latin typeface="Inter"/>
              </a:rPr>
              <a:t>06 · OUR OWNERSHIP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</a:rPr>
              <a:t>Everything that runs your business online </a:t>
            </a:r>
            <a:r>
              <a:rPr sz="3000" b="0" i="1">
                <a:solidFill>
                  <a:srgbClr val="C9B4FF"/>
                </a:solidFill>
                <a:latin typeface="Playfair Display"/>
              </a:rPr>
              <a:t>belongs to you.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32004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2423160"/>
            <a:ext cx="22860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Registered in your name with your contact details.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3683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Hosting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Account and billing in your name, paid to the provider.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4447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Mailboxes on your domain, with passwords that are yours.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011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611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611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Delegated for setup only. Revoke it at any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526280"/>
            <a:ext cx="10728655" cy="7620"/>
          </a:xfrm>
          <a:prstGeom prst="rect">
            <a:avLst/>
          </a:prstGeom>
          <a:solidFill>
            <a:srgbClr val="3A3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709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C9B4FF"/>
                </a:solidFill>
                <a:latin typeface="Inter"/>
              </a:rPr>
              <a:t>INDICATIVE THIRD-PARTY COSTS  ·  PAID DIRECTLY BY YOU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FFFFFF"/>
                </a:solidFill>
                <a:latin typeface="Playfair Display"/>
              </a:rPr>
              <a:t>~ PKR 3,000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778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C8C3DA"/>
                </a:solidFill>
                <a:latin typeface="Inter"/>
              </a:rPr>
              <a:t>Domain (1 year)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0292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FFFFFF"/>
                </a:solidFill>
                <a:latin typeface="Playfair Display"/>
              </a:rPr>
              <a:t>~ PKR 7,000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55778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C8C3DA"/>
                </a:solidFill>
                <a:latin typeface="Inter"/>
              </a:rPr>
              <a:t>Hosting (1 year)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0292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0% commission.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C8C3DA"/>
                </a:solidFill>
                <a:latin typeface="Inter"/>
              </a:rPr>
              <a:t>We don't resell or mark up domains, hosting or email.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8A84A6"/>
                </a:solidFill>
                <a:latin typeface="Inter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INVESTMENT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08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07 · REFERRAL PRICING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Below our standard rates,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by design.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B6878"/>
                </a:solidFill>
                <a:latin typeface="Inter"/>
              </a:rPr>
              <a:t>Because you were referred by Isha, preferential rates apply to both development and deployment.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063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STANDARD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063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355848"/>
            <a:ext cx="10728655" cy="152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04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Website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962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Completed, built from your documents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566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0" i="0" strike="sngStrike">
                <a:solidFill>
                  <a:srgbClr val="A29C9E"/>
                </a:solidFill>
                <a:latin typeface="Inter"/>
              </a:rPr>
              <a:t>PKR 25,000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538728"/>
            <a:ext cx="2221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 i="0">
                <a:solidFill>
                  <a:srgbClr val="141414"/>
                </a:solidFill>
                <a:latin typeface="Inter"/>
              </a:rPr>
              <a:t>PKR 15,000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160520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233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Deployment · Complete Care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62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A26D8"/>
                </a:solidFill>
                <a:latin typeface="Inter"/>
              </a:rPr>
              <a:t>Option A  ·  Recommended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2793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0" i="0" strike="sngStrike">
                <a:solidFill>
                  <a:srgbClr val="A29C9E"/>
                </a:solidFill>
                <a:latin typeface="Inter"/>
              </a:rPr>
              <a:t>PKR 25,000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251960"/>
            <a:ext cx="2221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 i="0">
                <a:solidFill>
                  <a:srgbClr val="141414"/>
                </a:solidFill>
                <a:latin typeface="Inter"/>
              </a:rPr>
              <a:t>PKR 20,000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87375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94690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Deployment · Launch Essentials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27608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Option 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99262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0" i="0" strike="sngStrike">
                <a:solidFill>
                  <a:srgbClr val="A29C9E"/>
                </a:solidFill>
                <a:latin typeface="Inter"/>
              </a:rPr>
              <a:t>PKR 25,000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965192"/>
            <a:ext cx="2221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 i="0">
                <a:solidFill>
                  <a:srgbClr val="141414"/>
                </a:solidFill>
                <a:latin typeface="Inter"/>
              </a:rPr>
              <a:t>PKR 12,000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586984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CHOOSE YOUR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09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08 · DEPLOYMENT OPTIONS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Choose how we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look after you.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5257800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468880"/>
            <a:ext cx="5257800" cy="82296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697480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7432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FFFFFF"/>
                </a:solidFill>
                <a:latin typeface="Inter"/>
              </a:rPr>
              <a:t>RECOMMENDED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743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OPTION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99923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1414"/>
                </a:solidFill>
                <a:latin typeface="Playfair Display"/>
              </a:rPr>
              <a:t>Complete Care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47472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i="0">
                <a:solidFill>
                  <a:srgbClr val="6A26D8"/>
                </a:solidFill>
                <a:latin typeface="Playfair Display"/>
              </a:rPr>
              <a:t>PKR 20,000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97763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Total with development: PKR 35,000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3434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343400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Domain &amp; DNS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581144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581144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Hosting setup and website go-live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81888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18888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SSL (HTTPS) and security setup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05663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056632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Professional email (e.g. info@gfxt.com)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29437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294376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Email set up on your phone and laptop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53212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532120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Support &amp; maintenance until 30 September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769864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769864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Free minor UI/content changes for 30 days after launch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2468880"/>
            <a:ext cx="5257800" cy="361188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743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OPTION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299923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1414"/>
                </a:solidFill>
                <a:latin typeface="Playfair Display"/>
              </a:rPr>
              <a:t>Launch Essentials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347472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i="0">
                <a:solidFill>
                  <a:srgbClr val="6A26D8"/>
                </a:solidFill>
                <a:latin typeface="Playfair Display"/>
              </a:rPr>
              <a:t>PKR 12,000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97763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Total with development: PKR 27,000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43434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4343400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Domain &amp; DNS setup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4581144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4581144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Hosting setup and website go-live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481888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4818888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SSL (HTTPS) and security setup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505663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12280" y="5056632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A2A2D"/>
                </a:solidFill>
                <a:latin typeface="Inter"/>
              </a:rPr>
              <a:t>Bug fixes for 14 days after go-live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529437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B6878"/>
                </a:solidFill>
                <a:latin typeface="Inter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5294376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No email setup or yearly maintenance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PAYMENT SCHEDULE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10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09 · WHEN YOU PAY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Two simple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instalments.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525780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743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6A26D8"/>
                </a:solidFill>
                <a:latin typeface="Playfair Display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8163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INSTALMENT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063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41414"/>
                </a:solidFill>
                <a:latin typeface="Playfair Display"/>
              </a:rPr>
              <a:t>On signing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7033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878"/>
                </a:solidFill>
                <a:latin typeface="Inter"/>
              </a:rPr>
              <a:t>Development fee (100%)
+ deployment advance (50%)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434840"/>
            <a:ext cx="45262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537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OPTION A · COMPLETE 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54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41414"/>
                </a:solidFill>
                <a:latin typeface="Inter"/>
              </a:rPr>
              <a:t>PKR 25,000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5537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OPTION B · LAUNCH ESSENTIALS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754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41414"/>
                </a:solidFill>
                <a:latin typeface="Inter"/>
              </a:rPr>
              <a:t>PKR 21,000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514600"/>
            <a:ext cx="5257800" cy="265176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743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6A26D8"/>
                </a:solidFill>
                <a:latin typeface="Playfair Display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8163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INSTALMENT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3063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41414"/>
                </a:solidFill>
                <a:latin typeface="Playfair Display"/>
              </a:rPr>
              <a:t>On go-live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033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878"/>
                </a:solidFill>
                <a:latin typeface="Inter"/>
              </a:rPr>
              <a:t>Deployment balance (50%)
once your site is live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4434840"/>
            <a:ext cx="45262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5537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OPTION A · COMPLETE CARE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754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41414"/>
                </a:solidFill>
                <a:latin typeface="Inter"/>
              </a:rPr>
              <a:t>PKR 10,000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45537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OPTION B · LAUNCH ESSENTIALS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4754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41414"/>
                </a:solidFill>
                <a:latin typeface="Inter"/>
              </a:rPr>
              <a:t>PKR 6,000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44068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Bank transfer, Easypaisa, JazzCash or cash  ·  A receipt for every payment  ·  A signed agreement for both sides' records.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CARE &amp;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11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10 · AFTER 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Care that doesn't stop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at go-live.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3931920" cy="3429000"/>
          </a:xfrm>
          <a:prstGeom prst="roundRect">
            <a:avLst>
              <a:gd name="adj" fmla="val 5000"/>
            </a:avLst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788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C9B4FF"/>
                </a:solidFill>
                <a:latin typeface="Inter"/>
              </a:rPr>
              <a:t>SUPPORTED UNTIL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10896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</a:rPr>
              <a:t>30 September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+ Free minor UI/content changes for the first 30 days. 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 i="0">
                <a:solidFill>
                  <a:srgbClr val="C9B4FF"/>
                </a:solidFill>
                <a:latin typeface="Inter"/>
              </a:rPr>
              <a:t>Something we don't normally include. Complete Care package.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PRIORITY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FIRST RESPONSE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80" y="2807208"/>
            <a:ext cx="6473952" cy="152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2971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6A26D8"/>
                </a:solidFill>
                <a:latin typeface="Inter"/>
              </a:rPr>
              <a:t>Critical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971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A2A2D"/>
                </a:solidFill>
                <a:latin typeface="Inter"/>
              </a:rPr>
              <a:t>Website or email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971800"/>
            <a:ext cx="1993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141414"/>
                </a:solidFill>
                <a:latin typeface="Inter"/>
              </a:rPr>
              <a:t>Same business 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80" y="3383280"/>
            <a:ext cx="6473952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35204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41414"/>
                </a:solidFill>
                <a:latin typeface="Inter"/>
              </a:rPr>
              <a:t>High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520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A2A2D"/>
                </a:solidFill>
                <a:latin typeface="Inter"/>
              </a:rPr>
              <a:t>Key page or form broken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520440"/>
            <a:ext cx="1993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141414"/>
                </a:solidFill>
                <a:latin typeface="Inter"/>
              </a:rPr>
              <a:t>Within 1 business day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931920"/>
            <a:ext cx="6473952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83480" y="4069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41414"/>
                </a:solidFill>
                <a:latin typeface="Inter"/>
              </a:rPr>
              <a:t>Normal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A2A2D"/>
                </a:solidFill>
                <a:latin typeface="Inter"/>
              </a:rPr>
              <a:t>Minor change or question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4069080"/>
            <a:ext cx="1993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141414"/>
                </a:solidFill>
                <a:latin typeface="Inter"/>
              </a:rPr>
              <a:t>Within 1 business day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480" y="4480560"/>
            <a:ext cx="6473952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54880"/>
            <a:ext cx="6473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141414"/>
                </a:solidFill>
                <a:latin typeface="Inter"/>
              </a:rPr>
              <a:t>Channels:  </a:t>
            </a:r>
            <a:r>
              <a:rPr sz="1200" b="0" i="0">
                <a:solidFill>
                  <a:srgbClr val="6B6878"/>
                </a:solidFill>
                <a:latin typeface="Inter"/>
              </a:rPr>
              <a:t>WhatsApp project group  ·  Hira (account manager)  ·  Omer Bin Dawood (escalations)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141414"/>
                </a:solidFill>
                <a:latin typeface="Inter"/>
              </a:rPr>
              <a:t>Hours:  </a:t>
            </a:r>
            <a:r>
              <a:rPr sz="1200" b="0" i="0">
                <a:solidFill>
                  <a:srgbClr val="6B6878"/>
                </a:solidFill>
                <a:latin typeface="Inter"/>
              </a:rPr>
              <a:t>Monday–Saturday, 10:00–19:00 PKT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12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11 · LET'S GET YOU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Four steps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from 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2579293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840480"/>
            <a:ext cx="21220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This deck and the Welcome Pack.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47973" y="2514600"/>
            <a:ext cx="2579293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2293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2293" y="347472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Fill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2293" y="3840480"/>
            <a:ext cx="21220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The short onboarding form: details, domain, email accounts.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2514600"/>
            <a:ext cx="2579293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8747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747" y="347472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8747" y="3840480"/>
            <a:ext cx="21220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Choose a package and sign the Service Agreement. Pay instalment 1.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80881" y="2514600"/>
            <a:ext cx="2579293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5201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5201" y="347472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5201" y="3840480"/>
            <a:ext cx="21220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Book the domain &amp; hosting call. We go live within 5 working days.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YOUR ONBOARDING DOCUMENTS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01 </a:t>
            </a:r>
            <a:r>
              <a:rPr sz="1000" b="0" i="0">
                <a:solidFill>
                  <a:srgbClr val="141414"/>
                </a:solidFill>
                <a:latin typeface="Inter"/>
              </a:rPr>
              <a:t>Welcome Pack      </a:t>
            </a:r>
            <a:r>
              <a:rPr sz="1000" b="1" i="0">
                <a:solidFill>
                  <a:srgbClr val="6A26D8"/>
                </a:solidFill>
                <a:latin typeface="Inter"/>
              </a:rPr>
              <a:t>02 </a:t>
            </a:r>
            <a:r>
              <a:rPr sz="1000" b="0" i="0">
                <a:solidFill>
                  <a:srgbClr val="141414"/>
                </a:solidFill>
                <a:latin typeface="Inter"/>
              </a:rPr>
              <a:t>Onboarding Form      </a:t>
            </a:r>
            <a:r>
              <a:rPr sz="1000" b="1" i="0">
                <a:solidFill>
                  <a:srgbClr val="6A26D8"/>
                </a:solidFill>
                <a:latin typeface="Inter"/>
              </a:rPr>
              <a:t>03 </a:t>
            </a:r>
            <a:r>
              <a:rPr sz="1000" b="0" i="0">
                <a:solidFill>
                  <a:srgbClr val="141414"/>
                </a:solidFill>
                <a:latin typeface="Inter"/>
              </a:rPr>
              <a:t>Service Agreement      </a:t>
            </a:r>
            <a:r>
              <a:rPr sz="1000" b="1" i="0">
                <a:solidFill>
                  <a:srgbClr val="6A26D8"/>
                </a:solidFill>
                <a:latin typeface="Inter"/>
              </a:rPr>
              <a:t>04 </a:t>
            </a:r>
            <a:r>
              <a:rPr sz="1000" b="0" i="0">
                <a:solidFill>
                  <a:srgbClr val="141414"/>
                </a:solidFill>
                <a:latin typeface="Inter"/>
              </a:rPr>
              <a:t>Go-Live &amp; Handover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ircuit-strip.jpg"/>
          <p:cNvPicPr>
            <a:picLocks noChangeAspect="1"/>
          </p:cNvPicPr>
          <p:nvPr/>
        </p:nvPicPr>
        <p:blipFill>
          <a:blip r:embed="rId2"/>
          <a:srcRect t="24923" b="24923"/>
          <a:stretch>
            <a:fillRect/>
          </a:stretch>
        </p:blipFill>
        <p:spPr>
          <a:xfrm>
            <a:off x="8899855" y="0"/>
            <a:ext cx="3291840" cy="6858000"/>
          </a:xfrm>
          <a:prstGeom prst="rect">
            <a:avLst/>
          </a:prstGeom>
        </p:spPr>
      </p:pic>
      <p:pic>
        <p:nvPicPr>
          <p:cNvPr id="4" name="Picture 3" descr="obd-mar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0080"/>
            <a:ext cx="488844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49288" y="630571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Playfair Display"/>
              </a:rPr>
              <a:t>OBD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9288" y="915863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C9B4FF"/>
                </a:solidFill>
                <a:latin typeface="Inter"/>
              </a:rPr>
              <a:t>A I   S O L U T I O N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8046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000" b="0" i="0">
                <a:solidFill>
                  <a:srgbClr val="FFFFFF"/>
                </a:solidFill>
                <a:latin typeface="Playfair Display"/>
              </a:rPr>
              <a:t>Thank you, </a:t>
            </a:r>
            <a:r>
              <a:rPr sz="5000" b="0" i="1">
                <a:solidFill>
                  <a:srgbClr val="C9B4FF"/>
                </a:solidFill>
                <a:latin typeface="Playfair Display"/>
              </a:rPr>
              <a:t>GFX-T.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337560"/>
            <a:ext cx="32004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3337560"/>
            <a:ext cx="22860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DDD3F7"/>
                </a:solidFill>
                <a:latin typeface="Inter"/>
              </a:rPr>
              <a:t>We Create. We Strategize. We Elevate. Let's give that promise a home online.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532120"/>
            <a:ext cx="7589520" cy="7620"/>
          </a:xfrm>
          <a:prstGeom prst="rect">
            <a:avLst/>
          </a:prstGeom>
          <a:solidFill>
            <a:srgbClr val="3A3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FFFFF"/>
                </a:solidFill>
                <a:latin typeface="Playfair Display"/>
              </a:rPr>
              <a:t>Omer Bin Dawood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12648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CEO &amp; Founder, OBD AI Solutions  ·  AI Engineer, DevNeuron (CA, USA)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