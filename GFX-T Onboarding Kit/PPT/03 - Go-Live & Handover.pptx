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7554913" cy="106918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941040" y="861480"/>
            <a:ext cx="5924880" cy="1646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941040" y="2775960"/>
            <a:ext cx="5924880" cy="572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647640" y="504720"/>
            <a:ext cx="6267600" cy="9468000"/>
          </a:xfrm>
          <a:custGeom>
            <a:avLst/>
            <a:gdLst/>
            <a:ahLst/>
            <a:rect l="0" t="0" r="r" b="b"/>
            <a:pathLst>
              <a:path w="17410" h="26300">
                <a:moveTo>
                  <a:pt x="0" y="0"/>
                </a:moveTo>
                <a:lnTo>
                  <a:pt x="17410" y="0"/>
                </a:lnTo>
                <a:lnTo>
                  <a:pt x="17410" y="26300"/>
                </a:lnTo>
                <a:lnTo>
                  <a:pt x="0" y="263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6390360" y="10286640"/>
            <a:ext cx="4442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Page 1 of 1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"/>
          <p:cNvSpPr/>
          <p:nvPr/>
        </p:nvSpPr>
        <p:spPr>
          <a:xfrm>
            <a:off x="647640" y="3390840"/>
            <a:ext cx="304920" cy="9720"/>
          </a:xfrm>
          <a:custGeom>
            <a:avLst/>
            <a:gdLst/>
            <a:ahLst/>
            <a:rect l="0" t="0" r="r" b="b"/>
            <a:pathLst>
              <a:path w="847" h="27">
                <a:moveTo>
                  <a:pt x="0" y="0"/>
                </a:moveTo>
                <a:lnTo>
                  <a:pt x="847" y="0"/>
                </a:lnTo>
                <a:lnTo>
                  <a:pt x="8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952200" y="3390840"/>
            <a:ext cx="5963040" cy="9720"/>
          </a:xfrm>
          <a:custGeom>
            <a:avLst/>
            <a:gdLst/>
            <a:ahLst/>
            <a:rect l="0" t="0" r="r" b="b"/>
            <a:pathLst>
              <a:path w="16564" h="27">
                <a:moveTo>
                  <a:pt x="0" y="0"/>
                </a:moveTo>
                <a:lnTo>
                  <a:pt x="16564" y="0"/>
                </a:lnTo>
                <a:lnTo>
                  <a:pt x="16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47640" y="3686040"/>
            <a:ext cx="304920" cy="9720"/>
          </a:xfrm>
          <a:custGeom>
            <a:avLst/>
            <a:gdLst/>
            <a:ahLst/>
            <a:rect l="0" t="0" r="r" b="b"/>
            <a:pathLst>
              <a:path w="847" h="27">
                <a:moveTo>
                  <a:pt x="0" y="0"/>
                </a:moveTo>
                <a:lnTo>
                  <a:pt x="847" y="0"/>
                </a:lnTo>
                <a:lnTo>
                  <a:pt x="8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952200" y="3686040"/>
            <a:ext cx="5963040" cy="9720"/>
          </a:xfrm>
          <a:custGeom>
            <a:avLst/>
            <a:gdLst/>
            <a:ahLst/>
            <a:rect l="0" t="0" r="r" b="b"/>
            <a:pathLst>
              <a:path w="16564" h="27">
                <a:moveTo>
                  <a:pt x="0" y="0"/>
                </a:moveTo>
                <a:lnTo>
                  <a:pt x="16564" y="0"/>
                </a:lnTo>
                <a:lnTo>
                  <a:pt x="16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647640" y="3981240"/>
            <a:ext cx="304920" cy="10080"/>
          </a:xfrm>
          <a:custGeom>
            <a:avLst/>
            <a:gdLst/>
            <a:ahLst/>
            <a:rect l="0" t="0" r="r" b="b"/>
            <a:pathLst>
              <a:path w="847" h="28">
                <a:moveTo>
                  <a:pt x="0" y="0"/>
                </a:moveTo>
                <a:lnTo>
                  <a:pt x="847" y="0"/>
                </a:lnTo>
                <a:lnTo>
                  <a:pt x="8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952200" y="3981240"/>
            <a:ext cx="5963040" cy="10080"/>
          </a:xfrm>
          <a:custGeom>
            <a:avLst/>
            <a:gdLst/>
            <a:ahLst/>
            <a:rect l="0" t="0" r="r" b="b"/>
            <a:pathLst>
              <a:path w="16564" h="28">
                <a:moveTo>
                  <a:pt x="0" y="0"/>
                </a:moveTo>
                <a:lnTo>
                  <a:pt x="16564" y="0"/>
                </a:lnTo>
                <a:lnTo>
                  <a:pt x="165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647640" y="4276440"/>
            <a:ext cx="304920" cy="10080"/>
          </a:xfrm>
          <a:custGeom>
            <a:avLst/>
            <a:gdLst/>
            <a:ahLst/>
            <a:rect l="0" t="0" r="r" b="b"/>
            <a:pathLst>
              <a:path w="847" h="28">
                <a:moveTo>
                  <a:pt x="0" y="0"/>
                </a:moveTo>
                <a:lnTo>
                  <a:pt x="847" y="0"/>
                </a:lnTo>
                <a:lnTo>
                  <a:pt x="8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952200" y="4276440"/>
            <a:ext cx="5963040" cy="10080"/>
          </a:xfrm>
          <a:custGeom>
            <a:avLst/>
            <a:gdLst/>
            <a:ahLst/>
            <a:rect l="0" t="0" r="r" b="b"/>
            <a:pathLst>
              <a:path w="16564" h="28">
                <a:moveTo>
                  <a:pt x="0" y="0"/>
                </a:moveTo>
                <a:lnTo>
                  <a:pt x="16564" y="0"/>
                </a:lnTo>
                <a:lnTo>
                  <a:pt x="165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647640" y="4562280"/>
            <a:ext cx="304920" cy="9720"/>
          </a:xfrm>
          <a:custGeom>
            <a:avLst/>
            <a:gdLst/>
            <a:ahLst/>
            <a:rect l="0" t="0" r="r" b="b"/>
            <a:pathLst>
              <a:path w="847" h="27">
                <a:moveTo>
                  <a:pt x="0" y="0"/>
                </a:moveTo>
                <a:lnTo>
                  <a:pt x="847" y="0"/>
                </a:lnTo>
                <a:lnTo>
                  <a:pt x="84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952200" y="4562280"/>
            <a:ext cx="5963040" cy="9720"/>
          </a:xfrm>
          <a:custGeom>
            <a:avLst/>
            <a:gdLst/>
            <a:ahLst/>
            <a:rect l="0" t="0" r="r" b="b"/>
            <a:pathLst>
              <a:path w="16564" h="27">
                <a:moveTo>
                  <a:pt x="0" y="0"/>
                </a:moveTo>
                <a:lnTo>
                  <a:pt x="16564" y="0"/>
                </a:lnTo>
                <a:lnTo>
                  <a:pt x="165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647640" y="4857480"/>
            <a:ext cx="304920" cy="10080"/>
          </a:xfrm>
          <a:custGeom>
            <a:avLst/>
            <a:gdLst/>
            <a:ahLst/>
            <a:rect l="0" t="0" r="r" b="b"/>
            <a:pathLst>
              <a:path w="847" h="28">
                <a:moveTo>
                  <a:pt x="0" y="0"/>
                </a:moveTo>
                <a:lnTo>
                  <a:pt x="847" y="0"/>
                </a:lnTo>
                <a:lnTo>
                  <a:pt x="8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952200" y="4857480"/>
            <a:ext cx="5963040" cy="10080"/>
          </a:xfrm>
          <a:custGeom>
            <a:avLst/>
            <a:gdLst/>
            <a:ahLst/>
            <a:rect l="0" t="0" r="r" b="b"/>
            <a:pathLst>
              <a:path w="16564" h="28">
                <a:moveTo>
                  <a:pt x="0" y="0"/>
                </a:moveTo>
                <a:lnTo>
                  <a:pt x="16564" y="0"/>
                </a:lnTo>
                <a:lnTo>
                  <a:pt x="165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647640" y="5152680"/>
            <a:ext cx="304920" cy="10080"/>
          </a:xfrm>
          <a:custGeom>
            <a:avLst/>
            <a:gdLst/>
            <a:ahLst/>
            <a:rect l="0" t="0" r="r" b="b"/>
            <a:pathLst>
              <a:path w="847" h="28">
                <a:moveTo>
                  <a:pt x="0" y="0"/>
                </a:moveTo>
                <a:lnTo>
                  <a:pt x="847" y="0"/>
                </a:lnTo>
                <a:lnTo>
                  <a:pt x="84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952200" y="5152680"/>
            <a:ext cx="5963040" cy="10080"/>
          </a:xfrm>
          <a:custGeom>
            <a:avLst/>
            <a:gdLst/>
            <a:ahLst/>
            <a:rect l="0" t="0" r="r" b="b"/>
            <a:pathLst>
              <a:path w="16564" h="28">
                <a:moveTo>
                  <a:pt x="0" y="0"/>
                </a:moveTo>
                <a:lnTo>
                  <a:pt x="16564" y="0"/>
                </a:lnTo>
                <a:lnTo>
                  <a:pt x="1656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647640" y="5838480"/>
            <a:ext cx="1333800" cy="10080"/>
          </a:xfrm>
          <a:custGeom>
            <a:avLst/>
            <a:gdLst/>
            <a:ahLst/>
            <a:rect l="0" t="0" r="r" b="b"/>
            <a:pathLst>
              <a:path w="3705" h="28">
                <a:moveTo>
                  <a:pt x="0" y="0"/>
                </a:moveTo>
                <a:lnTo>
                  <a:pt x="3705" y="0"/>
                </a:lnTo>
                <a:lnTo>
                  <a:pt x="37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981080" y="5838480"/>
            <a:ext cx="1362240" cy="10080"/>
          </a:xfrm>
          <a:custGeom>
            <a:avLst/>
            <a:gdLst/>
            <a:ahLst/>
            <a:rect l="0" t="0" r="r" b="b"/>
            <a:pathLst>
              <a:path w="3784" h="28">
                <a:moveTo>
                  <a:pt x="0" y="0"/>
                </a:moveTo>
                <a:lnTo>
                  <a:pt x="3784" y="0"/>
                </a:lnTo>
                <a:lnTo>
                  <a:pt x="378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3342960" y="5838480"/>
            <a:ext cx="2019960" cy="10080"/>
          </a:xfrm>
          <a:custGeom>
            <a:avLst/>
            <a:gdLst/>
            <a:ahLst/>
            <a:rect l="0" t="0" r="r" b="b"/>
            <a:pathLst>
              <a:path w="5611" h="28">
                <a:moveTo>
                  <a:pt x="0" y="0"/>
                </a:moveTo>
                <a:lnTo>
                  <a:pt x="5611" y="0"/>
                </a:lnTo>
                <a:lnTo>
                  <a:pt x="5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5362560" y="5838480"/>
            <a:ext cx="1552680" cy="10080"/>
          </a:xfrm>
          <a:custGeom>
            <a:avLst/>
            <a:gdLst/>
            <a:ahLst/>
            <a:rect l="0" t="0" r="r" b="b"/>
            <a:pathLst>
              <a:path w="4313" h="28">
                <a:moveTo>
                  <a:pt x="0" y="0"/>
                </a:moveTo>
                <a:lnTo>
                  <a:pt x="4313" y="0"/>
                </a:lnTo>
                <a:lnTo>
                  <a:pt x="431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e0e1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647640" y="613404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981080" y="6134040"/>
            <a:ext cx="1362240" cy="9720"/>
          </a:xfrm>
          <a:custGeom>
            <a:avLst/>
            <a:gdLst/>
            <a:ahLst/>
            <a:rect l="0" t="0" r="r" b="b"/>
            <a:pathLst>
              <a:path w="3784" h="27">
                <a:moveTo>
                  <a:pt x="0" y="0"/>
                </a:moveTo>
                <a:lnTo>
                  <a:pt x="3784" y="0"/>
                </a:lnTo>
                <a:lnTo>
                  <a:pt x="37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3342960" y="6134040"/>
            <a:ext cx="2019960" cy="9720"/>
          </a:xfrm>
          <a:custGeom>
            <a:avLst/>
            <a:gdLst/>
            <a:ahLst/>
            <a:rect l="0" t="0" r="r" b="b"/>
            <a:pathLst>
              <a:path w="5611" h="27">
                <a:moveTo>
                  <a:pt x="0" y="0"/>
                </a:moveTo>
                <a:lnTo>
                  <a:pt x="5611" y="0"/>
                </a:lnTo>
                <a:lnTo>
                  <a:pt x="56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5362560" y="6134040"/>
            <a:ext cx="1552680" cy="9720"/>
          </a:xfrm>
          <a:custGeom>
            <a:avLst/>
            <a:gdLst/>
            <a:ahLst/>
            <a:rect l="0" t="0" r="r" b="b"/>
            <a:pathLst>
              <a:path w="4313" h="27">
                <a:moveTo>
                  <a:pt x="0" y="0"/>
                </a:moveTo>
                <a:lnTo>
                  <a:pt x="4313" y="0"/>
                </a:lnTo>
                <a:lnTo>
                  <a:pt x="43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647640" y="642924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981080" y="6429240"/>
            <a:ext cx="1362240" cy="9720"/>
          </a:xfrm>
          <a:custGeom>
            <a:avLst/>
            <a:gdLst/>
            <a:ahLst/>
            <a:rect l="0" t="0" r="r" b="b"/>
            <a:pathLst>
              <a:path w="3784" h="27">
                <a:moveTo>
                  <a:pt x="0" y="0"/>
                </a:moveTo>
                <a:lnTo>
                  <a:pt x="3784" y="0"/>
                </a:lnTo>
                <a:lnTo>
                  <a:pt x="37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3342960" y="6429240"/>
            <a:ext cx="2019960" cy="9720"/>
          </a:xfrm>
          <a:custGeom>
            <a:avLst/>
            <a:gdLst/>
            <a:ahLst/>
            <a:rect l="0" t="0" r="r" b="b"/>
            <a:pathLst>
              <a:path w="5611" h="27">
                <a:moveTo>
                  <a:pt x="0" y="0"/>
                </a:moveTo>
                <a:lnTo>
                  <a:pt x="5611" y="0"/>
                </a:lnTo>
                <a:lnTo>
                  <a:pt x="56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362560" y="6429240"/>
            <a:ext cx="1552680" cy="9720"/>
          </a:xfrm>
          <a:custGeom>
            <a:avLst/>
            <a:gdLst/>
            <a:ahLst/>
            <a:rect l="0" t="0" r="r" b="b"/>
            <a:pathLst>
              <a:path w="4313" h="27">
                <a:moveTo>
                  <a:pt x="0" y="0"/>
                </a:moveTo>
                <a:lnTo>
                  <a:pt x="4313" y="0"/>
                </a:lnTo>
                <a:lnTo>
                  <a:pt x="43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647640" y="6715080"/>
            <a:ext cx="1333800" cy="9720"/>
          </a:xfrm>
          <a:custGeom>
            <a:avLst/>
            <a:gdLst/>
            <a:ahLst/>
            <a:rect l="0" t="0" r="r" b="b"/>
            <a:pathLst>
              <a:path w="3705" h="27">
                <a:moveTo>
                  <a:pt x="0" y="0"/>
                </a:moveTo>
                <a:lnTo>
                  <a:pt x="3705" y="0"/>
                </a:lnTo>
                <a:lnTo>
                  <a:pt x="3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981080" y="6715080"/>
            <a:ext cx="1362240" cy="9720"/>
          </a:xfrm>
          <a:custGeom>
            <a:avLst/>
            <a:gdLst/>
            <a:ahLst/>
            <a:rect l="0" t="0" r="r" b="b"/>
            <a:pathLst>
              <a:path w="3784" h="27">
                <a:moveTo>
                  <a:pt x="0" y="0"/>
                </a:moveTo>
                <a:lnTo>
                  <a:pt x="3784" y="0"/>
                </a:lnTo>
                <a:lnTo>
                  <a:pt x="378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3342960" y="6715080"/>
            <a:ext cx="2019960" cy="9720"/>
          </a:xfrm>
          <a:custGeom>
            <a:avLst/>
            <a:gdLst/>
            <a:ahLst/>
            <a:rect l="0" t="0" r="r" b="b"/>
            <a:pathLst>
              <a:path w="5611" h="27">
                <a:moveTo>
                  <a:pt x="0" y="0"/>
                </a:moveTo>
                <a:lnTo>
                  <a:pt x="5611" y="0"/>
                </a:lnTo>
                <a:lnTo>
                  <a:pt x="56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5362560" y="6715080"/>
            <a:ext cx="1552680" cy="9720"/>
          </a:xfrm>
          <a:custGeom>
            <a:avLst/>
            <a:gdLst/>
            <a:ahLst/>
            <a:rect l="0" t="0" r="r" b="b"/>
            <a:pathLst>
              <a:path w="4313" h="27">
                <a:moveTo>
                  <a:pt x="0" y="0"/>
                </a:moveTo>
                <a:lnTo>
                  <a:pt x="4313" y="0"/>
                </a:lnTo>
                <a:lnTo>
                  <a:pt x="431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47640" y="10286640"/>
            <a:ext cx="175644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00" spc="-1" strike="noStrike">
                <a:solidFill>
                  <a:srgbClr val="9a9496"/>
                </a:solidFill>
                <a:latin typeface="Inter"/>
                <a:ea typeface="Inter"/>
              </a:rPr>
              <a:t>OBD AI SOLUTIONS · LAHORE, PAKISTAN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647640" y="2562120"/>
            <a:ext cx="1924200" cy="9720"/>
          </a:xfrm>
          <a:custGeom>
            <a:avLst/>
            <a:gdLst/>
            <a:ahLst/>
            <a:rect l="0" t="0" r="r" b="b"/>
            <a:pathLst>
              <a:path w="5345" h="27">
                <a:moveTo>
                  <a:pt x="0" y="0"/>
                </a:moveTo>
                <a:lnTo>
                  <a:pt x="5345" y="0"/>
                </a:lnTo>
                <a:lnTo>
                  <a:pt x="53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647640" y="1863720"/>
            <a:ext cx="54993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To be signed on launch day, confirming that the website is live and that all account access has been handed over.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647640" y="2139120"/>
            <a:ext cx="10126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L I V E   W E B S I 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2819160" y="2533320"/>
            <a:ext cx="1924560" cy="10080"/>
          </a:xfrm>
          <a:custGeom>
            <a:avLst/>
            <a:gdLst/>
            <a:ahLst/>
            <a:rect l="0" t="0" r="r" b="b"/>
            <a:pathLst>
              <a:path w="5346" h="28">
                <a:moveTo>
                  <a:pt x="0" y="0"/>
                </a:moveTo>
                <a:lnTo>
                  <a:pt x="5346" y="0"/>
                </a:lnTo>
                <a:lnTo>
                  <a:pt x="53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647640" y="2353320"/>
            <a:ext cx="429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00" spc="-1" strike="noStrike">
                <a:solidFill>
                  <a:srgbClr val="0e0e14"/>
                </a:solidFill>
                <a:latin typeface="Inter"/>
                <a:ea typeface="Inter"/>
              </a:rPr>
              <a:t>https://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4991040" y="2562120"/>
            <a:ext cx="1924200" cy="9720"/>
          </a:xfrm>
          <a:custGeom>
            <a:avLst/>
            <a:gdLst/>
            <a:ahLst/>
            <a:rect l="0" t="0" r="r" b="b"/>
            <a:pathLst>
              <a:path w="5345" h="27">
                <a:moveTo>
                  <a:pt x="0" y="0"/>
                </a:moveTo>
                <a:lnTo>
                  <a:pt x="5345" y="0"/>
                </a:lnTo>
                <a:lnTo>
                  <a:pt x="534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820600" y="2139120"/>
            <a:ext cx="95616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G O - L I V E   DAT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993920" y="2139120"/>
            <a:ext cx="22320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E M A I L   AC C O U N T S   C O N F I G U R E D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993920" y="2353320"/>
            <a:ext cx="16009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00" spc="-1" strike="noStrike">
                <a:solidFill>
                  <a:srgbClr val="0e0e14"/>
                </a:solidFill>
                <a:latin typeface="Inter"/>
                <a:ea typeface="Inter"/>
              </a:rPr>
              <a:t>1 included + ____ additional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738000" y="316692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298"/>
                </a:moveTo>
                <a:lnTo>
                  <a:pt x="0" y="47"/>
                </a:lnTo>
                <a:cubicBezTo>
                  <a:pt x="0" y="40"/>
                  <a:pt x="1" y="34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3"/>
                </a:cubicBezTo>
                <a:cubicBezTo>
                  <a:pt x="322" y="6"/>
                  <a:pt x="327" y="9"/>
                  <a:pt x="331" y="14"/>
                </a:cubicBezTo>
                <a:cubicBezTo>
                  <a:pt x="336" y="18"/>
                  <a:pt x="339" y="23"/>
                  <a:pt x="341" y="29"/>
                </a:cubicBezTo>
                <a:cubicBezTo>
                  <a:pt x="344" y="34"/>
                  <a:pt x="345" y="40"/>
                  <a:pt x="345" y="47"/>
                </a:cubicBezTo>
                <a:lnTo>
                  <a:pt x="345" y="298"/>
                </a:lnTo>
                <a:cubicBezTo>
                  <a:pt x="345" y="304"/>
                  <a:pt x="344" y="310"/>
                  <a:pt x="341" y="316"/>
                </a:cubicBezTo>
                <a:cubicBezTo>
                  <a:pt x="339" y="322"/>
                  <a:pt x="336" y="327"/>
                  <a:pt x="331" y="331"/>
                </a:cubicBezTo>
                <a:cubicBezTo>
                  <a:pt x="327" y="336"/>
                  <a:pt x="322" y="339"/>
                  <a:pt x="316" y="341"/>
                </a:cubicBezTo>
                <a:cubicBezTo>
                  <a:pt x="310" y="344"/>
                  <a:pt x="304" y="345"/>
                  <a:pt x="298" y="345"/>
                </a:cubicBezTo>
                <a:lnTo>
                  <a:pt x="47" y="345"/>
                </a:lnTo>
                <a:cubicBezTo>
                  <a:pt x="41" y="345"/>
                  <a:pt x="35" y="344"/>
                  <a:pt x="29" y="341"/>
                </a:cubicBezTo>
                <a:cubicBezTo>
                  <a:pt x="23" y="339"/>
                  <a:pt x="18" y="336"/>
                  <a:pt x="14" y="331"/>
                </a:cubicBezTo>
                <a:cubicBezTo>
                  <a:pt x="9" y="327"/>
                  <a:pt x="6" y="322"/>
                  <a:pt x="4" y="316"/>
                </a:cubicBezTo>
                <a:cubicBezTo>
                  <a:pt x="1" y="310"/>
                  <a:pt x="0" y="304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47640" y="2876760"/>
            <a:ext cx="7171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50" spc="-1" strike="noStrike">
                <a:solidFill>
                  <a:srgbClr val="0e0e14"/>
                </a:solidFill>
                <a:latin typeface="Inter-Semi"/>
                <a:ea typeface="Inter-Semi"/>
              </a:rPr>
              <a:t>Delivered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738000" y="346212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298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9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4"/>
                </a:cubicBezTo>
                <a:cubicBezTo>
                  <a:pt x="322" y="6"/>
                  <a:pt x="327" y="9"/>
                  <a:pt x="331" y="14"/>
                </a:cubicBezTo>
                <a:cubicBezTo>
                  <a:pt x="336" y="18"/>
                  <a:pt x="339" y="23"/>
                  <a:pt x="341" y="29"/>
                </a:cubicBezTo>
                <a:cubicBezTo>
                  <a:pt x="344" y="35"/>
                  <a:pt x="345" y="41"/>
                  <a:pt x="345" y="47"/>
                </a:cubicBezTo>
                <a:lnTo>
                  <a:pt x="345" y="298"/>
                </a:lnTo>
                <a:cubicBezTo>
                  <a:pt x="345" y="304"/>
                  <a:pt x="344" y="310"/>
                  <a:pt x="341" y="316"/>
                </a:cubicBezTo>
                <a:cubicBezTo>
                  <a:pt x="339" y="322"/>
                  <a:pt x="336" y="327"/>
                  <a:pt x="331" y="331"/>
                </a:cubicBezTo>
                <a:cubicBezTo>
                  <a:pt x="327" y="336"/>
                  <a:pt x="322" y="339"/>
                  <a:pt x="316" y="342"/>
                </a:cubicBezTo>
                <a:cubicBezTo>
                  <a:pt x="310" y="344"/>
                  <a:pt x="304" y="345"/>
                  <a:pt x="298" y="345"/>
                </a:cubicBezTo>
                <a:lnTo>
                  <a:pt x="47" y="345"/>
                </a:lnTo>
                <a:cubicBezTo>
                  <a:pt x="41" y="345"/>
                  <a:pt x="35" y="344"/>
                  <a:pt x="29" y="342"/>
                </a:cubicBezTo>
                <a:cubicBezTo>
                  <a:pt x="23" y="339"/>
                  <a:pt x="18" y="336"/>
                  <a:pt x="14" y="331"/>
                </a:cubicBezTo>
                <a:cubicBezTo>
                  <a:pt x="9" y="327"/>
                  <a:pt x="6" y="322"/>
                  <a:pt x="4" y="316"/>
                </a:cubicBezTo>
                <a:cubicBezTo>
                  <a:pt x="1" y="310"/>
                  <a:pt x="0" y="304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46880" y="3184920"/>
            <a:ext cx="2529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Website live on your domain with HTTPS SSL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738000" y="3757320"/>
            <a:ext cx="124200" cy="114840"/>
          </a:xfrm>
          <a:custGeom>
            <a:avLst/>
            <a:gdLst/>
            <a:ahLst/>
            <a:rect l="0" t="0" r="r" b="b"/>
            <a:pathLst>
              <a:path w="345" h="319">
                <a:moveTo>
                  <a:pt x="0" y="272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10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4"/>
                </a:cubicBezTo>
                <a:cubicBezTo>
                  <a:pt x="322" y="6"/>
                  <a:pt x="327" y="10"/>
                  <a:pt x="331" y="14"/>
                </a:cubicBezTo>
                <a:cubicBezTo>
                  <a:pt x="336" y="18"/>
                  <a:pt x="339" y="23"/>
                  <a:pt x="341" y="29"/>
                </a:cubicBezTo>
                <a:cubicBezTo>
                  <a:pt x="344" y="35"/>
                  <a:pt x="345" y="41"/>
                  <a:pt x="345" y="47"/>
                </a:cubicBezTo>
                <a:lnTo>
                  <a:pt x="345" y="272"/>
                </a:lnTo>
                <a:cubicBezTo>
                  <a:pt x="345" y="278"/>
                  <a:pt x="344" y="284"/>
                  <a:pt x="341" y="290"/>
                </a:cubicBezTo>
                <a:cubicBezTo>
                  <a:pt x="339" y="296"/>
                  <a:pt x="336" y="301"/>
                  <a:pt x="331" y="305"/>
                </a:cubicBezTo>
                <a:cubicBezTo>
                  <a:pt x="327" y="309"/>
                  <a:pt x="322" y="313"/>
                  <a:pt x="316" y="315"/>
                </a:cubicBezTo>
                <a:cubicBezTo>
                  <a:pt x="310" y="318"/>
                  <a:pt x="304" y="319"/>
                  <a:pt x="298" y="319"/>
                </a:cubicBezTo>
                <a:lnTo>
                  <a:pt x="47" y="319"/>
                </a:lnTo>
                <a:cubicBezTo>
                  <a:pt x="41" y="319"/>
                  <a:pt x="35" y="318"/>
                  <a:pt x="29" y="315"/>
                </a:cubicBezTo>
                <a:cubicBezTo>
                  <a:pt x="23" y="313"/>
                  <a:pt x="18" y="309"/>
                  <a:pt x="14" y="305"/>
                </a:cubicBezTo>
                <a:cubicBezTo>
                  <a:pt x="9" y="301"/>
                  <a:pt x="6" y="296"/>
                  <a:pt x="4" y="290"/>
                </a:cubicBezTo>
                <a:cubicBezTo>
                  <a:pt x="1" y="284"/>
                  <a:pt x="0" y="278"/>
                  <a:pt x="0" y="272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046880" y="3480120"/>
            <a:ext cx="2721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All 7 pages checked on mobile, tablet and desktop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738000" y="4052880"/>
            <a:ext cx="124200" cy="114480"/>
          </a:xfrm>
          <a:custGeom>
            <a:avLst/>
            <a:gdLst/>
            <a:ahLst/>
            <a:rect l="0" t="0" r="r" b="b"/>
            <a:pathLst>
              <a:path w="345" h="318">
                <a:moveTo>
                  <a:pt x="0" y="270"/>
                </a:moveTo>
                <a:lnTo>
                  <a:pt x="0" y="46"/>
                </a:lnTo>
                <a:cubicBezTo>
                  <a:pt x="0" y="40"/>
                  <a:pt x="1" y="34"/>
                  <a:pt x="4" y="28"/>
                </a:cubicBezTo>
                <a:cubicBezTo>
                  <a:pt x="6" y="23"/>
                  <a:pt x="9" y="18"/>
                  <a:pt x="14" y="13"/>
                </a:cubicBezTo>
                <a:cubicBezTo>
                  <a:pt x="18" y="9"/>
                  <a:pt x="23" y="5"/>
                  <a:pt x="29" y="3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3"/>
                </a:cubicBezTo>
                <a:cubicBezTo>
                  <a:pt x="322" y="5"/>
                  <a:pt x="327" y="9"/>
                  <a:pt x="331" y="13"/>
                </a:cubicBezTo>
                <a:cubicBezTo>
                  <a:pt x="336" y="18"/>
                  <a:pt x="339" y="23"/>
                  <a:pt x="341" y="28"/>
                </a:cubicBezTo>
                <a:cubicBezTo>
                  <a:pt x="344" y="34"/>
                  <a:pt x="345" y="40"/>
                  <a:pt x="345" y="46"/>
                </a:cubicBezTo>
                <a:lnTo>
                  <a:pt x="345" y="270"/>
                </a:lnTo>
                <a:cubicBezTo>
                  <a:pt x="345" y="276"/>
                  <a:pt x="344" y="282"/>
                  <a:pt x="341" y="288"/>
                </a:cubicBezTo>
                <a:cubicBezTo>
                  <a:pt x="339" y="294"/>
                  <a:pt x="336" y="299"/>
                  <a:pt x="331" y="303"/>
                </a:cubicBezTo>
                <a:cubicBezTo>
                  <a:pt x="327" y="308"/>
                  <a:pt x="322" y="311"/>
                  <a:pt x="316" y="314"/>
                </a:cubicBezTo>
                <a:cubicBezTo>
                  <a:pt x="310" y="317"/>
                  <a:pt x="304" y="318"/>
                  <a:pt x="298" y="318"/>
                </a:cubicBezTo>
                <a:lnTo>
                  <a:pt x="47" y="318"/>
                </a:lnTo>
                <a:cubicBezTo>
                  <a:pt x="41" y="318"/>
                  <a:pt x="35" y="317"/>
                  <a:pt x="29" y="314"/>
                </a:cubicBezTo>
                <a:cubicBezTo>
                  <a:pt x="23" y="311"/>
                  <a:pt x="18" y="308"/>
                  <a:pt x="14" y="303"/>
                </a:cubicBezTo>
                <a:cubicBezTo>
                  <a:pt x="9" y="299"/>
                  <a:pt x="6" y="294"/>
                  <a:pt x="4" y="288"/>
                </a:cubicBezTo>
                <a:cubicBezTo>
                  <a:pt x="1" y="282"/>
                  <a:pt x="0" y="276"/>
                  <a:pt x="0" y="270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046880" y="3765960"/>
            <a:ext cx="2166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Contact details, links and buttons tested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738000" y="43383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298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9" y="18"/>
                  <a:pt x="14" y="14"/>
                </a:cubicBezTo>
                <a:cubicBezTo>
                  <a:pt x="18" y="10"/>
                  <a:pt x="23" y="6"/>
                  <a:pt x="29" y="4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4"/>
                </a:cubicBezTo>
                <a:cubicBezTo>
                  <a:pt x="322" y="6"/>
                  <a:pt x="327" y="10"/>
                  <a:pt x="331" y="14"/>
                </a:cubicBezTo>
                <a:cubicBezTo>
                  <a:pt x="336" y="18"/>
                  <a:pt x="339" y="23"/>
                  <a:pt x="341" y="29"/>
                </a:cubicBezTo>
                <a:cubicBezTo>
                  <a:pt x="344" y="35"/>
                  <a:pt x="345" y="41"/>
                  <a:pt x="345" y="47"/>
                </a:cubicBezTo>
                <a:lnTo>
                  <a:pt x="345" y="298"/>
                </a:lnTo>
                <a:cubicBezTo>
                  <a:pt x="345" y="305"/>
                  <a:pt x="344" y="311"/>
                  <a:pt x="341" y="316"/>
                </a:cubicBezTo>
                <a:cubicBezTo>
                  <a:pt x="339" y="322"/>
                  <a:pt x="336" y="327"/>
                  <a:pt x="331" y="332"/>
                </a:cubicBezTo>
                <a:cubicBezTo>
                  <a:pt x="327" y="336"/>
                  <a:pt x="322" y="339"/>
                  <a:pt x="316" y="342"/>
                </a:cubicBezTo>
                <a:cubicBezTo>
                  <a:pt x="310" y="344"/>
                  <a:pt x="304" y="345"/>
                  <a:pt x="298" y="345"/>
                </a:cubicBezTo>
                <a:lnTo>
                  <a:pt x="47" y="345"/>
                </a:lnTo>
                <a:cubicBezTo>
                  <a:pt x="41" y="345"/>
                  <a:pt x="35" y="344"/>
                  <a:pt x="29" y="342"/>
                </a:cubicBezTo>
                <a:cubicBezTo>
                  <a:pt x="23" y="339"/>
                  <a:pt x="18" y="336"/>
                  <a:pt x="14" y="332"/>
                </a:cubicBezTo>
                <a:cubicBezTo>
                  <a:pt x="9" y="327"/>
                  <a:pt x="6" y="322"/>
                  <a:pt x="4" y="316"/>
                </a:cubicBezTo>
                <a:cubicBezTo>
                  <a:pt x="1" y="311"/>
                  <a:pt x="0" y="305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046880" y="4061160"/>
            <a:ext cx="24984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Professional mailbox working (info@gfxt.com)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738000" y="463356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0" y="298"/>
                </a:moveTo>
                <a:lnTo>
                  <a:pt x="0" y="47"/>
                </a:lnTo>
                <a:cubicBezTo>
                  <a:pt x="0" y="41"/>
                  <a:pt x="1" y="35"/>
                  <a:pt x="4" y="29"/>
                </a:cubicBezTo>
                <a:cubicBezTo>
                  <a:pt x="6" y="24"/>
                  <a:pt x="9" y="19"/>
                  <a:pt x="14" y="14"/>
                </a:cubicBezTo>
                <a:cubicBezTo>
                  <a:pt x="18" y="10"/>
                  <a:pt x="23" y="6"/>
                  <a:pt x="29" y="4"/>
                </a:cubicBezTo>
                <a:cubicBezTo>
                  <a:pt x="35" y="2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2"/>
                  <a:pt x="316" y="4"/>
                </a:cubicBezTo>
                <a:cubicBezTo>
                  <a:pt x="322" y="6"/>
                  <a:pt x="327" y="10"/>
                  <a:pt x="331" y="14"/>
                </a:cubicBezTo>
                <a:cubicBezTo>
                  <a:pt x="336" y="19"/>
                  <a:pt x="339" y="24"/>
                  <a:pt x="341" y="29"/>
                </a:cubicBezTo>
                <a:cubicBezTo>
                  <a:pt x="344" y="35"/>
                  <a:pt x="345" y="41"/>
                  <a:pt x="345" y="47"/>
                </a:cubicBezTo>
                <a:lnTo>
                  <a:pt x="345" y="298"/>
                </a:lnTo>
                <a:cubicBezTo>
                  <a:pt x="345" y="304"/>
                  <a:pt x="344" y="310"/>
                  <a:pt x="341" y="316"/>
                </a:cubicBezTo>
                <a:cubicBezTo>
                  <a:pt x="339" y="321"/>
                  <a:pt x="336" y="326"/>
                  <a:pt x="331" y="331"/>
                </a:cubicBezTo>
                <a:cubicBezTo>
                  <a:pt x="327" y="336"/>
                  <a:pt x="322" y="340"/>
                  <a:pt x="316" y="342"/>
                </a:cubicBezTo>
                <a:cubicBezTo>
                  <a:pt x="310" y="344"/>
                  <a:pt x="304" y="345"/>
                  <a:pt x="298" y="345"/>
                </a:cubicBezTo>
                <a:lnTo>
                  <a:pt x="47" y="345"/>
                </a:lnTo>
                <a:cubicBezTo>
                  <a:pt x="41" y="345"/>
                  <a:pt x="35" y="344"/>
                  <a:pt x="29" y="342"/>
                </a:cubicBezTo>
                <a:cubicBezTo>
                  <a:pt x="23" y="340"/>
                  <a:pt x="18" y="336"/>
                  <a:pt x="14" y="331"/>
                </a:cubicBezTo>
                <a:cubicBezTo>
                  <a:pt x="9" y="326"/>
                  <a:pt x="6" y="321"/>
                  <a:pt x="4" y="316"/>
                </a:cubicBezTo>
                <a:cubicBezTo>
                  <a:pt x="1" y="310"/>
                  <a:pt x="0" y="304"/>
                  <a:pt x="0" y="298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046880" y="4356360"/>
            <a:ext cx="2404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Mailbox set up on one phone and one laptop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738000" y="4929120"/>
            <a:ext cx="124200" cy="114480"/>
          </a:xfrm>
          <a:custGeom>
            <a:avLst/>
            <a:gdLst/>
            <a:ahLst/>
            <a:rect l="0" t="0" r="r" b="b"/>
            <a:pathLst>
              <a:path w="345" h="318">
                <a:moveTo>
                  <a:pt x="0" y="271"/>
                </a:moveTo>
                <a:lnTo>
                  <a:pt x="0" y="46"/>
                </a:lnTo>
                <a:cubicBezTo>
                  <a:pt x="0" y="40"/>
                  <a:pt x="1" y="34"/>
                  <a:pt x="4" y="29"/>
                </a:cubicBezTo>
                <a:cubicBezTo>
                  <a:pt x="6" y="23"/>
                  <a:pt x="9" y="18"/>
                  <a:pt x="14" y="13"/>
                </a:cubicBezTo>
                <a:cubicBezTo>
                  <a:pt x="18" y="9"/>
                  <a:pt x="23" y="6"/>
                  <a:pt x="29" y="3"/>
                </a:cubicBezTo>
                <a:cubicBezTo>
                  <a:pt x="35" y="1"/>
                  <a:pt x="41" y="0"/>
                  <a:pt x="47" y="0"/>
                </a:cubicBezTo>
                <a:lnTo>
                  <a:pt x="298" y="0"/>
                </a:lnTo>
                <a:cubicBezTo>
                  <a:pt x="304" y="0"/>
                  <a:pt x="310" y="1"/>
                  <a:pt x="316" y="3"/>
                </a:cubicBezTo>
                <a:cubicBezTo>
                  <a:pt x="322" y="6"/>
                  <a:pt x="327" y="9"/>
                  <a:pt x="331" y="13"/>
                </a:cubicBezTo>
                <a:cubicBezTo>
                  <a:pt x="336" y="18"/>
                  <a:pt x="339" y="23"/>
                  <a:pt x="341" y="29"/>
                </a:cubicBezTo>
                <a:cubicBezTo>
                  <a:pt x="344" y="34"/>
                  <a:pt x="345" y="40"/>
                  <a:pt x="345" y="46"/>
                </a:cubicBezTo>
                <a:lnTo>
                  <a:pt x="345" y="271"/>
                </a:lnTo>
                <a:cubicBezTo>
                  <a:pt x="345" y="278"/>
                  <a:pt x="344" y="284"/>
                  <a:pt x="341" y="289"/>
                </a:cubicBezTo>
                <a:cubicBezTo>
                  <a:pt x="339" y="295"/>
                  <a:pt x="336" y="300"/>
                  <a:pt x="331" y="304"/>
                </a:cubicBezTo>
                <a:cubicBezTo>
                  <a:pt x="327" y="309"/>
                  <a:pt x="322" y="312"/>
                  <a:pt x="316" y="315"/>
                </a:cubicBezTo>
                <a:cubicBezTo>
                  <a:pt x="310" y="317"/>
                  <a:pt x="304" y="318"/>
                  <a:pt x="298" y="318"/>
                </a:cubicBezTo>
                <a:lnTo>
                  <a:pt x="47" y="318"/>
                </a:lnTo>
                <a:cubicBezTo>
                  <a:pt x="41" y="318"/>
                  <a:pt x="35" y="317"/>
                  <a:pt x="29" y="315"/>
                </a:cubicBezTo>
                <a:cubicBezTo>
                  <a:pt x="23" y="312"/>
                  <a:pt x="18" y="309"/>
                  <a:pt x="14" y="304"/>
                </a:cubicBezTo>
                <a:cubicBezTo>
                  <a:pt x="9" y="300"/>
                  <a:pt x="6" y="295"/>
                  <a:pt x="4" y="289"/>
                </a:cubicBezTo>
                <a:cubicBezTo>
                  <a:pt x="1" y="284"/>
                  <a:pt x="0" y="278"/>
                  <a:pt x="0" y="271"/>
                </a:cubicBezTo>
                <a:close/>
              </a:path>
            </a:pathLst>
          </a:custGeom>
          <a:noFill/>
          <a:ln w="9360">
            <a:solidFill>
              <a:srgbClr val="0e0e14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046880" y="4651920"/>
            <a:ext cx="2204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Backup copy of the website given to you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046880" y="4937400"/>
            <a:ext cx="9943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Walkthrough done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47640" y="5334120"/>
            <a:ext cx="147276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050" spc="-1" strike="noStrike">
                <a:solidFill>
                  <a:srgbClr val="0e0e14"/>
                </a:solidFill>
                <a:latin typeface="Inter-Semi"/>
                <a:ea typeface="Inter-Semi"/>
              </a:rPr>
              <a:t>Logins handed over</a:t>
            </a:r>
            <a:endParaRPr b="0" lang="en-US" sz="10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737640" y="5653800"/>
            <a:ext cx="62244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AC C O U N T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074680" y="5653800"/>
            <a:ext cx="7138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P R O V I D E R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428280" y="5653800"/>
            <a:ext cx="119844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I N   T H E   N A M E   O F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455080" y="5653800"/>
            <a:ext cx="83592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R E N E W S   O N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737640" y="5923080"/>
            <a:ext cx="4899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Domain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3428280" y="5918400"/>
            <a:ext cx="357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GFXT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37640" y="6218640"/>
            <a:ext cx="4989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Hosting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428280" y="6213960"/>
            <a:ext cx="357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GFXT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37640" y="6513840"/>
            <a:ext cx="3528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900" spc="-1" strike="noStrike">
                <a:solidFill>
                  <a:srgbClr val="0e0e14"/>
                </a:solidFill>
                <a:latin typeface="Inter-Semi"/>
                <a:ea typeface="Inter-Semi"/>
              </a:rPr>
              <a:t>Email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428280" y="6509160"/>
            <a:ext cx="357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900" spc="-1" strike="noStrike">
                <a:solidFill>
                  <a:srgbClr val="2a2934"/>
                </a:solidFill>
                <a:latin typeface="Inter"/>
                <a:ea typeface="Inter"/>
              </a:rPr>
              <a:t>GFXT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47640" y="6797880"/>
            <a:ext cx="552816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6b6878"/>
                </a:solidFill>
                <a:latin typeface="Inter"/>
                <a:ea typeface="Inter"/>
              </a:rPr>
              <a:t>Passwords are shared privately and are never written on this form. We recommend changing them after handover.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47640" y="7064280"/>
            <a:ext cx="5958000" cy="12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800" spc="-1" strike="noStrike">
                <a:solidFill>
                  <a:srgbClr val="2a2934"/>
                </a:solidFill>
                <a:latin typeface="Inter"/>
                <a:ea typeface="Inter"/>
              </a:rPr>
              <a:t>GFXT confirms that the website is live and accepted. The 14-day launch support period starts from the go-live date above.</a:t>
            </a:r>
            <a:endParaRPr b="0" lang="en-US" sz="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647640" y="802944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47640" y="7337520"/>
            <a:ext cx="17701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F O R   O B D   A I   S O L U T I O N S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219040" y="8029440"/>
            <a:ext cx="1381680" cy="9720"/>
          </a:xfrm>
          <a:custGeom>
            <a:avLst/>
            <a:gdLst/>
            <a:ahLst/>
            <a:rect l="0" t="0" r="r" b="b"/>
            <a:pathLst>
              <a:path w="3838" h="27">
                <a:moveTo>
                  <a:pt x="0" y="0"/>
                </a:moveTo>
                <a:lnTo>
                  <a:pt x="3838" y="0"/>
                </a:lnTo>
                <a:lnTo>
                  <a:pt x="3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47640" y="7520760"/>
            <a:ext cx="7732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S I G N AT U R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214720" y="7520760"/>
            <a:ext cx="8784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N A M E   ·   DAT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2214720" y="7734960"/>
            <a:ext cx="108288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00" spc="-1" strike="noStrike">
                <a:solidFill>
                  <a:srgbClr val="0e0e14"/>
                </a:solidFill>
                <a:latin typeface="Inter"/>
                <a:ea typeface="Inter"/>
              </a:rPr>
              <a:t>Omer Bin Dawood</a:t>
            </a:r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3962160" y="802944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961440" y="7337520"/>
            <a:ext cx="7779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F O R   G F X - T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5524200" y="8029440"/>
            <a:ext cx="1391040" cy="9720"/>
          </a:xfrm>
          <a:custGeom>
            <a:avLst/>
            <a:gdLst/>
            <a:ahLst/>
            <a:rect l="0" t="0" r="r" b="b"/>
            <a:pathLst>
              <a:path w="3864" h="27">
                <a:moveTo>
                  <a:pt x="0" y="0"/>
                </a:moveTo>
                <a:lnTo>
                  <a:pt x="3864" y="0"/>
                </a:lnTo>
                <a:lnTo>
                  <a:pt x="38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bdb5b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3961440" y="7520760"/>
            <a:ext cx="77328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S I G N AT U R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47640" y="1695240"/>
            <a:ext cx="6267600" cy="10080"/>
          </a:xfrm>
          <a:custGeom>
            <a:avLst/>
            <a:gdLst/>
            <a:ahLst/>
            <a:rect l="0" t="0" r="r" b="b"/>
            <a:pathLst>
              <a:path w="17410" h="28">
                <a:moveTo>
                  <a:pt x="0" y="0"/>
                </a:moveTo>
                <a:lnTo>
                  <a:pt x="17410" y="0"/>
                </a:lnTo>
                <a:lnTo>
                  <a:pt x="1741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6e1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647640" y="504720"/>
            <a:ext cx="409320" cy="399600"/>
          </a:xfrm>
          <a:prstGeom prst="rect">
            <a:avLst/>
          </a:prstGeom>
          <a:ln w="0">
            <a:noFill/>
          </a:ln>
        </p:spPr>
      </p:pic>
      <p:sp>
        <p:nvSpPr>
          <p:cNvPr id="84" name=""/>
          <p:cNvSpPr txBox="1"/>
          <p:nvPr/>
        </p:nvSpPr>
        <p:spPr>
          <a:xfrm>
            <a:off x="5528160" y="7520760"/>
            <a:ext cx="878400" cy="100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6b6878"/>
                </a:solidFill>
                <a:latin typeface="Inter-Semi"/>
                <a:ea typeface="Inter-Semi"/>
              </a:rPr>
              <a:t>N A M E   ·   DAT E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162440" y="488160"/>
            <a:ext cx="369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1300" spc="-1" strike="noStrike">
                <a:solidFill>
                  <a:srgbClr val="0e0e14"/>
                </a:solidFill>
                <a:latin typeface="PlayfairDisplay"/>
                <a:ea typeface="PlayfairDisplay"/>
              </a:rPr>
              <a:t>OBD</a:t>
            </a:r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162440" y="755640"/>
            <a:ext cx="9349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20" spc="-1" strike="noStrike">
                <a:solidFill>
                  <a:srgbClr val="6a26d8"/>
                </a:solidFill>
                <a:latin typeface="Inter-Semi"/>
                <a:ea typeface="Inter-Semi"/>
              </a:rPr>
              <a:t>A I   S O L U T I O N S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47640" y="1089000"/>
            <a:ext cx="16297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00" spc="-1" strike="noStrike">
                <a:solidFill>
                  <a:srgbClr val="6a26d8"/>
                </a:solidFill>
                <a:latin typeface="Inter-Semi"/>
                <a:ea typeface="Inter-Semi"/>
              </a:rPr>
              <a:t>L A U N C H   ·   F I N A L   S T E P</a:t>
            </a:r>
            <a:endParaRPr b="0" lang="en-US" sz="7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47640" y="1257480"/>
            <a:ext cx="122148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2100" spc="-1" strike="noStrike">
                <a:solidFill>
                  <a:srgbClr val="0e0e14"/>
                </a:solidFill>
                <a:latin typeface="PlayfairDisplay-Semi"/>
                <a:ea typeface="PlayfairDisplay-Semi"/>
              </a:rPr>
              <a:t>Go-Live 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689480" y="1216440"/>
            <a:ext cx="14529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2100" spc="-1" strike="noStrike">
                <a:solidFill>
                  <a:srgbClr val="6a26d8"/>
                </a:solidFill>
                <a:latin typeface="PlayfairDisplay-Medium"/>
                <a:ea typeface="PlayfairDisplay-Medium"/>
              </a:rPr>
              <a:t>&amp; Handover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932800" y="1136520"/>
            <a:ext cx="2080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6b6878"/>
                </a:solidFill>
                <a:latin typeface="Inter"/>
                <a:ea typeface="Inter"/>
              </a:rPr>
              <a:t>Ref. 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132240" y="1140480"/>
            <a:ext cx="8740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750" spc="-1" strike="noStrike">
                <a:solidFill>
                  <a:srgbClr val="0e0e14"/>
                </a:solidFill>
                <a:latin typeface="Inter-Semi"/>
                <a:ea typeface="Inter-Semi"/>
              </a:rPr>
              <a:t>OBDGFXT2026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017760" y="1279440"/>
            <a:ext cx="90612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6b6878"/>
                </a:solidFill>
                <a:latin typeface="Inter"/>
                <a:ea typeface="Inter"/>
              </a:rPr>
              <a:t>25 September 2026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647640" y="1685880"/>
            <a:ext cx="8640" cy="8640"/>
          </a:xfrm>
          <a:custGeom>
            <a:avLst/>
            <a:gdLst/>
            <a:ahLst/>
            <a:rect l="0" t="0" r="r" b="b"/>
            <a:pathLst>
              <a:path w="24" h="24">
                <a:moveTo>
                  <a:pt x="0" y="0"/>
                </a:moveTo>
                <a:lnTo>
                  <a:pt x="0" y="24"/>
                </a:lnTo>
                <a:lnTo>
                  <a:pt x="24" y="0"/>
                </a:lnTo>
                <a:lnTo>
                  <a:pt x="0" y="0"/>
                </a:lnTo>
                <a:close/>
              </a:path>
            </a:pathLst>
          </a:custGeom>
          <a:solidFill>
            <a:srgbClr val="7b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647640" y="1685880"/>
            <a:ext cx="17280" cy="17280"/>
          </a:xfrm>
          <a:custGeom>
            <a:avLst/>
            <a:gdLst/>
            <a:ahLst/>
            <a:rect l="0" t="0" r="r" b="b"/>
            <a:pathLst>
              <a:path w="48" h="48">
                <a:moveTo>
                  <a:pt x="24" y="0"/>
                </a:moveTo>
                <a:lnTo>
                  <a:pt x="0" y="23"/>
                </a:lnTo>
                <a:lnTo>
                  <a:pt x="0" y="48"/>
                </a:lnTo>
                <a:lnTo>
                  <a:pt x="48" y="0"/>
                </a:lnTo>
                <a:lnTo>
                  <a:pt x="24" y="0"/>
                </a:lnTo>
                <a:close/>
              </a:path>
            </a:pathLst>
          </a:custGeom>
          <a:solidFill>
            <a:srgbClr val="7c22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647640" y="1685880"/>
            <a:ext cx="19440" cy="19440"/>
          </a:xfrm>
          <a:custGeom>
            <a:avLst/>
            <a:gdLst/>
            <a:ahLst/>
            <a:rect l="0" t="0" r="r" b="b"/>
            <a:pathLst>
              <a:path w="54" h="54">
                <a:moveTo>
                  <a:pt x="47" y="0"/>
                </a:moveTo>
                <a:lnTo>
                  <a:pt x="0" y="48"/>
                </a:lnTo>
                <a:lnTo>
                  <a:pt x="0" y="54"/>
                </a:lnTo>
                <a:lnTo>
                  <a:pt x="54" y="0"/>
                </a:lnTo>
                <a:lnTo>
                  <a:pt x="47" y="0"/>
                </a:lnTo>
                <a:close/>
              </a:path>
            </a:pathLst>
          </a:custGeom>
          <a:solidFill>
            <a:srgbClr val="7c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647640" y="1685880"/>
            <a:ext cx="25920" cy="19440"/>
          </a:xfrm>
          <a:custGeom>
            <a:avLst/>
            <a:gdLst/>
            <a:ahLst/>
            <a:rect l="0" t="0" r="r" b="b"/>
            <a:pathLst>
              <a:path w="72" h="54">
                <a:moveTo>
                  <a:pt x="54" y="0"/>
                </a:moveTo>
                <a:lnTo>
                  <a:pt x="0" y="54"/>
                </a:lnTo>
                <a:lnTo>
                  <a:pt x="19" y="54"/>
                </a:lnTo>
                <a:lnTo>
                  <a:pt x="72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6541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d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6627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23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67140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7e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796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883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24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969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70560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0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138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5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225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1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7311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2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73980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26e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484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3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7567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7653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27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7740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7826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5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7909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8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995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8082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8168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29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8251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2ae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8337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8424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92a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85104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85968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a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8679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b2b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8766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8852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89388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2c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90216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9108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2de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9194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2d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92808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9367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8f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9450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02e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9536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9622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9709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2f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9792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2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9878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9964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330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0051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01340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0220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1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0306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5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03932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04796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2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0562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3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3" y="0"/>
                </a:lnTo>
                <a:close/>
              </a:path>
            </a:pathLst>
          </a:custGeom>
          <a:solidFill>
            <a:srgbClr val="97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0648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07352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5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3d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082160" y="1685880"/>
            <a:ext cx="27720" cy="19440"/>
          </a:xfrm>
          <a:custGeom>
            <a:avLst/>
            <a:gdLst/>
            <a:ahLst/>
            <a:rect l="0" t="0" r="r" b="b"/>
            <a:pathLst>
              <a:path w="77" h="54">
                <a:moveTo>
                  <a:pt x="53" y="0"/>
                </a:moveTo>
                <a:lnTo>
                  <a:pt x="0" y="54"/>
                </a:lnTo>
                <a:lnTo>
                  <a:pt x="23" y="54"/>
                </a:lnTo>
                <a:lnTo>
                  <a:pt x="77" y="0"/>
                </a:lnTo>
                <a:lnTo>
                  <a:pt x="53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09044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099080" y="1685880"/>
            <a:ext cx="28080" cy="19440"/>
          </a:xfrm>
          <a:custGeom>
            <a:avLst/>
            <a:gdLst/>
            <a:ahLst/>
            <a:rect l="0" t="0" r="r" b="b"/>
            <a:pathLst>
              <a:path w="78" h="54">
                <a:moveTo>
                  <a:pt x="54" y="0"/>
                </a:moveTo>
                <a:lnTo>
                  <a:pt x="0" y="54"/>
                </a:lnTo>
                <a:lnTo>
                  <a:pt x="24" y="54"/>
                </a:lnTo>
                <a:lnTo>
                  <a:pt x="78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4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107720" y="1685880"/>
            <a:ext cx="36360" cy="19440"/>
          </a:xfrm>
          <a:custGeom>
            <a:avLst/>
            <a:gdLst/>
            <a:ahLst/>
            <a:rect l="0" t="0" r="r" b="b"/>
            <a:pathLst>
              <a:path w="101" h="54">
                <a:moveTo>
                  <a:pt x="53" y="0"/>
                </a:moveTo>
                <a:lnTo>
                  <a:pt x="0" y="54"/>
                </a:lnTo>
                <a:lnTo>
                  <a:pt x="47" y="54"/>
                </a:lnTo>
                <a:lnTo>
                  <a:pt x="101" y="0"/>
                </a:lnTo>
                <a:lnTo>
                  <a:pt x="53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124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a35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128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9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133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8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137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735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141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146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6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150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5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1548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9435d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1592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93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163160" y="1685880"/>
            <a:ext cx="24120" cy="19440"/>
          </a:xfrm>
          <a:custGeom>
            <a:avLst/>
            <a:gdLst/>
            <a:ahLst/>
            <a:rect l="0" t="0" r="r" b="b"/>
            <a:pathLst>
              <a:path w="67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7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167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23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171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136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176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90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180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f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1184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e36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189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8e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1934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d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1977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8c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2016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b36d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206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210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8a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214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9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218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836d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223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7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227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2319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8636d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12362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85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1240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4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244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3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248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253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2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257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81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261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80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266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6d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2704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f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274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e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278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d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283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c37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287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2916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b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296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a37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300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9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3046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78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3089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312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73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317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6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321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5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3258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74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1330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334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3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338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72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3431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7137d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3474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70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351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1355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f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360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e37c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364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d37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1368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c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1373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377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b38c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3816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6a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385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9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389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8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394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6738c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398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7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402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6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407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538c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411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4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4158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4202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2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2" y="0"/>
                </a:lnTo>
                <a:close/>
              </a:path>
            </a:pathLst>
          </a:custGeom>
          <a:solidFill>
            <a:srgbClr val="63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424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238c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428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1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432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60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437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1441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5f38c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1445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e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450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d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14544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5c38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14587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5c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462680" y="1685880"/>
            <a:ext cx="24120" cy="19440"/>
          </a:xfrm>
          <a:custGeom>
            <a:avLst/>
            <a:gdLst/>
            <a:ahLst/>
            <a:rect l="0" t="0" r="r" b="b"/>
            <a:pathLst>
              <a:path w="67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7" y="0"/>
                </a:lnTo>
                <a:lnTo>
                  <a:pt x="54" y="0"/>
                </a:lnTo>
                <a:close/>
              </a:path>
            </a:pathLst>
          </a:custGeom>
          <a:solidFill>
            <a:srgbClr val="5b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1467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a38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471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939c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4756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479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8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1484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7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488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5639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49292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55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4972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501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439c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505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3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509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52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514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1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518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522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50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527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f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5314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4e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535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4d39c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539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544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c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548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b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5526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a39c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5570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49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5613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56564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4839c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5699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47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1573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6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578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45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582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5868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4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15912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3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5955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2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15998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413ac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160416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16084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40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6124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f3ab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6167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e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16210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d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16254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6297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c3ab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6340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b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6383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a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164268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6470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5" y="0"/>
                </a:lnTo>
                <a:lnTo>
                  <a:pt x="53" y="0"/>
                </a:lnTo>
                <a:close/>
              </a:path>
            </a:pathLst>
          </a:custGeom>
          <a:solidFill>
            <a:srgbClr val="393ab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6509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8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6552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7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6596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6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6639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166824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53a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16725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4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6768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33bb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681200" y="1685880"/>
            <a:ext cx="23400" cy="19440"/>
          </a:xfrm>
          <a:custGeom>
            <a:avLst/>
            <a:gdLst/>
            <a:ahLst/>
            <a:rect l="0" t="0" r="r" b="b"/>
            <a:pathLst>
              <a:path w="65" h="54">
                <a:moveTo>
                  <a:pt x="54" y="0"/>
                </a:moveTo>
                <a:lnTo>
                  <a:pt x="0" y="54"/>
                </a:lnTo>
                <a:lnTo>
                  <a:pt x="11" y="54"/>
                </a:lnTo>
                <a:lnTo>
                  <a:pt x="65" y="0"/>
                </a:lnTo>
                <a:lnTo>
                  <a:pt x="54" y="0"/>
                </a:lnTo>
                <a:close/>
              </a:path>
            </a:pathLst>
          </a:custGeom>
          <a:solidFill>
            <a:srgbClr val="32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68516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68948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3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31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69380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3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3" y="0"/>
                </a:lnTo>
                <a:close/>
              </a:path>
            </a:pathLst>
          </a:custGeom>
          <a:solidFill>
            <a:srgbClr val="303bb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698120" y="1685880"/>
            <a:ext cx="23760" cy="19440"/>
          </a:xfrm>
          <a:custGeom>
            <a:avLst/>
            <a:gdLst/>
            <a:ahLst/>
            <a:rect l="0" t="0" r="r" b="b"/>
            <a:pathLst>
              <a:path w="66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6" y="0"/>
                </a:lnTo>
                <a:lnTo>
                  <a:pt x="54" y="0"/>
                </a:lnTo>
                <a:close/>
              </a:path>
            </a:pathLst>
          </a:custGeom>
          <a:solidFill>
            <a:srgbClr val="2f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702440" y="1685880"/>
            <a:ext cx="21600" cy="19440"/>
          </a:xfrm>
          <a:custGeom>
            <a:avLst/>
            <a:gdLst/>
            <a:ahLst/>
            <a:rect l="0" t="0" r="r" b="b"/>
            <a:pathLst>
              <a:path w="60" h="54">
                <a:moveTo>
                  <a:pt x="54" y="0"/>
                </a:moveTo>
                <a:lnTo>
                  <a:pt x="0" y="54"/>
                </a:lnTo>
                <a:lnTo>
                  <a:pt x="12" y="54"/>
                </a:lnTo>
                <a:lnTo>
                  <a:pt x="60" y="5"/>
                </a:lnTo>
                <a:lnTo>
                  <a:pt x="54" y="0"/>
                </a:lnTo>
                <a:close/>
              </a:path>
            </a:pathLst>
          </a:custGeom>
          <a:solidFill>
            <a:srgbClr val="2e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706760" y="1687680"/>
            <a:ext cx="17280" cy="17640"/>
          </a:xfrm>
          <a:custGeom>
            <a:avLst/>
            <a:gdLst/>
            <a:ahLst/>
            <a:rect l="0" t="0" r="r" b="b"/>
            <a:pathLst>
              <a:path w="48" h="49">
                <a:moveTo>
                  <a:pt x="48" y="0"/>
                </a:moveTo>
                <a:lnTo>
                  <a:pt x="0" y="49"/>
                </a:lnTo>
                <a:lnTo>
                  <a:pt x="12" y="49"/>
                </a:lnTo>
                <a:lnTo>
                  <a:pt x="48" y="12"/>
                </a:lnTo>
                <a:lnTo>
                  <a:pt x="48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711080" y="1692000"/>
            <a:ext cx="12960" cy="13320"/>
          </a:xfrm>
          <a:custGeom>
            <a:avLst/>
            <a:gdLst/>
            <a:ahLst/>
            <a:rect l="0" t="0" r="r" b="b"/>
            <a:pathLst>
              <a:path w="36" h="37">
                <a:moveTo>
                  <a:pt x="36" y="0"/>
                </a:moveTo>
                <a:lnTo>
                  <a:pt x="0" y="37"/>
                </a:lnTo>
                <a:lnTo>
                  <a:pt x="12" y="37"/>
                </a:lnTo>
                <a:lnTo>
                  <a:pt x="36" y="13"/>
                </a:lnTo>
                <a:lnTo>
                  <a:pt x="36" y="0"/>
                </a:lnTo>
                <a:close/>
              </a:path>
            </a:pathLst>
          </a:custGeom>
          <a:solidFill>
            <a:srgbClr val="2d3bb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715400" y="1696320"/>
            <a:ext cx="8640" cy="9000"/>
          </a:xfrm>
          <a:custGeom>
            <a:avLst/>
            <a:gdLst/>
            <a:ahLst/>
            <a:rect l="0" t="0" r="r" b="b"/>
            <a:pathLst>
              <a:path w="24" h="25">
                <a:moveTo>
                  <a:pt x="24" y="0"/>
                </a:moveTo>
                <a:lnTo>
                  <a:pt x="0" y="25"/>
                </a:lnTo>
                <a:lnTo>
                  <a:pt x="13" y="25"/>
                </a:lnTo>
                <a:lnTo>
                  <a:pt x="24" y="12"/>
                </a:lnTo>
                <a:lnTo>
                  <a:pt x="24" y="0"/>
                </a:lnTo>
                <a:close/>
              </a:path>
            </a:pathLst>
          </a:custGeom>
          <a:solidFill>
            <a:srgbClr val="2c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719720" y="1700640"/>
            <a:ext cx="4320" cy="5040"/>
          </a:xfrm>
          <a:custGeom>
            <a:avLst/>
            <a:gdLst/>
            <a:ahLst/>
            <a:rect l="0" t="0" r="r" b="b"/>
            <a:pathLst>
              <a:path w="12" h="14">
                <a:moveTo>
                  <a:pt x="12" y="0"/>
                </a:moveTo>
                <a:lnTo>
                  <a:pt x="0" y="14"/>
                </a:lnTo>
                <a:lnTo>
                  <a:pt x="12" y="14"/>
                </a:lnTo>
                <a:lnTo>
                  <a:pt x="12" y="0"/>
                </a:lnTo>
                <a:close/>
              </a:path>
            </a:pathLst>
          </a:custGeom>
          <a:solidFill>
            <a:srgbClr val="2b3bb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5746680" y="1422000"/>
            <a:ext cx="1188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750" spc="-1" strike="noStrike">
                <a:solidFill>
                  <a:srgbClr val="6b6878"/>
                </a:solidFill>
                <a:latin typeface="Inter"/>
                <a:ea typeface="Inter"/>
              </a:rPr>
              <a:t>GFXT  OBD AI Solutions</a:t>
            </a:r>
            <a:endParaRPr b="0" lang="en-US" sz="7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