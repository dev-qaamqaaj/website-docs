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urce-mark-circuit.jpg"/>
          <p:cNvPicPr>
            <a:picLocks noChangeAspect="1"/>
          </p:cNvPicPr>
          <p:nvPr/>
        </p:nvPicPr>
        <p:blipFill>
          <a:blip r:embed="rId2"/>
          <a:srcRect l="8036" r="8036"/>
          <a:stretch>
            <a:fillRect/>
          </a:stretch>
        </p:blipFill>
        <p:spPr>
          <a:xfrm>
            <a:off x="0" y="0"/>
            <a:ext cx="429768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120640"/>
            <a:ext cx="4297680" cy="173736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FFFFFF"/>
                </a:solidFill>
                <a:latin typeface="Playfair Display"/>
              </a:rPr>
              <a:t>Build.  </a:t>
            </a:r>
            <a:r>
              <a:rPr sz="2200" b="0" i="0">
                <a:solidFill>
                  <a:srgbClr val="FFFFFF"/>
                </a:solidFill>
                <a:latin typeface="Playfair Display"/>
              </a:rPr>
              <a:t>Launch.  </a:t>
            </a:r>
            <a:r>
              <a:rPr sz="2200" b="0" i="0">
                <a:solidFill>
                  <a:srgbClr val="C9B4FF"/>
                </a:solidFill>
                <a:latin typeface="Playfair Display"/>
              </a:rPr>
              <a:t>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B4FF"/>
                </a:solidFill>
                <a:latin typeface="Inter"/>
              </a:rPr>
              <a:t>AI Solutions · MVP Development · Web Engineering</a:t>
            </a:r>
          </a:p>
        </p:txBody>
      </p:sp>
      <p:pic>
        <p:nvPicPr>
          <p:cNvPr id="8" name="Picture 7" descr="ob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640080"/>
            <a:ext cx="451241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00735" y="63130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00735" y="89464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PROJECT KICKOFF  ·  GFX-T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10312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141414"/>
                </a:solidFill>
                <a:latin typeface="Playfair Display"/>
              </a:rPr>
              <a:t>GFX-T, your website</a:t>
            </a:r>
          </a:p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6A26D8"/>
                </a:solidFill>
                <a:latin typeface="Playfair Display"/>
              </a:rPr>
              <a:t>is almost ready to launch.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840480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3840480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411480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B6878"/>
                </a:solidFill>
                <a:latin typeface="Inter"/>
              </a:rPr>
              <a:t>All 7 pages are built and getting their final touches. Next, we take it live on your own domain with a professional mailbox, at no deployment cost.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5532120"/>
            <a:ext cx="65836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GFX-T, Lahore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PRESENTED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Omer Bin Dawood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25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02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01 · OBD AI 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An engineering studio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built on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B6878"/>
                </a:solidFill>
                <a:latin typeface="Inter"/>
              </a:rPr>
              <a:t>We design and ship AI products, MVPs and production web platforms for founders and growing businesses, working with clients in the United States, Australia and Pakistan.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10+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US &amp; Australian
clients 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25+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Businesses served
in Pakistan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Countries
US · AU · PK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68880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62432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06040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AI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971800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Intelligent automation, LLM assistants and data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639312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37947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776472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MVP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4142232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Idea to investor-ready product, on foundations that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09744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4965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946904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Web Engineering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312664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Fast, secure websites with infrastructure, email and support.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98932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← Your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03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02 · TRACK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The teams we've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built with.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Aginit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2424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LEASAP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2424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CA, 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Marketing Transformers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AUSTRALIA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51392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DevNeuron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CA, USA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6B6878"/>
                </a:solidFill>
                <a:latin typeface="Inter"/>
              </a:rPr>
              <a:t>…plus 25+ local businesses across Pakistan.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46320"/>
            <a:ext cx="10728655" cy="1097280"/>
          </a:xfrm>
          <a:prstGeom prst="roundRect">
            <a:avLst>
              <a:gd name="adj" fmla="val 8000"/>
            </a:avLst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Founder-led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Omer oversees every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Documented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Scope, fees &amp; support in writing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No markups on third-party costs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Yours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Everything registered to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04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03 · WHO YOU'LL WORK WITH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Your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project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5257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2971800"/>
            <a:ext cx="914400" cy="914400"/>
          </a:xfrm>
          <a:prstGeom prst="ellipse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0175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PROJECT 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2735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Omer Bin Dawood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73075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CEO &amp; Founder, OBD AI Solutions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AI Engineer, DevNeuron (CA, USA)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48056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A2A2D"/>
                </a:solidFill>
                <a:latin typeface="Inter"/>
              </a:rPr>
              <a:t>Owns technical decisions, setup, configuration and launch. Your escalation point for anything critical.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06040"/>
            <a:ext cx="5257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2971800"/>
            <a:ext cx="914400" cy="9144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>
                <a:solidFill>
                  <a:srgbClr val="FFFFFF"/>
                </a:solidFill>
                <a:latin typeface="Playfair Display"/>
              </a:rPr>
              <a:t>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0175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ACCOUNT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735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Hira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73075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Client relations, OBD AI Solutions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48056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6177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A2A2D"/>
                </a:solidFill>
                <a:latin typeface="Inter"/>
              </a:rPr>
              <a:t>Your day-to-day contact for scheduling, documents, billing and updates.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WEBSITE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05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04 · GFX-T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Built from your content.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Almost 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7973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6573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6573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About 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4427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027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0881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481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9481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Portfolio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Clients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973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6573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6573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Our Management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4427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3027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3027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Contact 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0881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120E2E"/>
          </a:solidFill>
          <a:ln w="9525">
            <a:solidFill>
              <a:srgbClr val="120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09481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C9B4FF"/>
                </a:solidFill>
                <a:latin typeface="Inter"/>
              </a:rPr>
              <a:t>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Almost ready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RECEIVED FROM YOU, THANK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754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CEO &amp; COO photos for the Management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84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Client logos for the Clients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13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413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Portfolio images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0880" y="4434840"/>
            <a:ext cx="4416552" cy="132588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0" y="4617720"/>
            <a:ext cx="3931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41414"/>
                </a:solidFill>
                <a:latin typeface="Inter"/>
              </a:rPr>
              <a:t>All content is in. 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B6878"/>
                </a:solidFill>
                <a:latin typeface="Inter"/>
              </a:rPr>
              <a:t>We're adding the final touches now, and the site will be ready for your review shortly.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LAUNCH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06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05 ·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A clear path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to go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063240"/>
            <a:ext cx="10454335" cy="1905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Agreement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Sign the Service Agreement and settle the development fee.</a:t>
            </a:r>
          </a:p>
        </p:txBody>
      </p:sp>
      <p:sp>
        <p:nvSpPr>
          <p:cNvPr id="18" name="Oval 17"/>
          <p:cNvSpPr/>
          <p:nvPr/>
        </p:nvSpPr>
        <p:spPr>
          <a:xfrm>
            <a:off x="2922971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7251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1–2 WORKING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7251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Domain &amp; hosting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7251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Guided purchase, registered in your name.</a:t>
            </a:r>
          </a:p>
        </p:txBody>
      </p:sp>
      <p:sp>
        <p:nvSpPr>
          <p:cNvPr id="22" name="Oval 21"/>
          <p:cNvSpPr/>
          <p:nvPr/>
        </p:nvSpPr>
        <p:spPr>
          <a:xfrm>
            <a:off x="5068702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2982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2–3 WORKING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2982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2982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Go-live with SSL, plus your mailbox on phone and laptop.</a:t>
            </a:r>
          </a:p>
        </p:txBody>
      </p:sp>
      <p:sp>
        <p:nvSpPr>
          <p:cNvPr id="26" name="Oval 25"/>
          <p:cNvSpPr/>
          <p:nvPr/>
        </p:nvSpPr>
        <p:spPr>
          <a:xfrm>
            <a:off x="7214433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713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LAUNCH 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713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Handover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713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Final review together and handover of all access.</a:t>
            </a:r>
          </a:p>
        </p:txBody>
      </p:sp>
      <p:sp>
        <p:nvSpPr>
          <p:cNvPr id="30" name="Oval 29"/>
          <p:cNvSpPr/>
          <p:nvPr/>
        </p:nvSpPr>
        <p:spPr>
          <a:xfrm>
            <a:off x="9360164" y="293522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4444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14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4444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Launch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4444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Any reported issues fixed at no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074920"/>
            <a:ext cx="10728655" cy="7772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2852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Inter"/>
              </a:rPr>
              <a:t>Launch quality checklist:  </a:t>
            </a:r>
            <a:r>
              <a:rPr sz="1200" b="0" i="0">
                <a:solidFill>
                  <a:srgbClr val="2A2A2D"/>
                </a:solidFill>
                <a:latin typeface="Inter"/>
              </a:rPr>
              <a:t>HTTPS everywhere  ·  mobile &amp; browser tested  ·  speed reviewed  ·  SPF/DKIM/DMARC email  ·  forms verified  ·  backup handed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d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C9B4FF"/>
                </a:solidFill>
                <a:latin typeface="Inter"/>
              </a:rPr>
              <a:t>A I   S O L U T I O 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C9B4FF"/>
                </a:solidFill>
                <a:latin typeface="Inter"/>
              </a:rPr>
              <a:t>06 · OUR OWNERSHIP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</a:rPr>
              <a:t>Everything that runs your business online </a:t>
            </a:r>
            <a:r>
              <a:rPr sz="3000" b="0" i="1">
                <a:solidFill>
                  <a:srgbClr val="C9B4FF"/>
                </a:solidFill>
                <a:latin typeface="Playfair Display"/>
              </a:rPr>
              <a:t>belongs to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32004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2423160"/>
            <a:ext cx="22860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Registered in your name with your contact details.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3683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Hosting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Account and billing in your name, paid to the provider.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447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Mailboxes on your domain, with passwords that are yours.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11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611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611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Delegated for setup only. Revoke it at any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526280"/>
            <a:ext cx="10728655" cy="7620"/>
          </a:xfrm>
          <a:prstGeom prst="rect">
            <a:avLst/>
          </a:prstGeom>
          <a:solidFill>
            <a:srgbClr val="3A3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C9B4FF"/>
                </a:solidFill>
                <a:latin typeface="Inter"/>
              </a:rPr>
              <a:t>APPROX. THIRD-PARTY COSTS  ·  PAID DIRECTLY BY 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9B4FF"/>
                </a:solidFill>
                <a:latin typeface="Inter"/>
              </a:rPr>
              <a:t>approx. </a:t>
            </a:r>
            <a:r>
              <a:rPr sz="2600" b="0" i="0">
                <a:solidFill>
                  <a:srgbClr val="FFFFFF"/>
                </a:solidFill>
                <a:latin typeface="Playfair Display"/>
              </a:rPr>
              <a:t>~ PKR 3,000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77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C8C3DA"/>
                </a:solidFill>
                <a:latin typeface="Inter"/>
              </a:rPr>
              <a:t>Domain (1 year)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292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9B4FF"/>
                </a:solidFill>
                <a:latin typeface="Inter"/>
              </a:rPr>
              <a:t>approx. </a:t>
            </a:r>
            <a:r>
              <a:rPr sz="2600" b="0" i="0">
                <a:solidFill>
                  <a:srgbClr val="FFFFFF"/>
                </a:solidFill>
                <a:latin typeface="Playfair Display"/>
              </a:rPr>
              <a:t>~ PKR 7,000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577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C8C3DA"/>
                </a:solidFill>
                <a:latin typeface="Inter"/>
              </a:rPr>
              <a:t>Hosting (1 year)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292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0% commission.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8C3DA"/>
                </a:solidFill>
                <a:latin typeface="Inter"/>
              </a:rPr>
              <a:t>Mailbox subscriptions are paid to the email provider as per their pricing.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8A84A6"/>
                </a:solidFill>
                <a:latin typeface="Inter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08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07 · INVESTMENT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Simple,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transparent pricing.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878"/>
                </a:solidFill>
                <a:latin typeface="Inter"/>
              </a:rPr>
              <a:t>As a referral from </a:t>
            </a:r>
            <a:r>
              <a:rPr sz="1300" b="1" i="0">
                <a:solidFill>
                  <a:srgbClr val="6A26D8"/>
                </a:solidFill>
                <a:latin typeface="Inter"/>
              </a:rPr>
              <a:t>Isha (Wajeeha Baig)</a:t>
            </a:r>
            <a:r>
              <a:rPr sz="1300" b="0" i="0">
                <a:solidFill>
                  <a:srgbClr val="6B6878"/>
                </a:solidFill>
                <a:latin typeface="Inter"/>
              </a:rPr>
              <a:t>, you receive preferential pricing. Because the deployment charges were not communicated clearly at the start, we have waived the deployment fee in full.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461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461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538728"/>
            <a:ext cx="6400800" cy="152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Website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325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7-page website, built from your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490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721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15,000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343400"/>
            <a:ext cx="640080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165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457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A26D8"/>
                </a:solidFill>
                <a:latin typeface="Inter"/>
              </a:rPr>
              <a:t>Waived  ·  includes 1 professional mailbox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4622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4348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056632"/>
            <a:ext cx="640080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1414"/>
                </a:solidFill>
                <a:latin typeface="Inter"/>
              </a:rPr>
              <a:t>Total, payable on signing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120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200" b="0" i="0">
                <a:solidFill>
                  <a:srgbClr val="6A26D8"/>
                </a:solidFill>
                <a:latin typeface="Playfair Display"/>
              </a:rPr>
              <a:t>PKR 15,000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3246120"/>
            <a:ext cx="3867912" cy="265176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3474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OPTIONAL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730752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Additional professional emails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1605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6A26D8"/>
                </a:solidFill>
                <a:latin typeface="Playfair Display"/>
              </a:rPr>
              <a:t>PKR 1,500</a:t>
            </a:r>
            <a:r>
              <a:rPr sz="1100" b="0" i="0">
                <a:solidFill>
                  <a:srgbClr val="6B6878"/>
                </a:solidFill>
                <a:latin typeface="Inter"/>
              </a:rPr>
              <a:t>  per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7548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One-time setup fee paid to OBD. The mailbox subscription is paid by you directly to the email provider.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09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08 · AFTER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Support you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can rely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3931920" cy="3429000"/>
          </a:xfrm>
          <a:prstGeom prst="roundRect">
            <a:avLst>
              <a:gd name="adj" fmla="val 5000"/>
            </a:avLst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88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C9B4FF"/>
                </a:solidFill>
                <a:latin typeface="Inter"/>
              </a:rPr>
              <a:t>LAUNCH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FFFFF"/>
                </a:solidFill>
                <a:latin typeface="Playfair Display"/>
              </a:rPr>
              <a:t>14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14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Any issue you report after go-live is fixed at no cost.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C9B4FF"/>
                </a:solidFill>
                <a:latin typeface="Inter"/>
              </a:rPr>
              <a:t>Further changes and ongoing maintenance are available on request, quoted in advance.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FIRST RESPONSE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2807208"/>
            <a:ext cx="6473952" cy="152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6A26D8"/>
                </a:solidFill>
                <a:latin typeface="Inter"/>
              </a:rPr>
              <a:t>Critical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Website or email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97180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Same working 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80" y="338328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35204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14"/>
                </a:solidFill>
                <a:latin typeface="Inter"/>
              </a:rPr>
              <a:t>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20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Key page or form broken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52044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Within 1 working 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93192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4069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14"/>
                </a:solidFill>
                <a:latin typeface="Inter"/>
              </a:rPr>
              <a:t>Normal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Question or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6908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Within 1 working day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80" y="448056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54880"/>
            <a:ext cx="6473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141414"/>
                </a:solidFill>
                <a:latin typeface="Inter"/>
              </a:rPr>
              <a:t>Contact:  </a:t>
            </a:r>
            <a:r>
              <a:rPr sz="1200" b="0" i="0">
                <a:solidFill>
                  <a:srgbClr val="6B6878"/>
                </a:solidFill>
                <a:latin typeface="Inter"/>
              </a:rPr>
              <a:t>WhatsApp project group  ·  Hira (Account Manager)  ·  Omer Bin Dawood (escalations)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141414"/>
                </a:solidFill>
                <a:latin typeface="Inter"/>
              </a:rPr>
              <a:t>Hours:  </a:t>
            </a:r>
            <a:r>
              <a:rPr sz="1200" b="0" i="0">
                <a:solidFill>
                  <a:srgbClr val="6B6878"/>
                </a:solidFill>
                <a:latin typeface="Inter"/>
              </a:rPr>
              <a:t>Monday to Saturday, 10:00–19:00 PKT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10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09 ·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Three steps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to launch.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3484778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7472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41414"/>
                </a:solidFill>
                <a:latin typeface="Playfair Display"/>
              </a:rPr>
              <a:t>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886200"/>
            <a:ext cx="29361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Review and sign the Service Agreement.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3458" y="2514600"/>
            <a:ext cx="3484778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98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3498" y="347472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41414"/>
                </a:solidFill>
                <a:latin typeface="Playfair Display"/>
              </a:rPr>
              <a:t>Pay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3498" y="3886200"/>
            <a:ext cx="29361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Settle the development fee of PKR 15,000.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396" y="2514600"/>
            <a:ext cx="3484778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5436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5436" y="347472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41414"/>
                </a:solidFill>
                <a:latin typeface="Playfair Display"/>
              </a:rPr>
              <a:t>Launch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5436" y="3886200"/>
            <a:ext cx="29361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Short call to purchase the domain &amp; hosting. We then take the website live.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YOUR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01 </a:t>
            </a:r>
            <a:r>
              <a:rPr sz="1100" b="0" i="0">
                <a:solidFill>
                  <a:srgbClr val="141414"/>
                </a:solidFill>
                <a:latin typeface="Inter"/>
              </a:rPr>
              <a:t>Welcome Pack      </a:t>
            </a:r>
            <a:r>
              <a:rPr sz="1100" b="1" i="0">
                <a:solidFill>
                  <a:srgbClr val="6A26D8"/>
                </a:solidFill>
                <a:latin typeface="Inter"/>
              </a:rPr>
              <a:t>02 </a:t>
            </a:r>
            <a:r>
              <a:rPr sz="1100" b="0" i="0">
                <a:solidFill>
                  <a:srgbClr val="141414"/>
                </a:solidFill>
                <a:latin typeface="Inter"/>
              </a:rPr>
              <a:t>Service Agreement      </a:t>
            </a:r>
            <a:r>
              <a:rPr sz="1100" b="1" i="0">
                <a:solidFill>
                  <a:srgbClr val="6A26D8"/>
                </a:solidFill>
                <a:latin typeface="Inter"/>
              </a:rPr>
              <a:t>03 </a:t>
            </a:r>
            <a:r>
              <a:rPr sz="1100" b="0" i="0">
                <a:solidFill>
                  <a:srgbClr val="141414"/>
                </a:solidFill>
                <a:latin typeface="Inter"/>
              </a:rPr>
              <a:t>Go-Live &amp; Handover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rcuit-strip.jpg"/>
          <p:cNvPicPr>
            <a:picLocks noChangeAspect="1"/>
          </p:cNvPicPr>
          <p:nvPr/>
        </p:nvPicPr>
        <p:blipFill>
          <a:blip r:embed="rId2"/>
          <a:srcRect t="24923" b="24923"/>
          <a:stretch>
            <a:fillRect/>
          </a:stretch>
        </p:blipFill>
        <p:spPr>
          <a:xfrm>
            <a:off x="8899855" y="0"/>
            <a:ext cx="3291840" cy="6858000"/>
          </a:xfrm>
          <a:prstGeom prst="rect">
            <a:avLst/>
          </a:prstGeom>
        </p:spPr>
      </p:pic>
      <p:pic>
        <p:nvPicPr>
          <p:cNvPr id="4" name="Picture 3" descr="obd-mar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488844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49288" y="63057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9288" y="915863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C9B4FF"/>
                </a:solidFill>
                <a:latin typeface="Inter"/>
              </a:rPr>
              <a:t>A I   S O L U T I O N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8046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0" i="0">
                <a:solidFill>
                  <a:srgbClr val="FFFFFF"/>
                </a:solidFill>
                <a:latin typeface="Playfair Display"/>
              </a:rPr>
              <a:t>Thank you, </a:t>
            </a:r>
            <a:r>
              <a:rPr sz="5000" b="0" i="1">
                <a:solidFill>
                  <a:srgbClr val="C9B4FF"/>
                </a:solidFill>
                <a:latin typeface="Playfair Display"/>
              </a:rPr>
              <a:t>GFX-T.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37560"/>
            <a:ext cx="32004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3337560"/>
            <a:ext cx="22860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DDD3F7"/>
                </a:solidFill>
                <a:latin typeface="Inter"/>
              </a:rPr>
              <a:t>We Create. We Strategize. We Elevate. Let's give that promise a home online.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532120"/>
            <a:ext cx="7589520" cy="7620"/>
          </a:xfrm>
          <a:prstGeom prst="rect">
            <a:avLst/>
          </a:prstGeom>
          <a:solidFill>
            <a:srgbClr val="3A3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FFFFF"/>
                </a:solidFill>
                <a:latin typeface="Playfair Display"/>
              </a:rPr>
              <a:t>Omer Bin Dawood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264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CEO &amp; Founder, OBD AI Solutions  ·  AI Engineer, DevNeuron (CA, USA)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