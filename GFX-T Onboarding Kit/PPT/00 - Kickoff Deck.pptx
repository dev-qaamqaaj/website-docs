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ource-mark-circuit.jpg"/>
          <p:cNvPicPr>
            <a:picLocks noChangeAspect="1"/>
          </p:cNvPicPr>
          <p:nvPr/>
        </p:nvPicPr>
        <p:blipFill>
          <a:blip r:embed="rId2"/>
          <a:srcRect l="8036" r="8036"/>
          <a:stretch>
            <a:fillRect/>
          </a:stretch>
        </p:blipFill>
        <p:spPr>
          <a:xfrm>
            <a:off x="0" y="0"/>
            <a:ext cx="4297680" cy="51206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120640"/>
            <a:ext cx="4297680" cy="1737360"/>
          </a:xfrm>
          <a:prstGeom prst="rect">
            <a:avLst/>
          </a:prstGeom>
          <a:solidFill>
            <a:srgbClr val="12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FFFFFF"/>
                </a:solidFill>
                <a:latin typeface="Playfair Display"/>
              </a:rPr>
              <a:t>Build.  </a:t>
            </a:r>
            <a:r>
              <a:rPr sz="2200" b="0" i="0">
                <a:solidFill>
                  <a:srgbClr val="FFFFFF"/>
                </a:solidFill>
                <a:latin typeface="Playfair Display"/>
              </a:rPr>
              <a:t>Launch.  </a:t>
            </a:r>
            <a:r>
              <a:rPr sz="2200" b="0" i="0">
                <a:solidFill>
                  <a:srgbClr val="C9B4FF"/>
                </a:solidFill>
                <a:latin typeface="Playfair Display"/>
              </a:rPr>
              <a:t>Support.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C9B4FF"/>
                </a:solidFill>
                <a:latin typeface="Inter"/>
              </a:rPr>
              <a:t>AI Solutions · MVP Development · Web Engineering</a:t>
            </a:r>
          </a:p>
        </p:txBody>
      </p:sp>
      <p:pic>
        <p:nvPicPr>
          <p:cNvPr id="8" name="Picture 7" descr="obd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640080"/>
            <a:ext cx="451241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00735" y="63130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00735" y="894648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7373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PROJECT KICKOFF  ·  GFX-T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103120"/>
            <a:ext cx="69494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0" i="0">
                <a:solidFill>
                  <a:srgbClr val="141414"/>
                </a:solidFill>
                <a:latin typeface="Playfair Display"/>
              </a:rPr>
              <a:t>GFX-T, your website</a:t>
            </a:r>
          </a:p>
          <a:p>
            <a:pPr algn="l">
              <a:lnSpc>
                <a:spcPct val="100000"/>
              </a:lnSpc>
            </a:pPr>
            <a:r>
              <a:rPr sz="4200" b="0" i="1">
                <a:solidFill>
                  <a:srgbClr val="6A26D8"/>
                </a:solidFill>
                <a:latin typeface="Playfair Display"/>
              </a:rPr>
              <a:t>is almost ready to launch.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840480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0680" y="3840480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4114800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6B6878"/>
                </a:solidFill>
                <a:latin typeface="Inter"/>
              </a:rPr>
              <a:t>All 7 pages are built and getting their final touches. Next, we take it live on your own domain with a professional mailbox, at no deployment cost.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0" y="5532120"/>
            <a:ext cx="6583680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56692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B6878"/>
                </a:solidFill>
                <a:latin typeface="Inter"/>
              </a:rPr>
              <a:t>PREPARED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58978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41414"/>
                </a:solidFill>
                <a:latin typeface="Inter"/>
              </a:rPr>
              <a:t>GFX-T, Lahore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56692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B6878"/>
                </a:solidFill>
                <a:latin typeface="Inter"/>
              </a:rPr>
              <a:t>PRESENTED BY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58978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41414"/>
                </a:solidFill>
                <a:latin typeface="Inter"/>
              </a:rPr>
              <a:t>Omer Bin Dawood &amp; Hira Baig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56692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B6878"/>
                </a:solidFill>
                <a:latin typeface="Inter"/>
              </a:rPr>
              <a:t>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58978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41414"/>
                </a:solidFill>
                <a:latin typeface="Inter"/>
              </a:rPr>
              <a:t>25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WHO WE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02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01 · OBD AI SOLUTIONS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An engineering studio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built on AI.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1460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B6878"/>
                </a:solidFill>
                <a:latin typeface="Inter"/>
              </a:rPr>
              <a:t>We design and ship AI products, MVPs and production web platforms for founders and growing businesses, working with clients in the United States, Australia and Pakistan.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77639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0" i="0">
                <a:solidFill>
                  <a:srgbClr val="6A26D8"/>
                </a:solidFill>
                <a:latin typeface="Playfair Display"/>
              </a:rPr>
              <a:t>10+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463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US &amp; Australian
clients 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977639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0" i="0">
                <a:solidFill>
                  <a:srgbClr val="6A26D8"/>
                </a:solidFill>
                <a:latin typeface="Playfair Display"/>
              </a:rPr>
              <a:t>25+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8463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Businesses served
in Pakistan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977639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0" i="0">
                <a:solidFill>
                  <a:srgbClr val="6A26D8"/>
                </a:solidFill>
                <a:latin typeface="Playfair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8463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Countries
US · AU · PK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2468880"/>
            <a:ext cx="4553712" cy="100584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8040" y="2624328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6A26D8"/>
                </a:solidFill>
                <a:latin typeface="Inter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606040"/>
            <a:ext cx="3639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41414"/>
                </a:solidFill>
                <a:latin typeface="Playfair Display"/>
              </a:rPr>
              <a:t>AI Solutions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2971800"/>
            <a:ext cx="3639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Intelligent automation, LLM assistants and data workflows.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03720" y="3639312"/>
            <a:ext cx="4553712" cy="100584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37947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6A26D8"/>
                </a:solidFill>
                <a:latin typeface="Inter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3776472"/>
            <a:ext cx="3639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41414"/>
                </a:solidFill>
                <a:latin typeface="Playfair Display"/>
              </a:rPr>
              <a:t>MVP Development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4142232"/>
            <a:ext cx="3639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Idea to investor-ready product, on foundations that scale.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09744"/>
            <a:ext cx="4553712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8040" y="496519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6A26D8"/>
                </a:solidFill>
                <a:latin typeface="Inter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4946904"/>
            <a:ext cx="3639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41414"/>
                </a:solidFill>
                <a:latin typeface="Playfair Display"/>
              </a:rPr>
              <a:t>Web Engineering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5312664"/>
            <a:ext cx="3639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Fast, secure websites with infrastructure, email and support.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5989320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6A26D8"/>
                </a:solidFill>
                <a:latin typeface="Inter"/>
              </a:rPr>
              <a:t>← Your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EXPERIENCE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03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02 · TRACK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The teams we've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built with.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606040"/>
            <a:ext cx="2542032" cy="14173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834640"/>
            <a:ext cx="2267712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Aginit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2424" y="2606040"/>
            <a:ext cx="2542032" cy="14173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9584" y="2834640"/>
            <a:ext cx="2267712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LEASAP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92424" y="3611880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 i="0">
                <a:solidFill>
                  <a:srgbClr val="6A26D8"/>
                </a:solidFill>
                <a:latin typeface="Inter"/>
              </a:rPr>
              <a:t>CA, USA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53328" y="2606040"/>
            <a:ext cx="2542032" cy="14173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0488" y="2834640"/>
            <a:ext cx="2267712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Marketing Transformers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3328" y="3611880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 i="0">
                <a:solidFill>
                  <a:srgbClr val="6A26D8"/>
                </a:solidFill>
                <a:latin typeface="Inter"/>
              </a:rPr>
              <a:t>AUSTRALIA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14232" y="2606040"/>
            <a:ext cx="2542032" cy="14173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51392" y="2834640"/>
            <a:ext cx="2267712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DevNeuron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14232" y="3611880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 i="0">
                <a:solidFill>
                  <a:srgbClr val="6A26D8"/>
                </a:solidFill>
                <a:latin typeface="Inter"/>
              </a:rPr>
              <a:t>CA, USA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976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6B6878"/>
                </a:solidFill>
                <a:latin typeface="Inter"/>
              </a:rPr>
              <a:t>…plus 25+ local businesses across Pakistan.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846320"/>
            <a:ext cx="10728655" cy="1097280"/>
          </a:xfrm>
          <a:prstGeom prst="roundRect">
            <a:avLst>
              <a:gd name="adj" fmla="val 8000"/>
            </a:avLst>
          </a:prstGeom>
          <a:solidFill>
            <a:srgbClr val="12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0292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Playfair Display"/>
              </a:rPr>
              <a:t>Founder-led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3949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9B4FF"/>
                </a:solidFill>
                <a:latin typeface="Inter"/>
              </a:rPr>
              <a:t>Omer oversees every launch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76472" y="50292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Playfair Display"/>
              </a:rPr>
              <a:t>Documented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76472" y="53949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9B4FF"/>
                </a:solidFill>
                <a:latin typeface="Inter"/>
              </a:rPr>
              <a:t>Scope, fees &amp; support in writing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50292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Playfair Display"/>
              </a:rPr>
              <a:t>Transparent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53949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9B4FF"/>
                </a:solidFill>
                <a:latin typeface="Inter"/>
              </a:rPr>
              <a:t>No markups on third-party costs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4856" y="50292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Playfair Display"/>
              </a:rPr>
              <a:t>Yours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4856" y="53949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9B4FF"/>
                </a:solidFill>
                <a:latin typeface="Inter"/>
              </a:rPr>
              <a:t>Everything registered to you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YOUR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04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03 · WHO YOU'LL WORK WITH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Your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project team.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606040"/>
            <a:ext cx="525780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2971800"/>
            <a:ext cx="914400" cy="914400"/>
          </a:xfrm>
          <a:prstGeom prst="ellipse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800">
                <a:solidFill>
                  <a:srgbClr val="FFFFFF"/>
                </a:solidFill>
                <a:latin typeface="Playfair Display"/>
              </a:rPr>
              <a:t>OBD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30175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PROJECT LEAD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327355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141414"/>
                </a:solidFill>
                <a:latin typeface="Playfair Display"/>
              </a:rPr>
              <a:t>Omer Bin Dawood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3730752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878"/>
                </a:solidFill>
                <a:latin typeface="Inter"/>
              </a:rPr>
              <a:t>CEO &amp; Founder, OBD AI Solutions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878"/>
                </a:solidFill>
                <a:latin typeface="Inter"/>
              </a:rPr>
              <a:t>AI Engineer, DevNeuron (CA, USA)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480560"/>
            <a:ext cx="4526280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617720"/>
            <a:ext cx="4526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A2A2D"/>
                </a:solidFill>
                <a:latin typeface="Inter"/>
              </a:rPr>
              <a:t>Owns technical decisions, setup, configuration and launch. Your escalation point for anything critical.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606040"/>
            <a:ext cx="525780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37960" y="2971800"/>
            <a:ext cx="914400" cy="914400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800">
                <a:solidFill>
                  <a:srgbClr val="FFFFFF"/>
                </a:solidFill>
                <a:latin typeface="Playfair Display"/>
              </a:rPr>
              <a:t>HB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0175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CO-FOUNDER &amp; PARTNER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327355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141414"/>
                </a:solidFill>
                <a:latin typeface="Playfair Display"/>
              </a:rPr>
              <a:t>Hira Baig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730752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878"/>
                </a:solidFill>
                <a:latin typeface="Inter"/>
              </a:rPr>
              <a:t>Co-Founder &amp; Partner, OBD AI Solutions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878"/>
                </a:solidFill>
                <a:latin typeface="Inter"/>
              </a:rPr>
              <a:t>Client relations &amp; operations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4480560"/>
            <a:ext cx="4526280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617720"/>
            <a:ext cx="4526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A2A2D"/>
                </a:solidFill>
                <a:latin typeface="Inter"/>
              </a:rPr>
              <a:t>Your day-to-day contact for scheduling, documents, billing and updates.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YOUR WEBSITE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05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04 · GFX-T WEBSITE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Built from your content.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Almost ready.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51460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62432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A26D8"/>
                </a:solidFill>
                <a:latin typeface="Inter"/>
              </a:rPr>
              <a:t>PAGE 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82549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41414"/>
                </a:solidFill>
                <a:latin typeface="Playfair Display"/>
              </a:rPr>
              <a:t>Home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47973" y="251460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76573" y="262432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A26D8"/>
                </a:solidFill>
                <a:latin typeface="Inter"/>
              </a:rPr>
              <a:t>PAGE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6573" y="282549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41414"/>
                </a:solidFill>
                <a:latin typeface="Playfair Display"/>
              </a:rPr>
              <a:t>About 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4427" y="251460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3027" y="262432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A26D8"/>
                </a:solidFill>
                <a:latin typeface="Inter"/>
              </a:rPr>
              <a:t>PAGE 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3027" y="282549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41414"/>
                </a:solidFill>
                <a:latin typeface="Playfair Display"/>
              </a:rPr>
              <a:t>Services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80881" y="251460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9481" y="262432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A26D8"/>
                </a:solidFill>
                <a:latin typeface="Inter"/>
              </a:rPr>
              <a:t>PAGE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9481" y="282549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41414"/>
                </a:solidFill>
                <a:latin typeface="Playfair Display"/>
              </a:rPr>
              <a:t>Portfolio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38328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49300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A26D8"/>
                </a:solidFill>
                <a:latin typeface="Inter"/>
              </a:rPr>
              <a:t>PAGE 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69417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41414"/>
                </a:solidFill>
                <a:latin typeface="Playfair Display"/>
              </a:rPr>
              <a:t>Clients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47973" y="338328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76573" y="349300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A26D8"/>
                </a:solidFill>
                <a:latin typeface="Inter"/>
              </a:rPr>
              <a:t>PAGE 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76573" y="369417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41414"/>
                </a:solidFill>
                <a:latin typeface="Playfair Display"/>
              </a:rPr>
              <a:t>Our Management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64427" y="338328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3027" y="349300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6A26D8"/>
                </a:solidFill>
                <a:latin typeface="Inter"/>
              </a:rPr>
              <a:t>PAGE 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3027" y="369417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41414"/>
                </a:solidFill>
                <a:latin typeface="Playfair Display"/>
              </a:rPr>
              <a:t>Contact Us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0881" y="3383280"/>
            <a:ext cx="2579293" cy="731520"/>
          </a:xfrm>
          <a:prstGeom prst="roundRect">
            <a:avLst>
              <a:gd name="adj" fmla="val 5000"/>
            </a:avLst>
          </a:prstGeom>
          <a:solidFill>
            <a:srgbClr val="120E2E"/>
          </a:solidFill>
          <a:ln w="9525">
            <a:solidFill>
              <a:srgbClr val="120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09481" y="3493008"/>
            <a:ext cx="25792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C9B4FF"/>
                </a:solidFill>
                <a:latin typeface="Inter"/>
              </a:rPr>
              <a:t>STATUS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09481" y="3694176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Playfair Display"/>
              </a:rPr>
              <a:t>Almost ready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4348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6A26D8"/>
                </a:solidFill>
                <a:latin typeface="Inter"/>
              </a:rPr>
              <a:t>RECEIVED FROM YOU, THANK YOU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7548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6A26D8"/>
                </a:solidFill>
                <a:latin typeface="Inter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54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A2A2D"/>
                </a:solidFill>
                <a:latin typeface="Inter"/>
              </a:rPr>
              <a:t>CEO &amp; COO photos for the Management page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0840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6A26D8"/>
                </a:solidFill>
                <a:latin typeface="Inter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50840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A2A2D"/>
                </a:solidFill>
                <a:latin typeface="Inter"/>
              </a:rPr>
              <a:t>Client logos for the Clients page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4132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6A26D8"/>
                </a:solidFill>
                <a:latin typeface="Inter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4132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A2A2D"/>
                </a:solidFill>
                <a:latin typeface="Inter"/>
              </a:rPr>
              <a:t>Portfolio images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040880" y="4434840"/>
            <a:ext cx="4416552" cy="132588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0" y="4617720"/>
            <a:ext cx="3931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41414"/>
                </a:solidFill>
                <a:latin typeface="Inter"/>
              </a:rPr>
              <a:t>All content is in. 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B6878"/>
                </a:solidFill>
                <a:latin typeface="Inter"/>
              </a:rPr>
              <a:t>We're adding the final touches now, and the site will be ready for your review shortly.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LAUNCH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06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05 · TIMELINE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A clear path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to go live.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3063240"/>
            <a:ext cx="10454335" cy="1905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2935224"/>
            <a:ext cx="274320" cy="274320"/>
          </a:xfrm>
          <a:prstGeom prst="ellipse">
            <a:avLst/>
          </a:prstGeom>
          <a:solidFill>
            <a:srgbClr val="6A26D8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514600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429000"/>
            <a:ext cx="19171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Agreement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87141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6878"/>
                </a:solidFill>
                <a:latin typeface="Inter"/>
              </a:rPr>
              <a:t>Sign the Service Agreement and settle the development fee.</a:t>
            </a:r>
          </a:p>
        </p:txBody>
      </p:sp>
      <p:sp>
        <p:nvSpPr>
          <p:cNvPr id="18" name="Oval 17"/>
          <p:cNvSpPr/>
          <p:nvPr/>
        </p:nvSpPr>
        <p:spPr>
          <a:xfrm>
            <a:off x="2922971" y="2935224"/>
            <a:ext cx="274320" cy="274320"/>
          </a:xfrm>
          <a:prstGeom prst="ellipse">
            <a:avLst/>
          </a:prstGeom>
          <a:solidFill>
            <a:srgbClr val="6A26D8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7251" y="2514600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1–2 WORKING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77251" y="3429000"/>
            <a:ext cx="19171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Domain &amp; hosting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77251" y="4114800"/>
            <a:ext cx="187141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6878"/>
                </a:solidFill>
                <a:latin typeface="Inter"/>
              </a:rPr>
              <a:t>Guided purchase, registered in your name.</a:t>
            </a:r>
          </a:p>
        </p:txBody>
      </p:sp>
      <p:sp>
        <p:nvSpPr>
          <p:cNvPr id="22" name="Oval 21"/>
          <p:cNvSpPr/>
          <p:nvPr/>
        </p:nvSpPr>
        <p:spPr>
          <a:xfrm>
            <a:off x="5068702" y="2935224"/>
            <a:ext cx="274320" cy="274320"/>
          </a:xfrm>
          <a:prstGeom prst="ellipse">
            <a:avLst/>
          </a:prstGeom>
          <a:solidFill>
            <a:srgbClr val="6A26D8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2982" y="2514600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2–3 WORKING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2982" y="3429000"/>
            <a:ext cx="19171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2982" y="4114800"/>
            <a:ext cx="187141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6878"/>
                </a:solidFill>
                <a:latin typeface="Inter"/>
              </a:rPr>
              <a:t>Go-live with SSL, plus your mailbox on phone and laptop.</a:t>
            </a:r>
          </a:p>
        </p:txBody>
      </p:sp>
      <p:sp>
        <p:nvSpPr>
          <p:cNvPr id="26" name="Oval 25"/>
          <p:cNvSpPr/>
          <p:nvPr/>
        </p:nvSpPr>
        <p:spPr>
          <a:xfrm>
            <a:off x="7214433" y="2935224"/>
            <a:ext cx="274320" cy="274320"/>
          </a:xfrm>
          <a:prstGeom prst="ellipse">
            <a:avLst/>
          </a:prstGeom>
          <a:solidFill>
            <a:srgbClr val="6A26D8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68713" y="2514600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LAUNCH DAY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68713" y="3429000"/>
            <a:ext cx="19171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Handover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68713" y="4114800"/>
            <a:ext cx="187141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6878"/>
                </a:solidFill>
                <a:latin typeface="Inter"/>
              </a:rPr>
              <a:t>Final review together and handover of all access.</a:t>
            </a:r>
          </a:p>
        </p:txBody>
      </p:sp>
      <p:sp>
        <p:nvSpPr>
          <p:cNvPr id="30" name="Oval 29"/>
          <p:cNvSpPr/>
          <p:nvPr/>
        </p:nvSpPr>
        <p:spPr>
          <a:xfrm>
            <a:off x="9360164" y="293522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14444" y="2514600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14 DAYS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4444" y="3429000"/>
            <a:ext cx="19171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41414"/>
                </a:solidFill>
                <a:latin typeface="Playfair Display"/>
              </a:rPr>
              <a:t>Launch support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4444" y="4114800"/>
            <a:ext cx="187141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6878"/>
                </a:solidFill>
                <a:latin typeface="Inter"/>
              </a:rPr>
              <a:t>Any reported issues fixed at no cost.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5074920"/>
            <a:ext cx="10728655" cy="77724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560" y="52852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Inter"/>
              </a:rPr>
              <a:t>Launch quality checklist:  </a:t>
            </a:r>
            <a:r>
              <a:rPr sz="1200" b="0" i="0">
                <a:solidFill>
                  <a:srgbClr val="2A2A2D"/>
                </a:solidFill>
                <a:latin typeface="Inter"/>
              </a:rPr>
              <a:t>HTTPS everywhere  ·  mobile &amp; browser tested  ·  speed reviewed  ·  SPF/DKIM/DMARC email  ·  forms verified  ·  backup handed 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bd-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FFFFFF"/>
                </a:solidFill>
                <a:latin typeface="Playfair Display"/>
              </a:rPr>
              <a:t>OBD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C9B4FF"/>
                </a:solidFill>
                <a:latin typeface="Inter"/>
              </a:rPr>
              <a:t>A I   S O L U T I O N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C9B4FF"/>
                </a:solidFill>
                <a:latin typeface="Inter"/>
              </a:rPr>
              <a:t>06 · OUR OWNERSHIP PROMISE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FFFFFF"/>
                </a:solidFill>
                <a:latin typeface="Playfair Display"/>
              </a:rPr>
              <a:t>Everything that runs your business online </a:t>
            </a:r>
            <a:r>
              <a:rPr sz="3000" b="0" i="1">
                <a:solidFill>
                  <a:srgbClr val="C9B4FF"/>
                </a:solidFill>
                <a:latin typeface="Playfair Display"/>
              </a:rPr>
              <a:t>belongs to you.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23160"/>
            <a:ext cx="320040" cy="30480"/>
          </a:xfrm>
          <a:prstGeom prst="rect">
            <a:avLst/>
          </a:prstGeom>
          <a:solidFill>
            <a:srgbClr val="C9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2423160"/>
            <a:ext cx="228600" cy="30480"/>
          </a:xfrm>
          <a:prstGeom prst="rect">
            <a:avLst/>
          </a:prstGeom>
          <a:solidFill>
            <a:srgbClr val="C9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834640"/>
            <a:ext cx="19050" cy="123444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34640"/>
            <a:ext cx="22249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 i="0">
                <a:solidFill>
                  <a:srgbClr val="FFFFFF"/>
                </a:solidFill>
                <a:latin typeface="Playfair Display"/>
              </a:rPr>
              <a:t>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291840"/>
            <a:ext cx="222496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8C3DA"/>
                </a:solidFill>
                <a:latin typeface="Inter"/>
              </a:rPr>
              <a:t>Registered in your name with your contact details.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3683" y="2834640"/>
            <a:ext cx="19050" cy="123444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834640"/>
            <a:ext cx="22249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 i="0">
                <a:solidFill>
                  <a:srgbClr val="FFFFFF"/>
                </a:solidFill>
                <a:latin typeface="Playfair Display"/>
              </a:rPr>
              <a:t>Hosting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2283" y="3291840"/>
            <a:ext cx="222496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8C3DA"/>
                </a:solidFill>
                <a:latin typeface="Inter"/>
              </a:rPr>
              <a:t>Account and billing in your name, paid to the provider.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5847" y="2834640"/>
            <a:ext cx="19050" cy="123444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4447" y="2834640"/>
            <a:ext cx="22249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 i="0">
                <a:solidFill>
                  <a:srgbClr val="FFFFFF"/>
                </a:solidFill>
                <a:latin typeface="Playfair Display"/>
              </a:rPr>
              <a:t>Email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447" y="3291840"/>
            <a:ext cx="222496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8C3DA"/>
                </a:solidFill>
                <a:latin typeface="Inter"/>
              </a:rPr>
              <a:t>Mailboxes on your domain, with passwords that are yours.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011" y="2834640"/>
            <a:ext cx="19050" cy="123444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611" y="2834640"/>
            <a:ext cx="22249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 i="0">
                <a:solidFill>
                  <a:srgbClr val="FFFFFF"/>
                </a:solidFill>
                <a:latin typeface="Playfair Display"/>
              </a:rPr>
              <a:t>Access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611" y="3291840"/>
            <a:ext cx="222496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8C3DA"/>
                </a:solidFill>
                <a:latin typeface="Inter"/>
              </a:rPr>
              <a:t>Delegated for setup only. Revoke it at any time.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526280"/>
            <a:ext cx="10728655" cy="7620"/>
          </a:xfrm>
          <a:prstGeom prst="rect">
            <a:avLst/>
          </a:prstGeom>
          <a:solidFill>
            <a:srgbClr val="3A3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7091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C9B4FF"/>
                </a:solidFill>
                <a:latin typeface="Inter"/>
              </a:rPr>
              <a:t>APPROX. THIRD-PARTY COSTS  ·  PAID DIRECTLY BY YOU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2920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C9B4FF"/>
                </a:solidFill>
                <a:latin typeface="Inter"/>
              </a:rPr>
              <a:t>approx. </a:t>
            </a:r>
            <a:r>
              <a:rPr sz="2600" b="0" i="0">
                <a:solidFill>
                  <a:srgbClr val="FFFFFF"/>
                </a:solidFill>
                <a:latin typeface="Playfair Display"/>
              </a:rPr>
              <a:t>~ PKR 3,000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5778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C8C3DA"/>
                </a:solidFill>
                <a:latin typeface="Inter"/>
              </a:rPr>
              <a:t>Domain (1 year)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02920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C9B4FF"/>
                </a:solidFill>
                <a:latin typeface="Inter"/>
              </a:rPr>
              <a:t>approx. </a:t>
            </a:r>
            <a:r>
              <a:rPr sz="2600" b="0" i="0">
                <a:solidFill>
                  <a:srgbClr val="FFFFFF"/>
                </a:solidFill>
                <a:latin typeface="Playfair Display"/>
              </a:rPr>
              <a:t>~ PKR 7,000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55778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C8C3DA"/>
                </a:solidFill>
                <a:latin typeface="Inter"/>
              </a:rPr>
              <a:t>Hosting (1 year)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50292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0% commission.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C8C3DA"/>
                </a:solidFill>
                <a:latin typeface="Inter"/>
              </a:rPr>
              <a:t>Mailbox subscriptions are paid to the email provider as per their pricing.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8A84A6"/>
                </a:solidFill>
                <a:latin typeface="Inter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YOUR INVESTMENT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08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07 · INVESTMENT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Simple,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transparent pricing.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68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878"/>
                </a:solidFill>
                <a:latin typeface="Inter"/>
              </a:rPr>
              <a:t>As a referral from </a:t>
            </a:r>
            <a:r>
              <a:rPr sz="1300" b="1" i="0">
                <a:solidFill>
                  <a:srgbClr val="6A26D8"/>
                </a:solidFill>
                <a:latin typeface="Inter"/>
              </a:rPr>
              <a:t>Isha (Wajeeha Baig)</a:t>
            </a:r>
            <a:r>
              <a:rPr sz="1300" b="0" i="0">
                <a:solidFill>
                  <a:srgbClr val="6B6878"/>
                </a:solidFill>
                <a:latin typeface="Inter"/>
              </a:rPr>
              <a:t>, you receive preferential pricing. Because the deployment charges were not communicated clearly at the start, we have waived the deployment fee in full.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46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2461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STANDARD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2461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YOUR 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538728"/>
            <a:ext cx="6400800" cy="1524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033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41414"/>
                </a:solidFill>
                <a:latin typeface="Playfair Display"/>
              </a:rPr>
              <a:t>Website development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03250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6878"/>
                </a:solidFill>
                <a:latin typeface="Inter"/>
              </a:rPr>
              <a:t>7-page website, built from your content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374904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300" b="0" i="0" strike="sngStrike">
                <a:solidFill>
                  <a:srgbClr val="A29C9E"/>
                </a:solidFill>
                <a:latin typeface="Inter"/>
              </a:rPr>
              <a:t>PKR 25,000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372160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1" i="0">
                <a:solidFill>
                  <a:srgbClr val="141414"/>
                </a:solidFill>
                <a:latin typeface="Inter"/>
              </a:rPr>
              <a:t>PKR 15,000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343400"/>
            <a:ext cx="6400800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41655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41414"/>
                </a:solidFill>
                <a:latin typeface="Playfair Display"/>
              </a:rPr>
              <a:t>Deployment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74573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A26D8"/>
                </a:solidFill>
                <a:latin typeface="Inter"/>
              </a:rPr>
              <a:t>Waived  ·  includes 1 professional mailbox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446227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300" b="0" i="0" strike="sngStrike">
                <a:solidFill>
                  <a:srgbClr val="A29C9E"/>
                </a:solidFill>
                <a:latin typeface="Inter"/>
              </a:rPr>
              <a:t>PKR 25,000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443484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1" i="0">
                <a:solidFill>
                  <a:srgbClr val="141414"/>
                </a:solidFill>
                <a:latin typeface="Inter"/>
              </a:rPr>
              <a:t>PKR 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5056632"/>
            <a:ext cx="6400800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1663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41414"/>
                </a:solidFill>
                <a:latin typeface="Inter"/>
              </a:rPr>
              <a:t>Total, payable on signing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1206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200" b="0" i="0">
                <a:solidFill>
                  <a:srgbClr val="6A26D8"/>
                </a:solidFill>
                <a:latin typeface="Playfair Display"/>
              </a:rPr>
              <a:t>PKR 15,000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0" y="3246120"/>
            <a:ext cx="3867912" cy="265176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60" y="3474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OPTIONAL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3730752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41414"/>
                </a:solidFill>
                <a:latin typeface="Playfair Display"/>
              </a:rPr>
              <a:t>Additional professional emails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416052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 i="0">
                <a:solidFill>
                  <a:srgbClr val="6A26D8"/>
                </a:solidFill>
                <a:latin typeface="Playfair Display"/>
              </a:rPr>
              <a:t>PKR 1,500</a:t>
            </a:r>
            <a:r>
              <a:rPr sz="1100" b="0" i="0">
                <a:solidFill>
                  <a:srgbClr val="6B6878"/>
                </a:solidFill>
                <a:latin typeface="Inter"/>
              </a:rPr>
              <a:t>  per account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475488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B6878"/>
                </a:solidFill>
                <a:latin typeface="Inter"/>
              </a:rPr>
              <a:t>One-time setup fee paid to OBD. The mailbox subscription is paid by you directly to the email provider.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09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08 · AFTER LAUNCH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Support you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can rely 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514600"/>
            <a:ext cx="3931920" cy="3429000"/>
          </a:xfrm>
          <a:prstGeom prst="roundRect">
            <a:avLst>
              <a:gd name="adj" fmla="val 5000"/>
            </a:avLst>
          </a:prstGeom>
          <a:solidFill>
            <a:srgbClr val="6A26D8"/>
          </a:solidFill>
          <a:ln w="9525">
            <a:solidFill>
              <a:srgbClr val="6A2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7889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C9B4FF"/>
                </a:solidFill>
                <a:latin typeface="Inter"/>
              </a:rPr>
              <a:t>LAUNCH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10896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FFFFF"/>
                </a:solidFill>
                <a:latin typeface="Playfair Display"/>
              </a:rPr>
              <a:t>14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11480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Any issue you report after go-live is fixed at no cost.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C9B4FF"/>
                </a:solidFill>
                <a:latin typeface="Inter"/>
              </a:rPr>
              <a:t>Further changes and ongoing maintenance are available on request, quoted in advance.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2514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PRIORITY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14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EXAMPLE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2514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FIRST RESPONSE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83480" y="2807208"/>
            <a:ext cx="6473952" cy="1524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3480" y="2971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6A26D8"/>
                </a:solidFill>
                <a:latin typeface="Inter"/>
              </a:rPr>
              <a:t>Critical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9718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A2A2D"/>
                </a:solidFill>
                <a:latin typeface="Inter"/>
              </a:rPr>
              <a:t>Website or email down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2971800"/>
            <a:ext cx="1993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300" b="0" i="0">
                <a:solidFill>
                  <a:srgbClr val="141414"/>
                </a:solidFill>
                <a:latin typeface="Inter"/>
              </a:rPr>
              <a:t>Same working 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83480" y="3383280"/>
            <a:ext cx="6473952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83480" y="35204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41414"/>
                </a:solidFill>
                <a:latin typeface="Inter"/>
              </a:rPr>
              <a:t>High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5204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A2A2D"/>
                </a:solidFill>
                <a:latin typeface="Inter"/>
              </a:rPr>
              <a:t>Key page or form broken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520440"/>
            <a:ext cx="1993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300" b="0" i="0">
                <a:solidFill>
                  <a:srgbClr val="141414"/>
                </a:solidFill>
                <a:latin typeface="Inter"/>
              </a:rPr>
              <a:t>Within 1 working day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3931920"/>
            <a:ext cx="6473952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83480" y="40690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41414"/>
                </a:solidFill>
                <a:latin typeface="Inter"/>
              </a:rPr>
              <a:t>Normal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A2A2D"/>
                </a:solidFill>
                <a:latin typeface="Inter"/>
              </a:rPr>
              <a:t>Question or request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4040" y="4069080"/>
            <a:ext cx="1993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300" b="0" i="0">
                <a:solidFill>
                  <a:srgbClr val="141414"/>
                </a:solidFill>
                <a:latin typeface="Inter"/>
              </a:rPr>
              <a:t>Within 1 working day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83480" y="4480560"/>
            <a:ext cx="6473952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80" y="4754880"/>
            <a:ext cx="64739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1" i="0">
                <a:solidFill>
                  <a:srgbClr val="141414"/>
                </a:solidFill>
                <a:latin typeface="Inter"/>
              </a:rPr>
              <a:t>Contact:  </a:t>
            </a:r>
            <a:r>
              <a:rPr sz="1200" b="0" i="0">
                <a:solidFill>
                  <a:srgbClr val="6B6878"/>
                </a:solidFill>
                <a:latin typeface="Inter"/>
              </a:rPr>
              <a:t>WhatsApp project group  ·  Hira Baig (Co-Founder &amp; Partner)  ·  Omer Bin Dawood (escalations)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1" i="0">
                <a:solidFill>
                  <a:srgbClr val="141414"/>
                </a:solidFill>
                <a:latin typeface="Inter"/>
              </a:rPr>
              <a:t>Hours:  </a:t>
            </a:r>
            <a:r>
              <a:rPr sz="1200" b="0" i="0">
                <a:solidFill>
                  <a:srgbClr val="6B6878"/>
                </a:solidFill>
                <a:latin typeface="Inter"/>
              </a:rPr>
              <a:t>Monday to Saturday, 10:00–19:00 PKT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b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394836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55105" y="3763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41414"/>
                </a:solidFill>
                <a:latin typeface="Playfair Display"/>
              </a:rPr>
              <a:t>OBD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5105" y="606795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6A26D8"/>
                </a:solidFill>
                <a:latin typeface="Inter"/>
              </a:rPr>
              <a:t>A I   S O L U T I O 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2575" y="475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6B6878"/>
                </a:solidFill>
                <a:latin typeface="Inter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291072"/>
            <a:ext cx="10728655" cy="7620"/>
          </a:xfrm>
          <a:prstGeom prst="rect">
            <a:avLst/>
          </a:prstGeom>
          <a:solidFill>
            <a:srgbClr val="E6E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OBD AI Solutions  ·  OBD-GFXT-2026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37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 i="0">
                <a:solidFill>
                  <a:srgbClr val="6B6878"/>
                </a:solidFill>
                <a:latin typeface="Inter"/>
              </a:rPr>
              <a:t>10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A26D8"/>
                </a:solidFill>
                <a:latin typeface="Inter"/>
              </a:rPr>
              <a:t>09 · 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35608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41414"/>
                </a:solidFill>
                <a:latin typeface="Playfair Display"/>
              </a:rPr>
              <a:t>Three steps </a:t>
            </a:r>
            <a:r>
              <a:rPr sz="3400" b="0" i="1">
                <a:solidFill>
                  <a:srgbClr val="6A26D8"/>
                </a:solidFill>
                <a:latin typeface="Playfair Display"/>
              </a:rPr>
              <a:t>to launch.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21992"/>
            <a:ext cx="320040" cy="30480"/>
          </a:xfrm>
          <a:prstGeom prst="rect">
            <a:avLst/>
          </a:prstGeom>
          <a:solidFill>
            <a:srgbClr val="6A2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21992"/>
            <a:ext cx="228600" cy="30480"/>
          </a:xfrm>
          <a:prstGeom prst="rect">
            <a:avLst/>
          </a:prstGeom>
          <a:solidFill>
            <a:srgbClr val="2B3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514600"/>
            <a:ext cx="3484778" cy="205740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0" i="0">
                <a:solidFill>
                  <a:srgbClr val="6A26D8"/>
                </a:solidFill>
                <a:latin typeface="Playfair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474720"/>
            <a:ext cx="29361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141414"/>
                </a:solidFill>
                <a:latin typeface="Playfair Display"/>
              </a:rPr>
              <a:t>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886200"/>
            <a:ext cx="293613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878"/>
                </a:solidFill>
                <a:latin typeface="Inter"/>
              </a:rPr>
              <a:t>Review and sign the Service Agreement.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3458" y="2514600"/>
            <a:ext cx="3484778" cy="205740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3498" y="269748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0" i="0">
                <a:solidFill>
                  <a:srgbClr val="6A26D8"/>
                </a:solidFill>
                <a:latin typeface="Playfair Display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3498" y="3474720"/>
            <a:ext cx="29361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141414"/>
                </a:solidFill>
                <a:latin typeface="Playfair Display"/>
              </a:rPr>
              <a:t>Pay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3498" y="3886200"/>
            <a:ext cx="293613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878"/>
                </a:solidFill>
                <a:latin typeface="Inter"/>
              </a:rPr>
              <a:t>Settle the development fee of PKR 15,000.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5396" y="2514600"/>
            <a:ext cx="3484778" cy="2057400"/>
          </a:xfrm>
          <a:prstGeom prst="roundRect">
            <a:avLst>
              <a:gd name="adj" fmla="val 5000"/>
            </a:avLst>
          </a:prstGeom>
          <a:solidFill>
            <a:srgbClr val="F8F6FD"/>
          </a:solidFill>
          <a:ln w="9525">
            <a:solidFill>
              <a:srgbClr val="E6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5436" y="269748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0" i="0">
                <a:solidFill>
                  <a:srgbClr val="6A26D8"/>
                </a:solidFill>
                <a:latin typeface="Playfair Display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5436" y="3474720"/>
            <a:ext cx="29361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141414"/>
                </a:solidFill>
                <a:latin typeface="Playfair Display"/>
              </a:rPr>
              <a:t>Launch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5436" y="3886200"/>
            <a:ext cx="293613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878"/>
                </a:solidFill>
                <a:latin typeface="Inter"/>
              </a:rPr>
              <a:t>Short call to purchase the domain &amp; hosting. We then take the website live.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6A26D8"/>
                </a:solidFill>
                <a:latin typeface="Inter"/>
              </a:rPr>
              <a:t>YOUR DOCUMENTS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21208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6A26D8"/>
                </a:solidFill>
                <a:latin typeface="Inter"/>
              </a:rPr>
              <a:t>01 </a:t>
            </a:r>
            <a:r>
              <a:rPr sz="1100" b="0" i="0">
                <a:solidFill>
                  <a:srgbClr val="141414"/>
                </a:solidFill>
                <a:latin typeface="Inter"/>
              </a:rPr>
              <a:t>Welcome Pack      </a:t>
            </a:r>
            <a:r>
              <a:rPr sz="1100" b="1" i="0">
                <a:solidFill>
                  <a:srgbClr val="6A26D8"/>
                </a:solidFill>
                <a:latin typeface="Inter"/>
              </a:rPr>
              <a:t>02 </a:t>
            </a:r>
            <a:r>
              <a:rPr sz="1100" b="0" i="0">
                <a:solidFill>
                  <a:srgbClr val="141414"/>
                </a:solidFill>
                <a:latin typeface="Inter"/>
              </a:rPr>
              <a:t>Service Agreement      </a:t>
            </a:r>
            <a:r>
              <a:rPr sz="1100" b="1" i="0">
                <a:solidFill>
                  <a:srgbClr val="6A26D8"/>
                </a:solidFill>
                <a:latin typeface="Inter"/>
              </a:rPr>
              <a:t>03 </a:t>
            </a:r>
            <a:r>
              <a:rPr sz="1100" b="0" i="0">
                <a:solidFill>
                  <a:srgbClr val="141414"/>
                </a:solidFill>
                <a:latin typeface="Inter"/>
              </a:rPr>
              <a:t>Go-Live &amp; Handover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ircuit-strip.jpg"/>
          <p:cNvPicPr>
            <a:picLocks noChangeAspect="1"/>
          </p:cNvPicPr>
          <p:nvPr/>
        </p:nvPicPr>
        <p:blipFill>
          <a:blip r:embed="rId2"/>
          <a:srcRect t="24923" b="24923"/>
          <a:stretch>
            <a:fillRect/>
          </a:stretch>
        </p:blipFill>
        <p:spPr>
          <a:xfrm>
            <a:off x="8899855" y="0"/>
            <a:ext cx="3291840" cy="6858000"/>
          </a:xfrm>
          <a:prstGeom prst="rect">
            <a:avLst/>
          </a:prstGeom>
        </p:spPr>
      </p:pic>
      <p:pic>
        <p:nvPicPr>
          <p:cNvPr id="4" name="Picture 3" descr="obd-mar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40080"/>
            <a:ext cx="488844" cy="475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49288" y="630571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Playfair Display"/>
              </a:rPr>
              <a:t>OBD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9288" y="915863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i="0">
                <a:solidFill>
                  <a:srgbClr val="C9B4FF"/>
                </a:solidFill>
                <a:latin typeface="Inter"/>
              </a:rPr>
              <a:t>A I   S O L U T I O N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8046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000" b="0" i="0">
                <a:solidFill>
                  <a:srgbClr val="FFFFFF"/>
                </a:solidFill>
                <a:latin typeface="Playfair Display"/>
              </a:rPr>
              <a:t>Thank you, </a:t>
            </a:r>
            <a:r>
              <a:rPr sz="5000" b="0" i="1">
                <a:solidFill>
                  <a:srgbClr val="C9B4FF"/>
                </a:solidFill>
                <a:latin typeface="Playfair Display"/>
              </a:rPr>
              <a:t>GFX-T.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337560"/>
            <a:ext cx="320040" cy="30480"/>
          </a:xfrm>
          <a:prstGeom prst="rect">
            <a:avLst/>
          </a:prstGeom>
          <a:solidFill>
            <a:srgbClr val="C9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3337560"/>
            <a:ext cx="228600" cy="30480"/>
          </a:xfrm>
          <a:prstGeom prst="rect">
            <a:avLst/>
          </a:prstGeom>
          <a:solidFill>
            <a:srgbClr val="C9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611880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DDD3F7"/>
                </a:solidFill>
                <a:latin typeface="Inter"/>
              </a:rPr>
              <a:t>We Create. We Strategize. We Elevate. Let's give that promise a home online.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532120"/>
            <a:ext cx="7589520" cy="7620"/>
          </a:xfrm>
          <a:prstGeom prst="rect">
            <a:avLst/>
          </a:prstGeom>
          <a:solidFill>
            <a:srgbClr val="3A3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FFFFF"/>
                </a:solidFill>
                <a:latin typeface="Playfair Display"/>
              </a:rPr>
              <a:t>Omer Bin Dawood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126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9B4FF"/>
                </a:solidFill>
                <a:latin typeface="Inter"/>
              </a:rPr>
              <a:t>CEO &amp; Founder, OBD AI Solutions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57607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FFFFF"/>
                </a:solidFill>
                <a:latin typeface="Playfair Display"/>
              </a:rPr>
              <a:t>Hira Baig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126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C9B4FF"/>
                </a:solidFill>
                <a:latin typeface="Inter"/>
              </a:rPr>
              <a:t>Co-Founder &amp; Partner, OBD AI Solutions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