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urce-mark-circuit.jpg"/>
          <p:cNvPicPr>
            <a:picLocks noChangeAspect="1"/>
          </p:cNvPicPr>
          <p:nvPr/>
        </p:nvPicPr>
        <p:blipFill>
          <a:blip r:embed="rId2"/>
          <a:srcRect l="8036" r="8036"/>
          <a:stretch>
            <a:fillRect/>
          </a:stretch>
        </p:blipFill>
        <p:spPr>
          <a:xfrm>
            <a:off x="0" y="0"/>
            <a:ext cx="429768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120640"/>
            <a:ext cx="4297680" cy="173736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FFFFFF"/>
                </a:solidFill>
                <a:latin typeface="Playfair Display"/>
              </a:rPr>
              <a:t>Build.  </a:t>
            </a:r>
            <a:r>
              <a:rPr sz="2200" b="0" i="0">
                <a:solidFill>
                  <a:srgbClr val="FFFFFF"/>
                </a:solidFill>
                <a:latin typeface="Playfair Display"/>
              </a:rPr>
              <a:t>Launch.  </a:t>
            </a:r>
            <a:r>
              <a:rPr sz="2200" b="0" i="0">
                <a:solidFill>
                  <a:srgbClr val="C9B4FF"/>
                </a:solidFill>
                <a:latin typeface="Playfair Display"/>
              </a:rPr>
              <a:t>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C9B4FF"/>
                </a:solidFill>
                <a:latin typeface="Inter"/>
              </a:rPr>
              <a:t>AI Solutions · MVP Development · Web Engineering</a:t>
            </a:r>
          </a:p>
        </p:txBody>
      </p:sp>
      <p:pic>
        <p:nvPicPr>
          <p:cNvPr id="8" name="Picture 7" descr="ob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40080"/>
            <a:ext cx="451241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00735" y="63130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0735" y="8946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PROJECT KICKOFF  ·  GFX-T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141414"/>
                </a:solidFill>
                <a:latin typeface="Playfair Display"/>
              </a:rPr>
              <a:t>GFX-T, your website</a:t>
            </a:r>
          </a:p>
          <a:p>
            <a:pPr algn="l">
              <a:lnSpc>
                <a:spcPct val="100000"/>
              </a:lnSpc>
            </a:pPr>
            <a:r>
              <a:rPr sz="4200" b="0" i="1">
                <a:solidFill>
                  <a:srgbClr val="6A26D8"/>
                </a:solidFill>
                <a:latin typeface="Playfair Display"/>
              </a:rPr>
              <a:t>is almost ready to launch.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840480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3840480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6878"/>
                </a:solidFill>
                <a:latin typeface="Inter"/>
              </a:rPr>
              <a:t>All 7 pages are built and getting their final touches. Next, we put it live on your own domain with professional email and look after it once it's 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5532120"/>
            <a:ext cx="65836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GFX-T, Lahore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PRESENTED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Omer Bin Dawood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01 · OBD AI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An engineering studio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built on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878"/>
                </a:solidFill>
                <a:latin typeface="Inter"/>
              </a:rPr>
              <a:t>We design and ship AI products, MVPs and production web platforms for founders and growing businesses, working with clients in the United States, Australia and Pakistan.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US &amp; Australian
clients 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Businesses served
in Pakistan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Countries
US · AU ·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68880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6243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AI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71800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Intelligent automation, LLM assistants and data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639312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76472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MVP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142232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Idea to investor-ready product, on foundations that scale.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09744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965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946904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312664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Fast, secure websites with infrastructure, email and support.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98932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← Your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02 · TRACK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The teams we've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built with.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Aginit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LEASAP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CA, 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Marketing Transformers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AUSTRALIA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DevNeuron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CA, 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6B6878"/>
                </a:solidFill>
                <a:latin typeface="Inter"/>
              </a:rPr>
              <a:t>…plus 25+ local businesses across Pakistan.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728655" cy="1097280"/>
          </a:xfrm>
          <a:prstGeom prst="roundRect">
            <a:avLst>
              <a:gd name="adj" fmla="val 8000"/>
            </a:avLst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Founder-led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Omer oversees every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Documented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Scope, fees &amp; support in 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No markups on third-party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Yours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Everything registered to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03 · WHO YOU'LL WORK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Your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project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971800"/>
            <a:ext cx="914400" cy="914400"/>
          </a:xfrm>
          <a:prstGeom prst="ellipse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PROJECT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CEO &amp; Founder, OBD AI Solutions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AI Engineer, DevNeuron (CA, USA)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8056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Owns technical decisions, setup, configuration and launch. Your escalation point for anything critical.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2971800"/>
            <a:ext cx="914400" cy="9144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ACCOUNT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Hira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Client relations, OBD AI 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48056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Your day-to-day contact for scheduling, documents, billing and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04 · GFX-T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Built from your content.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Almost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6573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573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About 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0881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9481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9481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Portfolio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Clients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973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6573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6573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Our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4427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3027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3027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Contact 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0881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120E2E"/>
          </a:solidFill>
          <a:ln w="9525">
            <a:solidFill>
              <a:srgbClr val="120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9481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C9B4FF"/>
                </a:solidFill>
                <a:latin typeface="Inter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9481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Almost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RECEIVED FROM YOU, THANK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54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CEO &amp; COO photos for the Management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84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50840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Client logos for the Clients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13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413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Portfolio images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434840"/>
            <a:ext cx="4416552" cy="132588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461772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41414"/>
                </a:solidFill>
                <a:latin typeface="Inter"/>
              </a:rPr>
              <a:t>All content is in. 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878"/>
                </a:solidFill>
                <a:latin typeface="Inter"/>
              </a:rPr>
              <a:t>We're adding the final touches now, and the site will be ready for your review shortly.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LAUNCH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05 ·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Five working days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to go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063240"/>
            <a:ext cx="10454335" cy="1905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DAY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Onboard &amp; 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Review pack, onboarding form, agreement, first instalment.</a:t>
            </a:r>
          </a:p>
        </p:txBody>
      </p:sp>
      <p:sp>
        <p:nvSpPr>
          <p:cNvPr id="18" name="Oval 17"/>
          <p:cNvSpPr/>
          <p:nvPr/>
        </p:nvSpPr>
        <p:spPr>
          <a:xfrm>
            <a:off x="2922971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7251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DAY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7251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Domain &amp;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7251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Guided purchase, in your name, on a short call.</a:t>
            </a:r>
          </a:p>
        </p:txBody>
      </p:sp>
      <p:sp>
        <p:nvSpPr>
          <p:cNvPr id="22" name="Oval 21"/>
          <p:cNvSpPr/>
          <p:nvPr/>
        </p:nvSpPr>
        <p:spPr>
          <a:xfrm>
            <a:off x="5068702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2982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DAY 2–4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Deploy &amp; configure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2982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Production deploy, DNS, SSL, email and devices.</a:t>
            </a:r>
          </a:p>
        </p:txBody>
      </p:sp>
      <p:sp>
        <p:nvSpPr>
          <p:cNvPr id="26" name="Oval 25"/>
          <p:cNvSpPr/>
          <p:nvPr/>
        </p:nvSpPr>
        <p:spPr>
          <a:xfrm>
            <a:off x="7214433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713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713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Review &amp; 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713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Final review, launch, walkthrough and handover.</a:t>
            </a:r>
          </a:p>
        </p:txBody>
      </p:sp>
      <p:sp>
        <p:nvSpPr>
          <p:cNvPr id="30" name="Oval 29"/>
          <p:cNvSpPr/>
          <p:nvPr/>
        </p:nvSpPr>
        <p:spPr>
          <a:xfrm>
            <a:off x="9360164" y="293522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4444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TO SEPTEMBER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Care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4444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Support &amp; maintenance, free minor changes in month 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74920"/>
            <a:ext cx="10728655" cy="7772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2852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Inter"/>
              </a:rPr>
              <a:t>Launch quality checklist:  </a:t>
            </a:r>
            <a:r>
              <a:rPr sz="1200" b="0" i="0">
                <a:solidFill>
                  <a:srgbClr val="2A2A2D"/>
                </a:solidFill>
                <a:latin typeface="Inter"/>
              </a:rPr>
              <a:t>HTTPS everywhere  ·  mobile &amp; browser tested  ·  speed reviewed  ·  SPF/DKIM/DMARC email  ·  forms verified  ·  backup handed 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d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C9B4FF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9B4FF"/>
                </a:solidFill>
                <a:latin typeface="Inter"/>
              </a:rPr>
              <a:t>06 · OUR OWNERSHIP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</a:rPr>
              <a:t>Everything that runs your business online </a:t>
            </a:r>
            <a:r>
              <a:rPr sz="3000" b="0" i="1">
                <a:solidFill>
                  <a:srgbClr val="C9B4FF"/>
                </a:solidFill>
                <a:latin typeface="Playfair Display"/>
              </a:rPr>
              <a:t>belongs to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2004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423160"/>
            <a:ext cx="22860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Registered in your name with your contact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683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Account and billing in your name, paid to the provider.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Mailboxes on your domain, with passwords that are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611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Delegated for setup only. Revoke it at any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10728655" cy="7620"/>
          </a:xfrm>
          <a:prstGeom prst="rect">
            <a:avLst/>
          </a:prstGeom>
          <a:solidFill>
            <a:srgbClr val="3A3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C9B4FF"/>
                </a:solidFill>
                <a:latin typeface="Inter"/>
              </a:rPr>
              <a:t>APPROX. THIRD-PARTY COSTS  ·  PAID DIRECTLY BY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B4FF"/>
                </a:solidFill>
                <a:latin typeface="Inter"/>
              </a:rPr>
              <a:t>approx. </a:t>
            </a:r>
            <a:r>
              <a:rPr sz="2600" b="0" i="0">
                <a:solidFill>
                  <a:srgbClr val="FFFFFF"/>
                </a:solidFill>
                <a:latin typeface="Playfair Display"/>
              </a:rPr>
              <a:t>~ PKR 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8C3DA"/>
                </a:solidFill>
                <a:latin typeface="Inter"/>
              </a:rPr>
              <a:t>Domain (1 year)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B4FF"/>
                </a:solidFill>
                <a:latin typeface="Inter"/>
              </a:rPr>
              <a:t>approx. </a:t>
            </a:r>
            <a:r>
              <a:rPr sz="2600" b="0" i="0">
                <a:solidFill>
                  <a:srgbClr val="FFFFFF"/>
                </a:solidFill>
                <a:latin typeface="Playfair Display"/>
              </a:rPr>
              <a:t>~ PKR 7,000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8C3DA"/>
                </a:solidFill>
                <a:latin typeface="Inter"/>
              </a:rPr>
              <a:t>Hosting (1 year)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29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0% commission.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8C3DA"/>
                </a:solidFill>
                <a:latin typeface="Inter"/>
              </a:rPr>
              <a:t>We don't resell or mark up domains, hosting or email.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8A84A6"/>
                </a:solidFill>
                <a:latin typeface="Inter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07 · REFERRAL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Below our standard rates,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by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6878"/>
                </a:solidFill>
                <a:latin typeface="Inter"/>
              </a:rPr>
              <a:t>Because you were referred by </a:t>
            </a:r>
            <a:r>
              <a:rPr sz="1400" b="1" i="0">
                <a:solidFill>
                  <a:srgbClr val="6A26D8"/>
                </a:solidFill>
                <a:latin typeface="Inter"/>
              </a:rPr>
              <a:t>Isha (Wajeeha Baig)</a:t>
            </a:r>
            <a:r>
              <a:rPr sz="1400" b="0" i="0">
                <a:solidFill>
                  <a:srgbClr val="6B6878"/>
                </a:solidFill>
                <a:latin typeface="Inter"/>
              </a:rPr>
              <a:t>, preferential rates apply to both development and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55848"/>
            <a:ext cx="10728655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Website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Almost ready, built from your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66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538728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15,000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Deployment · Complete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62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26D8"/>
                </a:solidFill>
                <a:latin typeface="Inter"/>
              </a:rPr>
              <a:t>Option A  ·  Recommended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79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251960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20,000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7375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4690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Deployment · Launch Essentials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760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Option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9926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965192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12,000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86984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CHOOSE YOUR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08 · DEPLOYMENT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Choose how we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look after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525780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5257800" cy="82296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697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OPTION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Complete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6A26D8"/>
                </a:solidFill>
                <a:latin typeface="Playfair Display"/>
              </a:rPr>
              <a:t>PKR 20,000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Total with development: PKR 35,000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4340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Domain &amp; DNS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81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8114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Hosting setup and website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188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1888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SSL (HTTPS) and security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566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5663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Professional email (e.g. info@gfxt.com)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943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9437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Email set up on your phone and laptop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3212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Support &amp; maintenance until 30 September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986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6986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Free minor UI/content changes for 30 days after launch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468880"/>
            <a:ext cx="5257800" cy="361188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OPTION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Launch Essentials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474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6A26D8"/>
                </a:solidFill>
                <a:latin typeface="Playfair Display"/>
              </a:rPr>
              <a:t>PKR 12,000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Total with development: PKR 27,000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3434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34340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Domain &amp; DNS 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81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58114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Hosting setup and website go-live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8188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81888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SSL (HTTPS) and security setup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0566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05663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Bug fixes for 14 days after go-live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2943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B6878"/>
                </a:solidFill>
                <a:latin typeface="Inter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29437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No email setup or yearly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PAYMENT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10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09 · WHEN YOU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Two simple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instalments.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257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6A26D8"/>
                </a:solidFill>
                <a:latin typeface="Playfair Displa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INSTALMENT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63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41414"/>
                </a:solidFill>
                <a:latin typeface="Playfair Display"/>
              </a:rPr>
              <a:t>On signing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878"/>
                </a:solidFill>
                <a:latin typeface="Inter"/>
              </a:rPr>
              <a:t>Development fee (100%)
+ deployment advance (50%)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3484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OPTION A · COMPLETE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OPTION B · LAUNCH ESSENTIALS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21,000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14600"/>
            <a:ext cx="5257800" cy="265176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6A26D8"/>
                </a:solidFill>
                <a:latin typeface="Playfair Display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INSTALMENT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063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41414"/>
                </a:solidFill>
                <a:latin typeface="Playfair Display"/>
              </a:rPr>
              <a:t>On 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878"/>
                </a:solidFill>
                <a:latin typeface="Inter"/>
              </a:rPr>
              <a:t>Deployment balance (50%)
once your site is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43484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OPTION A · COMPLETE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OPTION B · LAUNCH ESSENTIALS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Bank transfer, Easypaisa, JazzCash or cash  ·  A receipt for every payment  ·  A signed agreement for both sides'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CARE &amp;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11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10 · AFTER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Care that doesn't stop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at go-live.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3931920" cy="3429000"/>
          </a:xfrm>
          <a:prstGeom prst="roundRect">
            <a:avLst>
              <a:gd name="adj" fmla="val 5000"/>
            </a:avLst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9B4FF"/>
                </a:solidFill>
                <a:latin typeface="Inter"/>
              </a:rPr>
              <a:t>SUPPORTED UNTIL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</a:rPr>
              <a:t>30 September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+ Free minor UI/content changes for the first 30 days.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C9B4FF"/>
                </a:solidFill>
                <a:latin typeface="Inter"/>
              </a:rPr>
              <a:t>Something we don't normally include. Complete Care package.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FIRST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807208"/>
            <a:ext cx="6473952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A26D8"/>
                </a:solidFill>
                <a:latin typeface="Inter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Website or email 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71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Same business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338328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Key page or form broken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2044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business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93192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069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Minor change or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06908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business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448056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754880"/>
            <a:ext cx="64739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Channels:  </a:t>
            </a:r>
            <a:r>
              <a:rPr sz="1200" b="0" i="0">
                <a:solidFill>
                  <a:srgbClr val="6B6878"/>
                </a:solidFill>
                <a:latin typeface="Inter"/>
              </a:rPr>
              <a:t>WhatsApp project group  ·  Hira (account manager)  ·  Omer Bin Dawood (escalations)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Hours:  </a:t>
            </a:r>
            <a:r>
              <a:rPr sz="1200" b="0" i="0">
                <a:solidFill>
                  <a:srgbClr val="6B6878"/>
                </a:solidFill>
                <a:latin typeface="Inter"/>
              </a:rPr>
              <a:t>Monday–Saturday, 10:00–19:00 PKT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12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11 · LET'S GET YOU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Four steps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from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This deck and the Welcome Pack.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973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2293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2293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Fill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2293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The short onboarding form: details, domain, email accounts.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8747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747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Choose a package and sign the Service Agreement. Pay instalment 1.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0881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201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5201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5201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Book the domain &amp; hosting call. We go live within 5 working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YOUR ONBOARDING DOCUMENTS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01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Welcome Pack      </a:t>
            </a:r>
            <a:r>
              <a:rPr sz="1000" b="1" i="0">
                <a:solidFill>
                  <a:srgbClr val="6A26D8"/>
                </a:solidFill>
                <a:latin typeface="Inter"/>
              </a:rPr>
              <a:t>02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Onboarding Form      </a:t>
            </a:r>
            <a:r>
              <a:rPr sz="1000" b="1" i="0">
                <a:solidFill>
                  <a:srgbClr val="6A26D8"/>
                </a:solidFill>
                <a:latin typeface="Inter"/>
              </a:rPr>
              <a:t>03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Service Agreement      </a:t>
            </a:r>
            <a:r>
              <a:rPr sz="1000" b="1" i="0">
                <a:solidFill>
                  <a:srgbClr val="6A26D8"/>
                </a:solidFill>
                <a:latin typeface="Inter"/>
              </a:rPr>
              <a:t>04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Go-Live &amp; Handover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ircuit-strip.jpg"/>
          <p:cNvPicPr>
            <a:picLocks noChangeAspect="1"/>
          </p:cNvPicPr>
          <p:nvPr/>
        </p:nvPicPr>
        <p:blipFill>
          <a:blip r:embed="rId2"/>
          <a:srcRect t="24923" b="24923"/>
          <a:stretch>
            <a:fillRect/>
          </a:stretch>
        </p:blipFill>
        <p:spPr>
          <a:xfrm>
            <a:off x="8899855" y="0"/>
            <a:ext cx="3291840" cy="6858000"/>
          </a:xfrm>
          <a:prstGeom prst="rect">
            <a:avLst/>
          </a:prstGeom>
        </p:spPr>
      </p:pic>
      <p:pic>
        <p:nvPicPr>
          <p:cNvPr id="4" name="Picture 3" descr="obd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488844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9288" y="63057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9288" y="91586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C9B4FF"/>
                </a:solidFill>
                <a:latin typeface="Inter"/>
              </a:rPr>
              <a:t>A I   S O L U T I O N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8046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0" i="0">
                <a:solidFill>
                  <a:srgbClr val="FFFFFF"/>
                </a:solidFill>
                <a:latin typeface="Playfair Display"/>
              </a:rPr>
              <a:t>Thank you, </a:t>
            </a:r>
            <a:r>
              <a:rPr sz="5000" b="0" i="1">
                <a:solidFill>
                  <a:srgbClr val="C9B4FF"/>
                </a:solidFill>
                <a:latin typeface="Playfair Display"/>
              </a:rPr>
              <a:t>GFX-T.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37560"/>
            <a:ext cx="32004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337560"/>
            <a:ext cx="22860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DD3F7"/>
                </a:solidFill>
                <a:latin typeface="Inter"/>
              </a:rPr>
              <a:t>We Create. We Strategize. We Elevate. Let's give that promise a home online.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32120"/>
            <a:ext cx="7589520" cy="7620"/>
          </a:xfrm>
          <a:prstGeom prst="rect">
            <a:avLst/>
          </a:prstGeom>
          <a:solidFill>
            <a:srgbClr val="3A3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CEO &amp; Founder, OBD AI Solutions  ·  AI Engineer, DevNeuron (CA, USA)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