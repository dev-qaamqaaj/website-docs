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</p:sldIdLst>
  <p:sldSz cx="7554913" cy="106918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6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77640" y="412200"/>
            <a:ext cx="6799680" cy="17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377640" y="2417760"/>
            <a:ext cx="6799680" cy="59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77640" y="412200"/>
            <a:ext cx="6799680" cy="17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77640" y="2417760"/>
            <a:ext cx="6799680" cy="59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7640" y="412200"/>
            <a:ext cx="6799680" cy="172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77640" y="2417760"/>
            <a:ext cx="6799680" cy="599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7562880" cy="10696680"/>
          </a:xfrm>
          <a:custGeom>
            <a:avLst/>
            <a:gdLst/>
            <a:ahLst/>
            <a:rect l="0" t="0" r="r" b="b"/>
            <a:pathLst>
              <a:path w="21008" h="29713">
                <a:moveTo>
                  <a:pt x="0" y="0"/>
                </a:moveTo>
                <a:lnTo>
                  <a:pt x="21008" y="0"/>
                </a:lnTo>
                <a:lnTo>
                  <a:pt x="21008" y="29713"/>
                </a:lnTo>
                <a:lnTo>
                  <a:pt x="0" y="297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7562880" cy="10696680"/>
          </a:xfrm>
          <a:custGeom>
            <a:avLst/>
            <a:gdLst/>
            <a:ahLst/>
            <a:rect l="0" t="0" r="r" b="b"/>
            <a:pathLst>
              <a:path w="21008" h="29713">
                <a:moveTo>
                  <a:pt x="0" y="0"/>
                </a:moveTo>
                <a:lnTo>
                  <a:pt x="21008" y="0"/>
                </a:lnTo>
                <a:lnTo>
                  <a:pt x="21008" y="29713"/>
                </a:lnTo>
                <a:lnTo>
                  <a:pt x="0" y="297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2305080" cy="10696680"/>
          </a:xfrm>
          <a:custGeom>
            <a:avLst/>
            <a:gdLst/>
            <a:ahLst/>
            <a:rect l="0" t="0" r="r" b="b"/>
            <a:pathLst>
              <a:path w="6403" h="29713">
                <a:moveTo>
                  <a:pt x="0" y="0"/>
                </a:moveTo>
                <a:lnTo>
                  <a:pt x="6403" y="0"/>
                </a:lnTo>
                <a:lnTo>
                  <a:pt x="6403" y="29713"/>
                </a:lnTo>
                <a:lnTo>
                  <a:pt x="0" y="29713"/>
                </a:lnTo>
                <a:lnTo>
                  <a:pt x="0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-135720" y="-2160"/>
            <a:ext cx="2576160" cy="10701000"/>
          </a:xfrm>
          <a:prstGeom prst="rect">
            <a:avLst/>
          </a:prstGeom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-360" y="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-360" y="41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-360" y="83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-360" y="125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-360" y="167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-360" y="208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-360" y="250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-360" y="292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-360" y="334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-360" y="375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-360" y="417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-360" y="459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-360" y="501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-360" y="542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-360" y="584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-360" y="626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-360" y="668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-360" y="709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-360" y="751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-360" y="793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-360" y="835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-360" y="876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-360" y="918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-360" y="960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-360" y="1002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-360" y="1044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-360" y="1085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-360" y="1127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-360" y="1169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-360" y="1211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-360" y="1252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-360" y="1294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-360" y="1336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747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-360" y="1378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-360" y="1419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-360" y="1461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-360" y="1503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-360" y="1545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-360" y="1586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-360" y="1628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-360" y="1670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-360" y="1712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-360" y="1753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-360" y="1795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-360" y="1837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-360" y="1879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-360" y="1920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-360" y="1962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-360" y="2004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-360" y="2046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-360" y="2088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-360" y="2129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-360" y="2171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-360" y="2213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-360" y="2255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-360" y="2296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-360" y="2338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-360" y="2380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-360" y="2422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-360" y="2463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-360" y="2505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-360" y="2547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-360" y="2589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-360" y="2630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-360" y="2672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-360" y="2714400"/>
            <a:ext cx="0" cy="42120"/>
          </a:xfrm>
          <a:custGeom>
            <a:avLst/>
            <a:gdLst/>
            <a:ahLst/>
            <a:rect l="0" t="0" r="r" b="b"/>
            <a:pathLst>
              <a:path w="0" h="117">
                <a:moveTo>
                  <a:pt x="0" y="0"/>
                </a:move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-360" y="2756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-360" y="2798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-360" y="2840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-360" y="2881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-360" y="2923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-360" y="2965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-360" y="3007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-360" y="3048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-360" y="3090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030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-360" y="3132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-360" y="3174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-360" y="3215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-360" y="3257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-360" y="3299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-360" y="3341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-360" y="3382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-360" y="3424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-360" y="3466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-360" y="3508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-360" y="3549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-360" y="3591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-360" y="3633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-360" y="3675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-360" y="3717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-360" y="3758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-360" y="3800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-360" y="3842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-360" y="3884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-360" y="3925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-360" y="3967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-360" y="4009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4242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-360" y="4051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-360" y="4092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-360" y="4134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-360" y="4176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-360" y="4218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-360" y="4259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-360" y="4301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-360" y="4343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-360" y="4385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-360" y="4426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-360" y="4468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-360" y="4510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-360" y="4552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-360" y="4593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-360" y="4635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-360" y="4677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-360" y="4719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-360" y="4761000"/>
            <a:ext cx="0" cy="83520"/>
          </a:xfrm>
          <a:custGeom>
            <a:avLst/>
            <a:gdLst/>
            <a:ahLst/>
            <a:rect l="0" t="0" r="r" b="b"/>
            <a:pathLst>
              <a:path w="0" h="232">
                <a:moveTo>
                  <a:pt x="0" y="0"/>
                </a:moveTo>
                <a:lnTo>
                  <a:pt x="0" y="232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-360" y="4844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-360" y="4886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-360" y="4928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-360" y="4969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-360" y="5011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-360" y="5053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-360" y="5095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-360" y="5136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-360" y="5178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-360" y="5220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-360" y="5262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-360" y="5303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-360" y="5345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-360" y="5387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-360" y="5429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-360" y="5470920"/>
            <a:ext cx="0" cy="42120"/>
          </a:xfrm>
          <a:custGeom>
            <a:avLst/>
            <a:gdLst/>
            <a:ahLst/>
            <a:rect l="0" t="0" r="r" b="b"/>
            <a:pathLst>
              <a:path w="0" h="117">
                <a:moveTo>
                  <a:pt x="0" y="0"/>
                </a:move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-360" y="5513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-360" y="5554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-360" y="5596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-360" y="5638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-360" y="5680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-360" y="5721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-360" y="5763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-360" y="5805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-360" y="5847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-360" y="5888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-360" y="5930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-360" y="5972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-360" y="6014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-360" y="6055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-360" y="6097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-360" y="6139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-360" y="6181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-360" y="6222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-360" y="6264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-360" y="6306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-360" y="6348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-360" y="6390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-360" y="6431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-360" y="6473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-360" y="6515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-360" y="6557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-360" y="6598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-360" y="6640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-360" y="6682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-360" y="6724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-360" y="6765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b5b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-360" y="6807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c5c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-360" y="6849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d5d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-360" y="6891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5f5f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-360" y="6932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-360" y="6974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262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-360" y="7016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363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-360" y="7058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464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-360" y="7099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-360" y="7141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7676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-360" y="7183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868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-360" y="7225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a6a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-360" y="7266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b6b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-360" y="7308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c6c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-360" y="7350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-360" y="7392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6f6f6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-360" y="7434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070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-360" y="7475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272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-360" y="7517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37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-360" y="7559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-360" y="7601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676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-360" y="7642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7777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-360" y="7684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9797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-360" y="7726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-360" y="7768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b7b7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-360" y="7809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d7d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-360" y="7851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e7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-360" y="7893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-360" y="7935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181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-360" y="7976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282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-360" y="8018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383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-360" y="8060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585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-360" y="8102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6868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-360" y="8143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787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-360" y="8185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9898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-360" y="8227440"/>
            <a:ext cx="0" cy="42120"/>
          </a:xfrm>
          <a:custGeom>
            <a:avLst/>
            <a:gdLst/>
            <a:ahLst/>
            <a:rect l="0" t="0" r="r" b="b"/>
            <a:pathLst>
              <a:path w="0" h="117">
                <a:moveTo>
                  <a:pt x="0" y="0"/>
                </a:move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8a8a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-360" y="8269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-360" y="8311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d8d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-360" y="8353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8e8e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-360" y="8394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090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-360" y="8436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191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-360" y="8478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-360" y="8520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494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-360" y="8561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595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-360" y="8603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696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-360" y="8645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8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-360" y="8687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-360" y="8728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-360" y="8770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c9c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-360" y="8812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d9d9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-360" y="8854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9f9f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-360" y="8895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0a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-360" y="8937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1a1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-360" y="8979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3a3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-360" y="9021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4a4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-360" y="9063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5a5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-360" y="9104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7a7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-360" y="9146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-360" y="9188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9a9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-360" y="9230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bab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-360" y="9271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cac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-360" y="9313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dad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-360" y="9355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-360" y="9397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0b0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-360" y="9438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2b2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-360" y="9480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3b3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-360" y="9522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4b4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-360" y="9564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6b6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-360" y="9605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7b7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-360" y="96476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8b8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-360" y="96894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aba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-360" y="97311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bb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-360" y="97729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cbc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-360" y="98146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ebe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-360" y="98564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-360" y="98982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-360" y="99399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2c2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-360" y="99817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3c3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-360" y="100234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5c5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-360" y="100652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6c6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-360" y="101070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7c7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-360" y="101487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-360" y="101905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aca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-360" y="102322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-360" y="102740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dc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-360" y="103158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ece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-360" y="103575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cfc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-360" y="103993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1d1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-360" y="104410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-360" y="1048284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-360" y="1052460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5d5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-360" y="1056636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6d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-360" y="1060812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7d7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-360" y="10649880"/>
            <a:ext cx="0" cy="41760"/>
          </a:xfrm>
          <a:custGeom>
            <a:avLst/>
            <a:gdLst/>
            <a:ahLst/>
            <a:rect l="0" t="0" r="r" b="b"/>
            <a:pathLst>
              <a:path w="0" h="116">
                <a:moveTo>
                  <a:pt x="0" y="0"/>
                </a:move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-3778560" y="-108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-7556760" y="-108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-3778560" y="534564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-7556760" y="534564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0" y="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0" y="41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0" y="83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0" y="125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0" y="167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208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6565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0" y="250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0" y="292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0" y="334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0" y="375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0" y="417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0" y="459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0" y="501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2525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0" y="542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0" y="584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0" y="626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0" y="668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0" y="709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0" y="751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793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835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e4e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0" y="876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0" y="918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0" y="960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0" y="1002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1044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b4b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0" y="1085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0" y="1127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0" y="1169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0" y="1211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0" y="1252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0" y="1294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0" y="1336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7474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1378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1419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1461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1503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1545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0" y="1586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1628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1670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3434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1712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1753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1795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1837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1879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0" y="1920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0" y="1962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f3f3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2004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2046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2088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0" y="2129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2171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0" y="2213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0" y="2255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0" y="2296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0" y="2338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2380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2422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2463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2505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8383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2547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2589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0" y="2630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0" y="2672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0" y="2714400"/>
            <a:ext cx="2305080" cy="42480"/>
          </a:xfrm>
          <a:custGeom>
            <a:avLst/>
            <a:gdLst/>
            <a:ahLst/>
            <a:rect l="0" t="0" r="r" b="b"/>
            <a:pathLst>
              <a:path w="6403" h="118">
                <a:moveTo>
                  <a:pt x="6403" y="0"/>
                </a:moveTo>
                <a:lnTo>
                  <a:pt x="0" y="0"/>
                </a:lnTo>
                <a:lnTo>
                  <a:pt x="0" y="118"/>
                </a:lnTo>
                <a:lnTo>
                  <a:pt x="6403" y="118"/>
                </a:lnTo>
                <a:lnTo>
                  <a:pt x="6403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0" y="2756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2798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4343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0" y="2840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0" y="2881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0" y="2923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0" y="2965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0" y="3007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0" y="3048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3090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0303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3132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0" y="3174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0" y="3215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0" y="3257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0" y="3299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0" y="3341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0" y="3382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0" y="3424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c2c2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3466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3508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0" y="3549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0" y="3591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0" y="3633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0" y="3675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0" y="3717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828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0" y="3758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0" y="3800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0" y="3842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0" y="3884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0" y="3925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0" y="3967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0" y="4009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4242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0" y="4051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0" y="4092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0" y="4134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0" y="4176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4218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0" y="4259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1212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0" y="4301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0" y="4343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0" y="4385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4426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4468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4510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0" y="4552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d1d1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0" y="4593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0" y="4635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0" y="4677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0" y="4719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0" y="4761000"/>
            <a:ext cx="2305080" cy="83880"/>
          </a:xfrm>
          <a:custGeom>
            <a:avLst/>
            <a:gdLst/>
            <a:ahLst/>
            <a:rect l="0" t="0" r="r" b="b"/>
            <a:pathLst>
              <a:path w="6403" h="233">
                <a:moveTo>
                  <a:pt x="6403" y="0"/>
                </a:moveTo>
                <a:lnTo>
                  <a:pt x="0" y="0"/>
                </a:lnTo>
                <a:lnTo>
                  <a:pt x="0" y="233"/>
                </a:lnTo>
                <a:lnTo>
                  <a:pt x="6403" y="233"/>
                </a:lnTo>
                <a:lnTo>
                  <a:pt x="6403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0" y="4844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c1c1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0" y="4886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0" y="4928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0" y="4969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02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0" y="5011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2222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0" y="5053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0" y="5095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5252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0" y="5136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0" y="5178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727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0" y="5220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9292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0" y="5262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a2a2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0" y="5303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5345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d2d2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0" y="5387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5429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2f2f2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0" y="5470920"/>
            <a:ext cx="2305080" cy="42480"/>
          </a:xfrm>
          <a:custGeom>
            <a:avLst/>
            <a:gdLst/>
            <a:ahLst/>
            <a:rect l="0" t="0" r="r" b="b"/>
            <a:pathLst>
              <a:path w="6403" h="118">
                <a:moveTo>
                  <a:pt x="6403" y="0"/>
                </a:moveTo>
                <a:lnTo>
                  <a:pt x="0" y="0"/>
                </a:lnTo>
                <a:lnTo>
                  <a:pt x="0" y="118"/>
                </a:lnTo>
                <a:lnTo>
                  <a:pt x="6403" y="118"/>
                </a:lnTo>
                <a:lnTo>
                  <a:pt x="6403" y="0"/>
                </a:lnTo>
                <a:close/>
              </a:path>
            </a:pathLst>
          </a:custGeom>
          <a:solidFill>
            <a:srgbClr val="31313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0" y="5513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0" y="5554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0" y="5596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5353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5638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6363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5680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737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0" y="5721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939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0" y="5763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0" y="5805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0" y="5847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0" y="5888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3e3e3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0" y="5930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0" y="5972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1414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6014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2424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6055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0" y="6097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545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0" y="6139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646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0" y="6181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8484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0" y="6222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0" y="6264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0" y="6306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0" y="6348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0" y="6390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4f4f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0" y="6431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0" y="6473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1515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0" y="6515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353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0" y="6557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4545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0" y="6598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5555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0" y="6640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7575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0" y="6682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8585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0" y="6724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9595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0" y="6765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b5b5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0" y="6807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c5c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0" y="6849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d5d5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0" y="6891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5f5f5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0" y="6932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0606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0" y="6974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262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0" y="7016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3636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0" y="7058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464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0" y="7099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0" y="7141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7676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0" y="7183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8686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0" y="7225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a6a6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0" y="7266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b6b6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0" y="7308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c6c6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7350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e6e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0" y="7392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6f6f6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0" y="7434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0707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0" y="7475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2727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0" y="7517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37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0" y="7559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5757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0" y="7601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6767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0" y="7642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7777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0" y="7684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9797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0" y="7726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a7a7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0" y="7768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b7b7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0" y="7809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d7d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0" y="7851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e7e7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0" y="7893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7f7f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0" y="7935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181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0" y="7976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282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0" y="8018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3838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0" y="8060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5858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0" y="8102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6868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0" y="8143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787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0" y="8185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9898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0" y="8227440"/>
            <a:ext cx="2305080" cy="42480"/>
          </a:xfrm>
          <a:custGeom>
            <a:avLst/>
            <a:gdLst/>
            <a:ahLst/>
            <a:rect l="0" t="0" r="r" b="b"/>
            <a:pathLst>
              <a:path w="6403" h="118">
                <a:moveTo>
                  <a:pt x="6403" y="0"/>
                </a:moveTo>
                <a:lnTo>
                  <a:pt x="0" y="0"/>
                </a:lnTo>
                <a:lnTo>
                  <a:pt x="0" y="118"/>
                </a:lnTo>
                <a:lnTo>
                  <a:pt x="6403" y="118"/>
                </a:lnTo>
                <a:lnTo>
                  <a:pt x="6403" y="0"/>
                </a:lnTo>
                <a:close/>
              </a:path>
            </a:pathLst>
          </a:custGeom>
          <a:solidFill>
            <a:srgbClr val="8a8a8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0" y="8269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0" y="8311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d8d8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0" y="8353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8e8e8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0" y="8394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0909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0" y="8436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1919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0" y="8478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2929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0" y="8520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494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0" y="8561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5959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0" y="8603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696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0" y="8645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8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0" y="8687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0" y="8728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0" y="8770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c9c9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0" y="8812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d9d9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0" y="8854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9f9f9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0" y="8895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0a0a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0" y="8937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1a1a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0" y="8979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3a3a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0" y="9021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4a4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0" y="9063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5a5a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0" y="9104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7a7a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0" y="9146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8a8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9188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9a9a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0" y="9230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bab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0" y="9271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caca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0" y="9313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dad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0" y="9355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afafa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0" y="9397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0b0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0" y="9438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2b2b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0" y="9480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3b3b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0" y="9522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4b4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0" y="9564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6b6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0" y="9605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7b7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0" y="96476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8b8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0" y="96894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aba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0" y="97311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bb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0" y="97729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cbc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0" y="98146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ebe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0" y="98564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bfbf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0" y="98982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0c0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0" y="99399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2c2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0" y="99817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3c3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0" y="100234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5c5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0" y="100652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6c6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0" y="101070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7c7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0" y="101487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0" y="101905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aca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0" y="102322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bcb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0" y="102740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dcd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0" y="103158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ece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0" y="103575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cfcf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0" y="103993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1d1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0" y="104410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0" y="1048284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3d3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0" y="1052460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5d5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0" y="1056636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6d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0" y="1060812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7d7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0" y="10649880"/>
            <a:ext cx="2305080" cy="42120"/>
          </a:xfrm>
          <a:custGeom>
            <a:avLst/>
            <a:gdLst/>
            <a:ahLst/>
            <a:rect l="0" t="0" r="r" b="b"/>
            <a:pathLst>
              <a:path w="6403" h="117">
                <a:moveTo>
                  <a:pt x="6403" y="0"/>
                </a:moveTo>
                <a:lnTo>
                  <a:pt x="0" y="0"/>
                </a:lnTo>
                <a:lnTo>
                  <a:pt x="0" y="117"/>
                </a:lnTo>
                <a:lnTo>
                  <a:pt x="6403" y="117"/>
                </a:lnTo>
                <a:lnTo>
                  <a:pt x="6403" y="0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3778200" y="-108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0" y="-108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3778200" y="534564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0" y="5345640"/>
            <a:ext cx="3778560" cy="5347080"/>
          </a:xfrm>
          <a:custGeom>
            <a:avLst/>
            <a:gdLst/>
            <a:ahLst/>
            <a:rect l="0" t="0" r="r" b="b"/>
            <a:pathLst>
              <a:path w="10496" h="14853">
                <a:moveTo>
                  <a:pt x="10496" y="0"/>
                </a:moveTo>
                <a:lnTo>
                  <a:pt x="10496" y="14853"/>
                </a:lnTo>
                <a:lnTo>
                  <a:pt x="0" y="14853"/>
                </a:lnTo>
                <a:lnTo>
                  <a:pt x="0" y="0"/>
                </a:lnTo>
                <a:lnTo>
                  <a:pt x="10496" y="0"/>
                </a:lnTo>
                <a:close/>
              </a:path>
            </a:pathLst>
          </a:custGeom>
          <a:solidFill>
            <a:srgbClr val="0504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28" name="" descr=""/>
          <p:cNvPicPr/>
          <p:nvPr/>
        </p:nvPicPr>
        <p:blipFill>
          <a:blip r:embed="rId2"/>
          <a:stretch/>
        </p:blipFill>
        <p:spPr>
          <a:xfrm>
            <a:off x="2876400" y="933480"/>
            <a:ext cx="409320" cy="399600"/>
          </a:xfrm>
          <a:prstGeom prst="rect">
            <a:avLst/>
          </a:prstGeom>
          <a:ln w="0">
            <a:noFill/>
          </a:ln>
        </p:spPr>
      </p:pic>
      <p:sp>
        <p:nvSpPr>
          <p:cNvPr id="529" name=""/>
          <p:cNvSpPr txBox="1"/>
          <p:nvPr/>
        </p:nvSpPr>
        <p:spPr>
          <a:xfrm>
            <a:off x="3394800" y="926280"/>
            <a:ext cx="3693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300" spc="-1" strike="noStrike">
                <a:solidFill>
                  <a:srgbClr val="0e0e14"/>
                </a:solidFill>
                <a:latin typeface="PlayfairDisplay"/>
                <a:ea typeface="PlayfairDisplay"/>
              </a:rPr>
              <a:t>OBD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3394800" y="1184400"/>
            <a:ext cx="9349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20" spc="-1" strike="noStrike">
                <a:solidFill>
                  <a:srgbClr val="6a26d8"/>
                </a:solidFill>
                <a:latin typeface="Inter-Semi"/>
                <a:ea typeface="Inter-Semi"/>
              </a:rPr>
              <a:t>A I   S O L U T I O N S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2880000" y="2940480"/>
            <a:ext cx="16876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50" spc="-1" strike="noStrike">
                <a:solidFill>
                  <a:srgbClr val="6a26d8"/>
                </a:solidFill>
                <a:latin typeface="Inter-Semi"/>
                <a:ea typeface="Inter-Semi"/>
              </a:rPr>
              <a:t>S E R V I C E   A G R E E M E N T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2880000" y="3256920"/>
            <a:ext cx="3923640" cy="50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4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Website Service</a:t>
            </a:r>
            <a:endParaRPr b="0" lang="en-US" sz="3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2876400" y="4466880"/>
            <a:ext cx="5400" cy="5760"/>
          </a:xfrm>
          <a:custGeom>
            <a:avLst/>
            <a:gdLst/>
            <a:ahLst/>
            <a:rect l="0" t="0" r="r" b="b"/>
            <a:pathLst>
              <a:path w="15" h="16">
                <a:moveTo>
                  <a:pt x="0" y="0"/>
                </a:moveTo>
                <a:lnTo>
                  <a:pt x="0" y="16"/>
                </a:lnTo>
                <a:lnTo>
                  <a:pt x="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2876400" y="4466880"/>
            <a:ext cx="10800" cy="10800"/>
          </a:xfrm>
          <a:custGeom>
            <a:avLst/>
            <a:gdLst/>
            <a:ahLst/>
            <a:rect l="0" t="0" r="r" b="b"/>
            <a:pathLst>
              <a:path w="30" h="30">
                <a:moveTo>
                  <a:pt x="15" y="0"/>
                </a:moveTo>
                <a:lnTo>
                  <a:pt x="0" y="16"/>
                </a:lnTo>
                <a:lnTo>
                  <a:pt x="0" y="30"/>
                </a:lnTo>
                <a:lnTo>
                  <a:pt x="30" y="0"/>
                </a:lnTo>
                <a:lnTo>
                  <a:pt x="15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2876400" y="4466880"/>
            <a:ext cx="15840" cy="16200"/>
          </a:xfrm>
          <a:custGeom>
            <a:avLst/>
            <a:gdLst/>
            <a:ahLst/>
            <a:rect l="0" t="0" r="r" b="b"/>
            <a:pathLst>
              <a:path w="44" h="45">
                <a:moveTo>
                  <a:pt x="29" y="0"/>
                </a:moveTo>
                <a:lnTo>
                  <a:pt x="0" y="29"/>
                </a:lnTo>
                <a:lnTo>
                  <a:pt x="0" y="45"/>
                </a:lnTo>
                <a:lnTo>
                  <a:pt x="44" y="0"/>
                </a:lnTo>
                <a:lnTo>
                  <a:pt x="29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2876400" y="44668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3" y="0"/>
                </a:moveTo>
                <a:lnTo>
                  <a:pt x="0" y="44"/>
                </a:lnTo>
                <a:lnTo>
                  <a:pt x="0" y="54"/>
                </a:lnTo>
                <a:lnTo>
                  <a:pt x="54" y="0"/>
                </a:lnTo>
                <a:lnTo>
                  <a:pt x="43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2876400" y="446688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28782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28832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28886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28936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28990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290412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29095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291456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29199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29250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29304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29354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29408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29458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295092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29563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296136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29667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297180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29772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29822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29876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29926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29980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300312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30085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30135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30189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30240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30290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30344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30394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30448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304992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30553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306036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30657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307080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6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30762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30812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30866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30916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30970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31021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310752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3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311256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311760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312300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312804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3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313344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4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3138480" y="4466880"/>
            <a:ext cx="24840" cy="19440"/>
          </a:xfrm>
          <a:custGeom>
            <a:avLst/>
            <a:gdLst/>
            <a:ahLst/>
            <a:rect l="0" t="0" r="r" b="b"/>
            <a:pathLst>
              <a:path w="69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3143880" y="4466880"/>
            <a:ext cx="24480" cy="19440"/>
          </a:xfrm>
          <a:custGeom>
            <a:avLst/>
            <a:gdLst/>
            <a:ahLst/>
            <a:rect l="0" t="0" r="r" b="b"/>
            <a:pathLst>
              <a:path w="68" h="54">
                <a:moveTo>
                  <a:pt x="54" y="0"/>
                </a:moveTo>
                <a:lnTo>
                  <a:pt x="0" y="54"/>
                </a:lnTo>
                <a:lnTo>
                  <a:pt x="15" y="54"/>
                </a:lnTo>
                <a:lnTo>
                  <a:pt x="6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3148920" y="4466880"/>
            <a:ext cx="29880" cy="19440"/>
          </a:xfrm>
          <a:custGeom>
            <a:avLst/>
            <a:gdLst/>
            <a:ahLst/>
            <a:rect l="0" t="0" r="r" b="b"/>
            <a:pathLst>
              <a:path w="83" h="54">
                <a:moveTo>
                  <a:pt x="54" y="0"/>
                </a:moveTo>
                <a:lnTo>
                  <a:pt x="0" y="54"/>
                </a:lnTo>
                <a:lnTo>
                  <a:pt x="29" y="54"/>
                </a:lnTo>
                <a:lnTo>
                  <a:pt x="83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3159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31618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9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3164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3167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3169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317232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3175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3177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3180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3182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3185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3188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3190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3193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31960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3198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3201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3203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320616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9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3209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32115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32140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321660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3219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3222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32245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3227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9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32299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2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2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32324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32349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3237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3240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3242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32454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32479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3250440" y="4466880"/>
            <a:ext cx="22680" cy="19440"/>
          </a:xfrm>
          <a:custGeom>
            <a:avLst/>
            <a:gdLst/>
            <a:ahLst/>
            <a:rect l="0" t="0" r="r" b="b"/>
            <a:pathLst>
              <a:path w="63" h="54">
                <a:moveTo>
                  <a:pt x="54" y="0"/>
                </a:moveTo>
                <a:lnTo>
                  <a:pt x="0" y="54"/>
                </a:lnTo>
                <a:lnTo>
                  <a:pt x="9" y="54"/>
                </a:lnTo>
                <a:lnTo>
                  <a:pt x="63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3253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32558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3258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32608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3263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3266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3268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3271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9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3274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2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2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3276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3279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3281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32842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3287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3289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3292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329472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3297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3300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3302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330516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3308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33105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33130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3315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3318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3321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33235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3326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332856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33314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33339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3336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333900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3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3341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33444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33469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334944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3352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33548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3357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3359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3362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3365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3367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3370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337284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3375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3378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3380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338328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3386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3388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3391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3393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3396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3399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3401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3404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3407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34095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34120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3414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341712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3420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34225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34250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342756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34304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34329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34354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34380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3440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34434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34459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34484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3451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34538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34563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34588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346140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3464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34668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34693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3471840" y="4466880"/>
            <a:ext cx="22320" cy="19440"/>
          </a:xfrm>
          <a:custGeom>
            <a:avLst/>
            <a:gdLst/>
            <a:ahLst/>
            <a:rect l="0" t="0" r="r" b="b"/>
            <a:pathLst>
              <a:path w="62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2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3474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34772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34797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34822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348516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348768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34902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34927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8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349560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3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3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349812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3500640" y="446688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3503160" y="446688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3"/>
                </a:lnTo>
                <a:lnTo>
                  <a:pt x="54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3505680" y="4467960"/>
            <a:ext cx="18720" cy="18360"/>
          </a:xfrm>
          <a:custGeom>
            <a:avLst/>
            <a:gdLst/>
            <a:ahLst/>
            <a:rect l="0" t="0" r="r" b="b"/>
            <a:pathLst>
              <a:path w="52" h="51">
                <a:moveTo>
                  <a:pt x="52" y="0"/>
                </a:moveTo>
                <a:lnTo>
                  <a:pt x="0" y="51"/>
                </a:lnTo>
                <a:lnTo>
                  <a:pt x="8" y="51"/>
                </a:lnTo>
                <a:lnTo>
                  <a:pt x="52" y="7"/>
                </a:lnTo>
                <a:lnTo>
                  <a:pt x="52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3508560" y="4470480"/>
            <a:ext cx="15840" cy="15840"/>
          </a:xfrm>
          <a:custGeom>
            <a:avLst/>
            <a:gdLst/>
            <a:ahLst/>
            <a:rect l="0" t="0" r="r" b="b"/>
            <a:pathLst>
              <a:path w="44" h="44">
                <a:moveTo>
                  <a:pt x="44" y="0"/>
                </a:moveTo>
                <a:lnTo>
                  <a:pt x="0" y="44"/>
                </a:lnTo>
                <a:lnTo>
                  <a:pt x="7" y="44"/>
                </a:lnTo>
                <a:lnTo>
                  <a:pt x="44" y="7"/>
                </a:lnTo>
                <a:lnTo>
                  <a:pt x="44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3511080" y="4473000"/>
            <a:ext cx="13320" cy="13320"/>
          </a:xfrm>
          <a:custGeom>
            <a:avLst/>
            <a:gdLst/>
            <a:ahLst/>
            <a:rect l="0" t="0" r="r" b="b"/>
            <a:pathLst>
              <a:path w="37" h="37">
                <a:moveTo>
                  <a:pt x="37" y="0"/>
                </a:moveTo>
                <a:lnTo>
                  <a:pt x="0" y="37"/>
                </a:lnTo>
                <a:lnTo>
                  <a:pt x="7" y="37"/>
                </a:lnTo>
                <a:lnTo>
                  <a:pt x="37" y="7"/>
                </a:lnTo>
                <a:lnTo>
                  <a:pt x="37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3513600" y="4475520"/>
            <a:ext cx="10800" cy="10800"/>
          </a:xfrm>
          <a:custGeom>
            <a:avLst/>
            <a:gdLst/>
            <a:ahLst/>
            <a:rect l="0" t="0" r="r" b="b"/>
            <a:pathLst>
              <a:path w="30" h="30">
                <a:moveTo>
                  <a:pt x="30" y="0"/>
                </a:moveTo>
                <a:lnTo>
                  <a:pt x="0" y="30"/>
                </a:lnTo>
                <a:lnTo>
                  <a:pt x="7" y="30"/>
                </a:lnTo>
                <a:lnTo>
                  <a:pt x="30" y="8"/>
                </a:lnTo>
                <a:lnTo>
                  <a:pt x="30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3516120" y="4478400"/>
            <a:ext cx="8280" cy="7920"/>
          </a:xfrm>
          <a:custGeom>
            <a:avLst/>
            <a:gdLst/>
            <a:ahLst/>
            <a:rect l="0" t="0" r="r" b="b"/>
            <a:pathLst>
              <a:path w="23" h="22">
                <a:moveTo>
                  <a:pt x="23" y="0"/>
                </a:moveTo>
                <a:lnTo>
                  <a:pt x="0" y="22"/>
                </a:lnTo>
                <a:lnTo>
                  <a:pt x="8" y="22"/>
                </a:lnTo>
                <a:lnTo>
                  <a:pt x="23" y="8"/>
                </a:lnTo>
                <a:lnTo>
                  <a:pt x="23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3519000" y="4480920"/>
            <a:ext cx="5400" cy="5400"/>
          </a:xfrm>
          <a:custGeom>
            <a:avLst/>
            <a:gdLst/>
            <a:ahLst/>
            <a:rect l="0" t="0" r="r" b="b"/>
            <a:pathLst>
              <a:path w="15" h="15">
                <a:moveTo>
                  <a:pt x="15" y="0"/>
                </a:moveTo>
                <a:lnTo>
                  <a:pt x="0" y="15"/>
                </a:lnTo>
                <a:lnTo>
                  <a:pt x="8" y="15"/>
                </a:lnTo>
                <a:lnTo>
                  <a:pt x="15" y="8"/>
                </a:lnTo>
                <a:lnTo>
                  <a:pt x="15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3521520" y="448344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8" y="0"/>
                </a:moveTo>
                <a:lnTo>
                  <a:pt x="0" y="8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2880000" y="3657240"/>
            <a:ext cx="2100960" cy="574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3400" spc="-1" strike="noStrike">
                <a:solidFill>
                  <a:srgbClr val="6a26d8"/>
                </a:solidFill>
                <a:latin typeface="PlayfairDisplay-Medium"/>
                <a:ea typeface="PlayfairDisplay-Medium"/>
              </a:rPr>
              <a:t>Agreement.</a:t>
            </a:r>
            <a:endParaRPr b="0" lang="en-US" sz="3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2880000" y="4776120"/>
            <a:ext cx="29358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6b6878"/>
                </a:solidFill>
                <a:latin typeface="Inter"/>
                <a:ea typeface="Inter"/>
              </a:rPr>
              <a:t>This agreement sets out the services, fees and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2880000" y="4995360"/>
            <a:ext cx="34617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6b6878"/>
                </a:solidFill>
                <a:latin typeface="Inter"/>
                <a:ea typeface="Inter"/>
              </a:rPr>
              <a:t>responsibilities for the development and deployment of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2880000" y="5214240"/>
            <a:ext cx="32223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6b6878"/>
                </a:solidFill>
                <a:latin typeface="Inter"/>
                <a:ea typeface="Inter"/>
              </a:rPr>
              <a:t>the GFXT website, and serves as a record for both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2876400" y="8829360"/>
            <a:ext cx="4038840" cy="10080"/>
          </a:xfrm>
          <a:custGeom>
            <a:avLst/>
            <a:gdLst/>
            <a:ahLst/>
            <a:rect l="0" t="0" r="r" b="b"/>
            <a:pathLst>
              <a:path w="11219" h="28">
                <a:moveTo>
                  <a:pt x="0" y="0"/>
                </a:moveTo>
                <a:lnTo>
                  <a:pt x="11219" y="0"/>
                </a:lnTo>
                <a:lnTo>
                  <a:pt x="112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2880000" y="5433480"/>
            <a:ext cx="21801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50" spc="-1" strike="noStrike">
                <a:solidFill>
                  <a:srgbClr val="6b6878"/>
                </a:solidFill>
                <a:latin typeface="Inter"/>
                <a:ea typeface="Inter"/>
              </a:rPr>
              <a:t>parties, including for tax purposes.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2880000" y="9069840"/>
            <a:ext cx="56772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80" spc="-1" strike="noStrike">
                <a:solidFill>
                  <a:srgbClr val="6b6878"/>
                </a:solidFill>
                <a:latin typeface="Inter"/>
                <a:ea typeface="Inter"/>
              </a:rPr>
              <a:t>B E T W E E N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2880000" y="9208080"/>
            <a:ext cx="96552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OBD AI Solutions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5040000" y="9069840"/>
            <a:ext cx="23688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80" spc="-1" strike="noStrike">
                <a:solidFill>
                  <a:srgbClr val="6b6878"/>
                </a:solidFill>
                <a:latin typeface="Inter"/>
                <a:ea typeface="Inter"/>
              </a:rPr>
              <a:t>A N D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5040000" y="9208080"/>
            <a:ext cx="83880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GFXT, Lahore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2880000" y="9584280"/>
            <a:ext cx="69552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80" spc="-1" strike="noStrike">
                <a:solidFill>
                  <a:srgbClr val="6b6878"/>
                </a:solidFill>
                <a:latin typeface="Inter"/>
                <a:ea typeface="Inter"/>
              </a:rPr>
              <a:t>R E F E R E N C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2880000" y="9722520"/>
            <a:ext cx="98676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OBDGFXT2026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5040000" y="9584280"/>
            <a:ext cx="27972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80" spc="-1" strike="noStrike">
                <a:solidFill>
                  <a:srgbClr val="6b6878"/>
                </a:solidFill>
                <a:latin typeface="Inter"/>
                <a:ea typeface="Inter"/>
              </a:rPr>
              <a:t>D 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5040000" y="9722520"/>
            <a:ext cx="113616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25 September 2026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 rot="16200000">
            <a:off x="393840" y="9646560"/>
            <a:ext cx="3816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S E R V I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 rot="16200000">
            <a:off x="479880" y="9272880"/>
            <a:ext cx="2095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C E  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47" name="" descr=""/>
          <p:cNvPicPr/>
          <p:nvPr/>
        </p:nvPicPr>
        <p:blipFill>
          <a:blip r:embed="rId3"/>
          <a:stretch/>
        </p:blipFill>
        <p:spPr>
          <a:xfrm>
            <a:off x="504720" y="866880"/>
            <a:ext cx="514080" cy="504360"/>
          </a:xfrm>
          <a:prstGeom prst="rect">
            <a:avLst/>
          </a:prstGeom>
          <a:ln w="0">
            <a:noFill/>
          </a:ln>
        </p:spPr>
      </p:pic>
      <p:sp>
        <p:nvSpPr>
          <p:cNvPr id="748" name=""/>
          <p:cNvSpPr txBox="1"/>
          <p:nvPr/>
        </p:nvSpPr>
        <p:spPr>
          <a:xfrm rot="16200000">
            <a:off x="179640" y="8704440"/>
            <a:ext cx="810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ffffff"/>
                </a:solidFill>
                <a:latin typeface="Inter"/>
                <a:ea typeface="Inter"/>
              </a:rPr>
              <a:t>A G R E E M E N T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"/>
          <p:cNvSpPr/>
          <p:nvPr/>
        </p:nvSpPr>
        <p:spPr>
          <a:xfrm>
            <a:off x="647640" y="866520"/>
            <a:ext cx="6267600" cy="9106200"/>
          </a:xfrm>
          <a:custGeom>
            <a:avLst/>
            <a:gdLst/>
            <a:ahLst/>
            <a:rect l="0" t="0" r="r" b="b"/>
            <a:pathLst>
              <a:path w="17410" h="25295">
                <a:moveTo>
                  <a:pt x="0" y="0"/>
                </a:moveTo>
                <a:lnTo>
                  <a:pt x="17410" y="0"/>
                </a:lnTo>
                <a:lnTo>
                  <a:pt x="17410" y="25295"/>
                </a:lnTo>
                <a:lnTo>
                  <a:pt x="0" y="252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647640" y="647280"/>
            <a:ext cx="12916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a26d8"/>
                </a:solidFill>
                <a:latin typeface="Inter"/>
                <a:ea typeface="Inter"/>
              </a:rPr>
              <a:t>SERVICE AGREEMENT · GFX-T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6038280" y="647280"/>
            <a:ext cx="9486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 B D - G F XT-2 0 2 6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6351120" y="10286640"/>
            <a:ext cx="4838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2 of 4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647640" y="111420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0" y="0"/>
                </a:moveTo>
                <a:lnTo>
                  <a:pt x="0" y="12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647640" y="1114200"/>
            <a:ext cx="8280" cy="8640"/>
          </a:xfrm>
          <a:custGeom>
            <a:avLst/>
            <a:gdLst/>
            <a:ahLst/>
            <a:rect l="0" t="0" r="r" b="b"/>
            <a:pathLst>
              <a:path w="23" h="24">
                <a:moveTo>
                  <a:pt x="11" y="0"/>
                </a:moveTo>
                <a:lnTo>
                  <a:pt x="0" y="11"/>
                </a:lnTo>
                <a:lnTo>
                  <a:pt x="0" y="24"/>
                </a:lnTo>
                <a:lnTo>
                  <a:pt x="23" y="0"/>
                </a:lnTo>
                <a:lnTo>
                  <a:pt x="11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647640" y="111420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23" y="0"/>
                </a:moveTo>
                <a:lnTo>
                  <a:pt x="0" y="24"/>
                </a:lnTo>
                <a:lnTo>
                  <a:pt x="0" y="35"/>
                </a:lnTo>
                <a:lnTo>
                  <a:pt x="35" y="0"/>
                </a:lnTo>
                <a:lnTo>
                  <a:pt x="23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647640" y="1114200"/>
            <a:ext cx="16560" cy="16920"/>
          </a:xfrm>
          <a:custGeom>
            <a:avLst/>
            <a:gdLst/>
            <a:ahLst/>
            <a:rect l="0" t="0" r="r" b="b"/>
            <a:pathLst>
              <a:path w="46" h="47">
                <a:moveTo>
                  <a:pt x="35" y="0"/>
                </a:moveTo>
                <a:lnTo>
                  <a:pt x="0" y="35"/>
                </a:lnTo>
                <a:lnTo>
                  <a:pt x="0" y="47"/>
                </a:lnTo>
                <a:lnTo>
                  <a:pt x="46" y="0"/>
                </a:lnTo>
                <a:lnTo>
                  <a:pt x="35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647640" y="11142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5" y="0"/>
                </a:moveTo>
                <a:lnTo>
                  <a:pt x="0" y="46"/>
                </a:lnTo>
                <a:lnTo>
                  <a:pt x="0" y="54"/>
                </a:lnTo>
                <a:lnTo>
                  <a:pt x="54" y="0"/>
                </a:lnTo>
                <a:lnTo>
                  <a:pt x="45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647640" y="1114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4" y="54"/>
                </a:lnTo>
                <a:lnTo>
                  <a:pt x="5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649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653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65700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661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6652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66924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673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6775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6818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858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68976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694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698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70200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706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7102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71424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718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72252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7268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7308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73476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739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743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74700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751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7552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7596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763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76752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7718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7758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77976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784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788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7923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796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80028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8046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808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81252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8168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8208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82476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82908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83304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8373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84132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845280" y="1114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84960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853560" y="1114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857520" y="111420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865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8679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870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871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8740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876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878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880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882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8841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886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888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8902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892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8946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8964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898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9007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9025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904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9068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909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910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9129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915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916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919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921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923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925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927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9291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931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933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9352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937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9396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9414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943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9457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947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949680" y="111420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9518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954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955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9579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960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961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964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966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968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970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972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9741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976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978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9802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982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9846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9867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988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9907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992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994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9968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999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1000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10029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1005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1006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1009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1011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1013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1015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1017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10191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1021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1023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10256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1027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10296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10317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1033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10357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1037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1039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10418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1044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1045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10479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1050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1051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1054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1056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10580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1060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10623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10645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1066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10684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10706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1072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10746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10767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1078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10807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1082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1084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10868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10890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10908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10929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10951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10969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10990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11012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110340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11052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11073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110952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11113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11134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111564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111744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111960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112176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112356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112572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1127880" y="1114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1129680" y="1114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1131840" y="1114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8" y="2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1134000" y="1114920"/>
            <a:ext cx="18720" cy="18720"/>
          </a:xfrm>
          <a:custGeom>
            <a:avLst/>
            <a:gdLst/>
            <a:ahLst/>
            <a:rect l="0" t="0" r="r" b="b"/>
            <a:pathLst>
              <a:path w="52" h="52">
                <a:moveTo>
                  <a:pt x="52" y="0"/>
                </a:moveTo>
                <a:lnTo>
                  <a:pt x="0" y="52"/>
                </a:lnTo>
                <a:lnTo>
                  <a:pt x="5" y="52"/>
                </a:lnTo>
                <a:lnTo>
                  <a:pt x="52" y="6"/>
                </a:lnTo>
                <a:lnTo>
                  <a:pt x="52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1135800" y="1117080"/>
            <a:ext cx="16920" cy="16560"/>
          </a:xfrm>
          <a:custGeom>
            <a:avLst/>
            <a:gdLst/>
            <a:ahLst/>
            <a:rect l="0" t="0" r="r" b="b"/>
            <a:pathLst>
              <a:path w="47" h="46">
                <a:moveTo>
                  <a:pt x="47" y="0"/>
                </a:moveTo>
                <a:lnTo>
                  <a:pt x="0" y="46"/>
                </a:lnTo>
                <a:lnTo>
                  <a:pt x="6" y="46"/>
                </a:lnTo>
                <a:lnTo>
                  <a:pt x="47" y="5"/>
                </a:lnTo>
                <a:lnTo>
                  <a:pt x="47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1137960" y="1118880"/>
            <a:ext cx="14760" cy="14760"/>
          </a:xfrm>
          <a:custGeom>
            <a:avLst/>
            <a:gdLst/>
            <a:ahLst/>
            <a:rect l="0" t="0" r="r" b="b"/>
            <a:pathLst>
              <a:path w="41" h="41">
                <a:moveTo>
                  <a:pt x="41" y="0"/>
                </a:moveTo>
                <a:lnTo>
                  <a:pt x="0" y="41"/>
                </a:lnTo>
                <a:lnTo>
                  <a:pt x="6" y="41"/>
                </a:lnTo>
                <a:lnTo>
                  <a:pt x="41" y="6"/>
                </a:lnTo>
                <a:lnTo>
                  <a:pt x="41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1140120" y="112104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35" y="0"/>
                </a:moveTo>
                <a:lnTo>
                  <a:pt x="0" y="35"/>
                </a:lnTo>
                <a:lnTo>
                  <a:pt x="6" y="35"/>
                </a:lnTo>
                <a:lnTo>
                  <a:pt x="35" y="6"/>
                </a:lnTo>
                <a:lnTo>
                  <a:pt x="35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1142280" y="1123200"/>
            <a:ext cx="10440" cy="10440"/>
          </a:xfrm>
          <a:custGeom>
            <a:avLst/>
            <a:gdLst/>
            <a:ahLst/>
            <a:rect l="0" t="0" r="r" b="b"/>
            <a:pathLst>
              <a:path w="29" h="29">
                <a:moveTo>
                  <a:pt x="29" y="0"/>
                </a:moveTo>
                <a:lnTo>
                  <a:pt x="0" y="29"/>
                </a:lnTo>
                <a:lnTo>
                  <a:pt x="6" y="29"/>
                </a:lnTo>
                <a:lnTo>
                  <a:pt x="29" y="6"/>
                </a:lnTo>
                <a:lnTo>
                  <a:pt x="29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1144080" y="1125000"/>
            <a:ext cx="9000" cy="8640"/>
          </a:xfrm>
          <a:custGeom>
            <a:avLst/>
            <a:gdLst/>
            <a:ahLst/>
            <a:rect l="0" t="0" r="r" b="b"/>
            <a:pathLst>
              <a:path w="25" h="24">
                <a:moveTo>
                  <a:pt x="25" y="0"/>
                </a:moveTo>
                <a:lnTo>
                  <a:pt x="0" y="24"/>
                </a:lnTo>
                <a:lnTo>
                  <a:pt x="7" y="24"/>
                </a:lnTo>
                <a:lnTo>
                  <a:pt x="25" y="6"/>
                </a:lnTo>
                <a:lnTo>
                  <a:pt x="25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1146240" y="112716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0"/>
                </a:moveTo>
                <a:lnTo>
                  <a:pt x="0" y="18"/>
                </a:lnTo>
                <a:lnTo>
                  <a:pt x="7" y="18"/>
                </a:lnTo>
                <a:lnTo>
                  <a:pt x="18" y="7"/>
                </a:lnTo>
                <a:lnTo>
                  <a:pt x="18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1148400" y="112932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12" y="0"/>
                </a:moveTo>
                <a:lnTo>
                  <a:pt x="0" y="12"/>
                </a:lnTo>
                <a:lnTo>
                  <a:pt x="5" y="12"/>
                </a:lnTo>
                <a:lnTo>
                  <a:pt x="12" y="6"/>
                </a:lnTo>
                <a:lnTo>
                  <a:pt x="12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1150200" y="11311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7" y="0"/>
                </a:moveTo>
                <a:lnTo>
                  <a:pt x="0" y="8"/>
                </a:lnTo>
                <a:lnTo>
                  <a:pt x="7" y="8"/>
                </a:lnTo>
                <a:lnTo>
                  <a:pt x="7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652320" y="1319040"/>
            <a:ext cx="3038760" cy="2038680"/>
          </a:xfrm>
          <a:custGeom>
            <a:avLst/>
            <a:gdLst/>
            <a:ahLst/>
            <a:rect l="0" t="0" r="r" b="b"/>
            <a:pathLst>
              <a:path w="8441" h="5663">
                <a:moveTo>
                  <a:pt x="0" y="5436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1"/>
                  <a:pt x="8259" y="4"/>
                </a:cubicBezTo>
                <a:cubicBezTo>
                  <a:pt x="8273" y="7"/>
                  <a:pt x="8287" y="12"/>
                  <a:pt x="8301" y="17"/>
                </a:cubicBezTo>
                <a:cubicBezTo>
                  <a:pt x="8315" y="23"/>
                  <a:pt x="8328" y="30"/>
                  <a:pt x="8340" y="38"/>
                </a:cubicBezTo>
                <a:cubicBezTo>
                  <a:pt x="8353" y="46"/>
                  <a:pt x="8364" y="56"/>
                  <a:pt x="8375" y="66"/>
                </a:cubicBezTo>
                <a:cubicBezTo>
                  <a:pt x="8385" y="77"/>
                  <a:pt x="8395" y="88"/>
                  <a:pt x="8403" y="101"/>
                </a:cubicBezTo>
                <a:cubicBezTo>
                  <a:pt x="8411" y="113"/>
                  <a:pt x="8418" y="126"/>
                  <a:pt x="8424" y="140"/>
                </a:cubicBezTo>
                <a:cubicBezTo>
                  <a:pt x="8430" y="154"/>
                  <a:pt x="8434" y="168"/>
                  <a:pt x="8437" y="183"/>
                </a:cubicBezTo>
                <a:cubicBezTo>
                  <a:pt x="8440" y="197"/>
                  <a:pt x="8441" y="212"/>
                  <a:pt x="8441" y="227"/>
                </a:cubicBezTo>
                <a:lnTo>
                  <a:pt x="8441" y="5436"/>
                </a:lnTo>
                <a:cubicBezTo>
                  <a:pt x="8441" y="5451"/>
                  <a:pt x="8440" y="5466"/>
                  <a:pt x="8437" y="5481"/>
                </a:cubicBezTo>
                <a:cubicBezTo>
                  <a:pt x="8434" y="5495"/>
                  <a:pt x="8430" y="5509"/>
                  <a:pt x="8424" y="5523"/>
                </a:cubicBezTo>
                <a:cubicBezTo>
                  <a:pt x="8418" y="5537"/>
                  <a:pt x="8411" y="5550"/>
                  <a:pt x="8403" y="5562"/>
                </a:cubicBezTo>
                <a:cubicBezTo>
                  <a:pt x="8395" y="5575"/>
                  <a:pt x="8385" y="5586"/>
                  <a:pt x="8375" y="5597"/>
                </a:cubicBezTo>
                <a:cubicBezTo>
                  <a:pt x="8364" y="5607"/>
                  <a:pt x="8353" y="5617"/>
                  <a:pt x="8340" y="5625"/>
                </a:cubicBezTo>
                <a:cubicBezTo>
                  <a:pt x="8328" y="5633"/>
                  <a:pt x="8315" y="5640"/>
                  <a:pt x="8301" y="5646"/>
                </a:cubicBezTo>
                <a:cubicBezTo>
                  <a:pt x="8287" y="5651"/>
                  <a:pt x="8273" y="5656"/>
                  <a:pt x="8259" y="5659"/>
                </a:cubicBezTo>
                <a:cubicBezTo>
                  <a:pt x="8244" y="5662"/>
                  <a:pt x="8229" y="5663"/>
                  <a:pt x="8214" y="5663"/>
                </a:cubicBezTo>
                <a:lnTo>
                  <a:pt x="227" y="5663"/>
                </a:lnTo>
                <a:cubicBezTo>
                  <a:pt x="212" y="5663"/>
                  <a:pt x="197" y="5662"/>
                  <a:pt x="182" y="5659"/>
                </a:cubicBezTo>
                <a:cubicBezTo>
                  <a:pt x="168" y="5656"/>
                  <a:pt x="154" y="5651"/>
                  <a:pt x="140" y="5646"/>
                </a:cubicBezTo>
                <a:cubicBezTo>
                  <a:pt x="126" y="5640"/>
                  <a:pt x="113" y="5633"/>
                  <a:pt x="101" y="5625"/>
                </a:cubicBezTo>
                <a:cubicBezTo>
                  <a:pt x="88" y="5617"/>
                  <a:pt x="77" y="5607"/>
                  <a:pt x="66" y="5597"/>
                </a:cubicBezTo>
                <a:cubicBezTo>
                  <a:pt x="56" y="5586"/>
                  <a:pt x="46" y="5575"/>
                  <a:pt x="38" y="5562"/>
                </a:cubicBezTo>
                <a:cubicBezTo>
                  <a:pt x="30" y="5550"/>
                  <a:pt x="23" y="5537"/>
                  <a:pt x="17" y="5523"/>
                </a:cubicBezTo>
                <a:cubicBezTo>
                  <a:pt x="11" y="5509"/>
                  <a:pt x="7" y="5495"/>
                  <a:pt x="4" y="5481"/>
                </a:cubicBezTo>
                <a:cubicBezTo>
                  <a:pt x="1" y="5466"/>
                  <a:pt x="0" y="5451"/>
                  <a:pt x="0" y="5436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652320" y="1319040"/>
            <a:ext cx="3038760" cy="2038680"/>
          </a:xfrm>
          <a:custGeom>
            <a:avLst/>
            <a:gdLst/>
            <a:ahLst/>
            <a:rect l="0" t="0" r="r" b="b"/>
            <a:pathLst>
              <a:path w="8441" h="5663">
                <a:moveTo>
                  <a:pt x="0" y="5436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1"/>
                  <a:pt x="8259" y="4"/>
                </a:cubicBezTo>
                <a:cubicBezTo>
                  <a:pt x="8273" y="7"/>
                  <a:pt x="8287" y="12"/>
                  <a:pt x="8301" y="17"/>
                </a:cubicBezTo>
                <a:cubicBezTo>
                  <a:pt x="8315" y="23"/>
                  <a:pt x="8328" y="30"/>
                  <a:pt x="8340" y="38"/>
                </a:cubicBezTo>
                <a:cubicBezTo>
                  <a:pt x="8353" y="46"/>
                  <a:pt x="8364" y="56"/>
                  <a:pt x="8375" y="66"/>
                </a:cubicBezTo>
                <a:cubicBezTo>
                  <a:pt x="8385" y="77"/>
                  <a:pt x="8395" y="88"/>
                  <a:pt x="8403" y="101"/>
                </a:cubicBezTo>
                <a:cubicBezTo>
                  <a:pt x="8411" y="113"/>
                  <a:pt x="8418" y="126"/>
                  <a:pt x="8424" y="140"/>
                </a:cubicBezTo>
                <a:cubicBezTo>
                  <a:pt x="8430" y="154"/>
                  <a:pt x="8434" y="168"/>
                  <a:pt x="8437" y="183"/>
                </a:cubicBezTo>
                <a:cubicBezTo>
                  <a:pt x="8440" y="197"/>
                  <a:pt x="8441" y="212"/>
                  <a:pt x="8441" y="227"/>
                </a:cubicBezTo>
                <a:lnTo>
                  <a:pt x="8441" y="5436"/>
                </a:lnTo>
                <a:cubicBezTo>
                  <a:pt x="8441" y="5451"/>
                  <a:pt x="8440" y="5466"/>
                  <a:pt x="8437" y="5481"/>
                </a:cubicBezTo>
                <a:cubicBezTo>
                  <a:pt x="8434" y="5495"/>
                  <a:pt x="8430" y="5509"/>
                  <a:pt x="8424" y="5523"/>
                </a:cubicBezTo>
                <a:cubicBezTo>
                  <a:pt x="8418" y="5537"/>
                  <a:pt x="8411" y="5550"/>
                  <a:pt x="8403" y="5562"/>
                </a:cubicBezTo>
                <a:cubicBezTo>
                  <a:pt x="8395" y="5575"/>
                  <a:pt x="8385" y="5586"/>
                  <a:pt x="8375" y="5597"/>
                </a:cubicBezTo>
                <a:cubicBezTo>
                  <a:pt x="8364" y="5607"/>
                  <a:pt x="8353" y="5617"/>
                  <a:pt x="8340" y="5625"/>
                </a:cubicBezTo>
                <a:cubicBezTo>
                  <a:pt x="8328" y="5633"/>
                  <a:pt x="8315" y="5640"/>
                  <a:pt x="8301" y="5646"/>
                </a:cubicBezTo>
                <a:cubicBezTo>
                  <a:pt x="8287" y="5651"/>
                  <a:pt x="8273" y="5656"/>
                  <a:pt x="8259" y="5659"/>
                </a:cubicBezTo>
                <a:cubicBezTo>
                  <a:pt x="8244" y="5662"/>
                  <a:pt x="8229" y="5663"/>
                  <a:pt x="8214" y="5663"/>
                </a:cubicBezTo>
                <a:lnTo>
                  <a:pt x="227" y="5663"/>
                </a:lnTo>
                <a:cubicBezTo>
                  <a:pt x="212" y="5663"/>
                  <a:pt x="197" y="5662"/>
                  <a:pt x="182" y="5659"/>
                </a:cubicBezTo>
                <a:cubicBezTo>
                  <a:pt x="168" y="5656"/>
                  <a:pt x="154" y="5651"/>
                  <a:pt x="140" y="5646"/>
                </a:cubicBezTo>
                <a:cubicBezTo>
                  <a:pt x="126" y="5640"/>
                  <a:pt x="113" y="5633"/>
                  <a:pt x="101" y="5625"/>
                </a:cubicBezTo>
                <a:cubicBezTo>
                  <a:pt x="88" y="5617"/>
                  <a:pt x="77" y="5607"/>
                  <a:pt x="66" y="5597"/>
                </a:cubicBezTo>
                <a:cubicBezTo>
                  <a:pt x="56" y="5586"/>
                  <a:pt x="46" y="5575"/>
                  <a:pt x="38" y="5562"/>
                </a:cubicBezTo>
                <a:cubicBezTo>
                  <a:pt x="30" y="5550"/>
                  <a:pt x="23" y="5537"/>
                  <a:pt x="17" y="5523"/>
                </a:cubicBezTo>
                <a:cubicBezTo>
                  <a:pt x="11" y="5509"/>
                  <a:pt x="7" y="5495"/>
                  <a:pt x="4" y="5481"/>
                </a:cubicBezTo>
                <a:cubicBezTo>
                  <a:pt x="1" y="5466"/>
                  <a:pt x="0" y="5451"/>
                  <a:pt x="0" y="5436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647640" y="879480"/>
            <a:ext cx="6026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P A R T I E S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837000" y="1517760"/>
            <a:ext cx="14227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S E R V I C E   P R O V I D E R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837000" y="1744200"/>
            <a:ext cx="10630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80" spc="-1" strike="noStrike">
                <a:solidFill>
                  <a:srgbClr val="0e0e14"/>
                </a:solidFill>
                <a:latin typeface="Inter-Semi"/>
                <a:ea typeface="Inter-Semi"/>
              </a:rPr>
              <a:t>OBD AI Solutions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1749960" y="1739520"/>
            <a:ext cx="122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("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1874160" y="1744200"/>
            <a:ext cx="2721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80" spc="-1" strike="noStrike">
                <a:solidFill>
                  <a:srgbClr val="0e0e14"/>
                </a:solidFill>
                <a:latin typeface="Inter-Semi"/>
                <a:ea typeface="Inter-Semi"/>
              </a:rPr>
              <a:t>OBD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2114280" y="1739520"/>
            <a:ext cx="111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")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837000" y="1958760"/>
            <a:ext cx="2335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An equal partnership, represented jointly by: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837000" y="2182320"/>
            <a:ext cx="11224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80" spc="-1" strike="noStrike">
                <a:solidFill>
                  <a:srgbClr val="0e0e14"/>
                </a:solidFill>
                <a:latin typeface="Inter-Semi"/>
                <a:ea typeface="Inter-Semi"/>
              </a:rPr>
              <a:t>Omer Bin Dawood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1803600" y="2177640"/>
            <a:ext cx="5022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, Founder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1180800" y="2523960"/>
            <a:ext cx="1619640" cy="9720"/>
          </a:xfrm>
          <a:custGeom>
            <a:avLst/>
            <a:gdLst/>
            <a:ahLst/>
            <a:rect l="0" t="0" r="r" b="b"/>
            <a:pathLst>
              <a:path w="4499" h="27">
                <a:moveTo>
                  <a:pt x="0" y="0"/>
                </a:moveTo>
                <a:lnTo>
                  <a:pt x="4499" y="0"/>
                </a:lnTo>
                <a:lnTo>
                  <a:pt x="44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837000" y="2358720"/>
            <a:ext cx="401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CNIC </a:t>
            </a:r>
            <a:r>
              <a:rPr b="0" lang="en-US" sz="880" spc="-1" strike="noStrike">
                <a:solidFill>
                  <a:srgbClr val="0e0e14"/>
                </a:solidFill>
                <a:latin typeface="Inter"/>
                <a:ea typeface="Inter"/>
              </a:rPr>
              <a:t>  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837000" y="2592000"/>
            <a:ext cx="5767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80" spc="-1" strike="noStrike">
                <a:solidFill>
                  <a:srgbClr val="0e0e14"/>
                </a:solidFill>
                <a:latin typeface="Inter-Semi"/>
                <a:ea typeface="Inter-Semi"/>
              </a:rPr>
              <a:t>Hira Baig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1321920" y="2587320"/>
            <a:ext cx="1037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, Managing Director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1180800" y="2933640"/>
            <a:ext cx="1619640" cy="9720"/>
          </a:xfrm>
          <a:custGeom>
            <a:avLst/>
            <a:gdLst/>
            <a:ahLst/>
            <a:rect l="0" t="0" r="r" b="b"/>
            <a:pathLst>
              <a:path w="4499" h="27">
                <a:moveTo>
                  <a:pt x="0" y="0"/>
                </a:moveTo>
                <a:lnTo>
                  <a:pt x="4499" y="0"/>
                </a:lnTo>
                <a:lnTo>
                  <a:pt x="44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837000" y="2768400"/>
            <a:ext cx="401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CNIC </a:t>
            </a:r>
            <a:r>
              <a:rPr b="0" lang="en-US" sz="880" spc="-1" strike="noStrike">
                <a:solidFill>
                  <a:srgbClr val="0e0e14"/>
                </a:solidFill>
                <a:latin typeface="Inter"/>
                <a:ea typeface="Inter"/>
              </a:rPr>
              <a:t>  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3871800" y="1319040"/>
            <a:ext cx="3038760" cy="2038680"/>
          </a:xfrm>
          <a:custGeom>
            <a:avLst/>
            <a:gdLst/>
            <a:ahLst/>
            <a:rect l="0" t="0" r="r" b="b"/>
            <a:pathLst>
              <a:path w="8441" h="5663">
                <a:moveTo>
                  <a:pt x="0" y="5436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1"/>
                  <a:pt x="8258" y="4"/>
                </a:cubicBezTo>
                <a:cubicBezTo>
                  <a:pt x="8273" y="7"/>
                  <a:pt x="8287" y="12"/>
                  <a:pt x="8301" y="17"/>
                </a:cubicBezTo>
                <a:cubicBezTo>
                  <a:pt x="8315" y="23"/>
                  <a:pt x="8328" y="30"/>
                  <a:pt x="8340" y="38"/>
                </a:cubicBezTo>
                <a:cubicBezTo>
                  <a:pt x="8353" y="46"/>
                  <a:pt x="8364" y="56"/>
                  <a:pt x="8375" y="66"/>
                </a:cubicBezTo>
                <a:cubicBezTo>
                  <a:pt x="8385" y="77"/>
                  <a:pt x="8395" y="88"/>
                  <a:pt x="8403" y="101"/>
                </a:cubicBezTo>
                <a:cubicBezTo>
                  <a:pt x="8411" y="113"/>
                  <a:pt x="8418" y="126"/>
                  <a:pt x="8424" y="140"/>
                </a:cubicBezTo>
                <a:cubicBezTo>
                  <a:pt x="8429" y="154"/>
                  <a:pt x="8434" y="168"/>
                  <a:pt x="8437" y="183"/>
                </a:cubicBezTo>
                <a:cubicBezTo>
                  <a:pt x="8440" y="197"/>
                  <a:pt x="8441" y="212"/>
                  <a:pt x="8441" y="227"/>
                </a:cubicBezTo>
                <a:lnTo>
                  <a:pt x="8441" y="5436"/>
                </a:lnTo>
                <a:cubicBezTo>
                  <a:pt x="8441" y="5451"/>
                  <a:pt x="8440" y="5466"/>
                  <a:pt x="8437" y="5481"/>
                </a:cubicBezTo>
                <a:cubicBezTo>
                  <a:pt x="8434" y="5495"/>
                  <a:pt x="8429" y="5509"/>
                  <a:pt x="8424" y="5523"/>
                </a:cubicBezTo>
                <a:cubicBezTo>
                  <a:pt x="8418" y="5537"/>
                  <a:pt x="8411" y="5550"/>
                  <a:pt x="8403" y="5562"/>
                </a:cubicBezTo>
                <a:cubicBezTo>
                  <a:pt x="8395" y="5575"/>
                  <a:pt x="8385" y="5586"/>
                  <a:pt x="8375" y="5597"/>
                </a:cubicBezTo>
                <a:cubicBezTo>
                  <a:pt x="8364" y="5607"/>
                  <a:pt x="8353" y="5617"/>
                  <a:pt x="8340" y="5625"/>
                </a:cubicBezTo>
                <a:cubicBezTo>
                  <a:pt x="8328" y="5633"/>
                  <a:pt x="8315" y="5640"/>
                  <a:pt x="8301" y="5646"/>
                </a:cubicBezTo>
                <a:cubicBezTo>
                  <a:pt x="8287" y="5651"/>
                  <a:pt x="8273" y="5656"/>
                  <a:pt x="8258" y="5659"/>
                </a:cubicBezTo>
                <a:cubicBezTo>
                  <a:pt x="8244" y="5662"/>
                  <a:pt x="8229" y="5663"/>
                  <a:pt x="8214" y="5663"/>
                </a:cubicBezTo>
                <a:lnTo>
                  <a:pt x="227" y="5663"/>
                </a:lnTo>
                <a:cubicBezTo>
                  <a:pt x="212" y="5663"/>
                  <a:pt x="197" y="5662"/>
                  <a:pt x="182" y="5659"/>
                </a:cubicBezTo>
                <a:cubicBezTo>
                  <a:pt x="168" y="5656"/>
                  <a:pt x="154" y="5651"/>
                  <a:pt x="140" y="5646"/>
                </a:cubicBezTo>
                <a:cubicBezTo>
                  <a:pt x="126" y="5640"/>
                  <a:pt x="113" y="5633"/>
                  <a:pt x="101" y="5625"/>
                </a:cubicBezTo>
                <a:cubicBezTo>
                  <a:pt x="88" y="5617"/>
                  <a:pt x="77" y="5607"/>
                  <a:pt x="66" y="5597"/>
                </a:cubicBezTo>
                <a:cubicBezTo>
                  <a:pt x="56" y="5586"/>
                  <a:pt x="46" y="5575"/>
                  <a:pt x="38" y="5562"/>
                </a:cubicBezTo>
                <a:cubicBezTo>
                  <a:pt x="30" y="5550"/>
                  <a:pt x="23" y="5537"/>
                  <a:pt x="17" y="5523"/>
                </a:cubicBezTo>
                <a:cubicBezTo>
                  <a:pt x="11" y="5509"/>
                  <a:pt x="7" y="5495"/>
                  <a:pt x="4" y="5481"/>
                </a:cubicBezTo>
                <a:cubicBezTo>
                  <a:pt x="1" y="5466"/>
                  <a:pt x="0" y="5451"/>
                  <a:pt x="0" y="5436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3871800" y="1319040"/>
            <a:ext cx="3038760" cy="2038680"/>
          </a:xfrm>
          <a:custGeom>
            <a:avLst/>
            <a:gdLst/>
            <a:ahLst/>
            <a:rect l="0" t="0" r="r" b="b"/>
            <a:pathLst>
              <a:path w="8441" h="5663">
                <a:moveTo>
                  <a:pt x="0" y="5436"/>
                </a:moveTo>
                <a:lnTo>
                  <a:pt x="0" y="227"/>
                </a:ln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2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1"/>
                  <a:pt x="8258" y="4"/>
                </a:cubicBezTo>
                <a:cubicBezTo>
                  <a:pt x="8273" y="7"/>
                  <a:pt x="8287" y="12"/>
                  <a:pt x="8301" y="17"/>
                </a:cubicBezTo>
                <a:cubicBezTo>
                  <a:pt x="8315" y="23"/>
                  <a:pt x="8328" y="30"/>
                  <a:pt x="8340" y="38"/>
                </a:cubicBezTo>
                <a:cubicBezTo>
                  <a:pt x="8353" y="46"/>
                  <a:pt x="8364" y="56"/>
                  <a:pt x="8375" y="66"/>
                </a:cubicBezTo>
                <a:cubicBezTo>
                  <a:pt x="8385" y="77"/>
                  <a:pt x="8395" y="88"/>
                  <a:pt x="8403" y="101"/>
                </a:cubicBezTo>
                <a:cubicBezTo>
                  <a:pt x="8411" y="113"/>
                  <a:pt x="8418" y="126"/>
                  <a:pt x="8424" y="140"/>
                </a:cubicBezTo>
                <a:cubicBezTo>
                  <a:pt x="8429" y="154"/>
                  <a:pt x="8434" y="168"/>
                  <a:pt x="8437" y="183"/>
                </a:cubicBezTo>
                <a:cubicBezTo>
                  <a:pt x="8440" y="197"/>
                  <a:pt x="8441" y="212"/>
                  <a:pt x="8441" y="227"/>
                </a:cubicBezTo>
                <a:lnTo>
                  <a:pt x="8441" y="5436"/>
                </a:lnTo>
                <a:cubicBezTo>
                  <a:pt x="8441" y="5451"/>
                  <a:pt x="8440" y="5466"/>
                  <a:pt x="8437" y="5481"/>
                </a:cubicBezTo>
                <a:cubicBezTo>
                  <a:pt x="8434" y="5495"/>
                  <a:pt x="8429" y="5509"/>
                  <a:pt x="8424" y="5523"/>
                </a:cubicBezTo>
                <a:cubicBezTo>
                  <a:pt x="8418" y="5537"/>
                  <a:pt x="8411" y="5550"/>
                  <a:pt x="8403" y="5562"/>
                </a:cubicBezTo>
                <a:cubicBezTo>
                  <a:pt x="8395" y="5575"/>
                  <a:pt x="8385" y="5586"/>
                  <a:pt x="8375" y="5597"/>
                </a:cubicBezTo>
                <a:cubicBezTo>
                  <a:pt x="8364" y="5607"/>
                  <a:pt x="8353" y="5617"/>
                  <a:pt x="8340" y="5625"/>
                </a:cubicBezTo>
                <a:cubicBezTo>
                  <a:pt x="8328" y="5633"/>
                  <a:pt x="8315" y="5640"/>
                  <a:pt x="8301" y="5646"/>
                </a:cubicBezTo>
                <a:cubicBezTo>
                  <a:pt x="8287" y="5651"/>
                  <a:pt x="8273" y="5656"/>
                  <a:pt x="8258" y="5659"/>
                </a:cubicBezTo>
                <a:cubicBezTo>
                  <a:pt x="8244" y="5662"/>
                  <a:pt x="8229" y="5663"/>
                  <a:pt x="8214" y="5663"/>
                </a:cubicBezTo>
                <a:lnTo>
                  <a:pt x="227" y="5663"/>
                </a:lnTo>
                <a:cubicBezTo>
                  <a:pt x="212" y="5663"/>
                  <a:pt x="197" y="5662"/>
                  <a:pt x="182" y="5659"/>
                </a:cubicBezTo>
                <a:cubicBezTo>
                  <a:pt x="168" y="5656"/>
                  <a:pt x="154" y="5651"/>
                  <a:pt x="140" y="5646"/>
                </a:cubicBezTo>
                <a:cubicBezTo>
                  <a:pt x="126" y="5640"/>
                  <a:pt x="113" y="5633"/>
                  <a:pt x="101" y="5625"/>
                </a:cubicBezTo>
                <a:cubicBezTo>
                  <a:pt x="88" y="5617"/>
                  <a:pt x="77" y="5607"/>
                  <a:pt x="66" y="5597"/>
                </a:cubicBezTo>
                <a:cubicBezTo>
                  <a:pt x="56" y="5586"/>
                  <a:pt x="46" y="5575"/>
                  <a:pt x="38" y="5562"/>
                </a:cubicBezTo>
                <a:cubicBezTo>
                  <a:pt x="30" y="5550"/>
                  <a:pt x="23" y="5537"/>
                  <a:pt x="17" y="5523"/>
                </a:cubicBezTo>
                <a:cubicBezTo>
                  <a:pt x="11" y="5509"/>
                  <a:pt x="7" y="5495"/>
                  <a:pt x="4" y="5481"/>
                </a:cubicBezTo>
                <a:cubicBezTo>
                  <a:pt x="1" y="5466"/>
                  <a:pt x="0" y="5451"/>
                  <a:pt x="0" y="5436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837000" y="2997000"/>
            <a:ext cx="872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Lahore, Pakistan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4060800" y="1517760"/>
            <a:ext cx="5022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C L I E N 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4060800" y="1744200"/>
            <a:ext cx="3801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80" spc="-1" strike="noStrike">
                <a:solidFill>
                  <a:srgbClr val="0e0e14"/>
                </a:solidFill>
                <a:latin typeface="Inter-Semi"/>
                <a:ea typeface="Inter-Semi"/>
              </a:rPr>
              <a:t>GFXT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4403520" y="1739520"/>
            <a:ext cx="1227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("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4527360" y="1744200"/>
            <a:ext cx="6120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80" spc="-1" strike="noStrike">
                <a:solidFill>
                  <a:srgbClr val="0e0e14"/>
                </a:solidFill>
                <a:latin typeface="Inter-Semi"/>
                <a:ea typeface="Inter-Semi"/>
              </a:rPr>
              <a:t>the Client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5043960" y="1739520"/>
            <a:ext cx="111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")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4924080" y="2124000"/>
            <a:ext cx="1800720" cy="9720"/>
          </a:xfrm>
          <a:custGeom>
            <a:avLst/>
            <a:gdLst/>
            <a:ahLst/>
            <a:rect l="0" t="0" r="r" b="b"/>
            <a:pathLst>
              <a:path w="5002" h="27">
                <a:moveTo>
                  <a:pt x="0" y="0"/>
                </a:moveTo>
                <a:lnTo>
                  <a:pt x="5002" y="0"/>
                </a:lnTo>
                <a:lnTo>
                  <a:pt x="50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4060800" y="1958760"/>
            <a:ext cx="925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Represented by </a:t>
            </a:r>
            <a:r>
              <a:rPr b="0" lang="en-US" sz="880" spc="-1" strike="noStrike">
                <a:solidFill>
                  <a:srgbClr val="0e0e14"/>
                </a:solidFill>
                <a:latin typeface="Inter"/>
                <a:ea typeface="Inter"/>
              </a:rPr>
              <a:t>  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4060800" y="2187360"/>
            <a:ext cx="1948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677B, Faisal Town, Lahore, Pakistan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4743360" y="2571480"/>
            <a:ext cx="1619640" cy="10080"/>
          </a:xfrm>
          <a:custGeom>
            <a:avLst/>
            <a:gdLst/>
            <a:ahLst/>
            <a:rect l="0" t="0" r="r" b="b"/>
            <a:pathLst>
              <a:path w="4499" h="28">
                <a:moveTo>
                  <a:pt x="0" y="0"/>
                </a:moveTo>
                <a:lnTo>
                  <a:pt x="4499" y="0"/>
                </a:lnTo>
                <a:lnTo>
                  <a:pt x="44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4060800" y="2415960"/>
            <a:ext cx="744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80" spc="-1" strike="noStrike">
                <a:solidFill>
                  <a:srgbClr val="2a2934"/>
                </a:solidFill>
                <a:latin typeface="Inter"/>
                <a:ea typeface="Inter"/>
              </a:rPr>
              <a:t>CNIC / NTN </a:t>
            </a:r>
            <a:r>
              <a:rPr b="0" lang="en-US" sz="880" spc="-1" strike="noStrike">
                <a:solidFill>
                  <a:srgbClr val="0e0e14"/>
                </a:solidFill>
                <a:latin typeface="Inter"/>
                <a:ea typeface="Inter"/>
              </a:rPr>
              <a:t>  </a:t>
            </a:r>
            <a:endParaRPr b="0" lang="en-US" sz="8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647640" y="3563640"/>
            <a:ext cx="1841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This agreement is effective from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2464560" y="3568320"/>
            <a:ext cx="1299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25 September 2026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3584520" y="3563640"/>
            <a:ext cx="2064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and covers the GFXT website (the "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5618520" y="3568320"/>
            <a:ext cx="538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Website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6077160" y="3563640"/>
            <a:ext cx="131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").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647640" y="3863520"/>
            <a:ext cx="1424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1.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Scope of services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647640" y="5968800"/>
            <a:ext cx="1494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2.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Fees and payment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647640" y="8073720"/>
            <a:ext cx="3579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3.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Third-party services and ownership of accounts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971640" y="4120560"/>
            <a:ext cx="9241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Development.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1756440" y="4115880"/>
            <a:ext cx="5160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OBD has designed and developed the Website Home, About Us, Services, Portfolio, Clients,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971640" y="4296960"/>
            <a:ext cx="5951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Our Management, Contact Us) using the company profile, content, photos and logos supplied by the Client,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971640" y="4487400"/>
            <a:ext cx="26798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and will complete the final details before launch.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647640" y="4106520"/>
            <a:ext cx="1180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971640" y="4730400"/>
            <a:ext cx="844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Deployment.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1689840" y="4725720"/>
            <a:ext cx="51624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OBD will configure the domain and DNS, set up hosting, install an SSL certificate, publish the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971640" y="4916160"/>
            <a:ext cx="1325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Website, and configure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2280960" y="4920840"/>
            <a:ext cx="1884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one 1) professional mailbox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3857040" y="4916160"/>
            <a:ext cx="1689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on one phone and one laptop.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647640" y="4716360"/>
            <a:ext cx="1393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971640" y="5168520"/>
            <a:ext cx="1075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Launch support.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1895400" y="5163840"/>
            <a:ext cx="28598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OBD will fix any defects in its work reported within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4731480" y="5168520"/>
            <a:ext cx="5144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14 days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5158800" y="5163840"/>
            <a:ext cx="1363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of go-live, at no charge.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647640" y="5154480"/>
            <a:ext cx="1393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1.3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971640" y="5401800"/>
            <a:ext cx="58208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New pages, features, redesigns and ongoing maintenance are outside this scope. OBD will quote them in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971640" y="5592240"/>
            <a:ext cx="34434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writing and will begin only after the Client approves the quote.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647640" y="5392440"/>
            <a:ext cx="1425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1.4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971640" y="6220800"/>
            <a:ext cx="1340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The development fee is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2296440" y="6225840"/>
            <a:ext cx="7610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PKR 15,000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2942280" y="6220800"/>
            <a:ext cx="3557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(standard rate PKR 25,000, payable on signing this agreement.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647640" y="6211800"/>
            <a:ext cx="1393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2.1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971640" y="6459120"/>
            <a:ext cx="3053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The  deployment  fee  (standard  rate  PKR  25,000)  is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3930480" y="6463800"/>
            <a:ext cx="969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waived  in  full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4714200" y="6459120"/>
            <a:ext cx="22928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,  as  the  deployment  charges  were  not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971640" y="6649560"/>
            <a:ext cx="2685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communicated clearly to the Client at the outset.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647640" y="6449760"/>
            <a:ext cx="1609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2.2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971640" y="6901920"/>
            <a:ext cx="2571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Additional professional email accounts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3178440" y="6897240"/>
            <a:ext cx="2349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, beyond the one included, are charged at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5576760" y="6901920"/>
            <a:ext cx="1504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PKR 1,500 per account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6881400" y="6897240"/>
            <a:ext cx="116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,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971640" y="7078320"/>
            <a:ext cx="61700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payable  to  OBD  at  the  time  of  setup.  The  mailbox  subscription  for  every  account  is  paid  by  the  Client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971640" y="7268760"/>
            <a:ext cx="1622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directly to the email provider.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647640" y="6887880"/>
            <a:ext cx="1623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2.3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971640" y="7506720"/>
            <a:ext cx="60022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Payment  may  be  made  by  bank  transfer,  Easypaisa  or  JazzCash.  OBD  will  issue  a  receipt  for  every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971640" y="7697520"/>
            <a:ext cx="515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payment.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647640" y="7497720"/>
            <a:ext cx="16524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2.4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971640" y="8326080"/>
            <a:ext cx="5925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The domain, hosting and email subscriptions are purchased by the Client directly from the providers, in the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971640" y="8506800"/>
            <a:ext cx="4694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Client's name, with OBD's guidance. OBD charges no commission on these services.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647640" y="8316720"/>
            <a:ext cx="1393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3.1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971640" y="8754480"/>
            <a:ext cx="59076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The Client owns these accounts and is responsible for their renewal fees. Indicative costs: Domain 1 year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971640" y="8935560"/>
            <a:ext cx="59716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approx.  ~  PKR  3,000;  Hosting  1  year  approx.  ~  PKR  7,000;  mailbox  subscription:  as  per  the  email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971640" y="9126000"/>
            <a:ext cx="10094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provider's pricing.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647640" y="8745480"/>
            <a:ext cx="1623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3.2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971640" y="9373680"/>
            <a:ext cx="61135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OBD  will  hand  over  all  account  access  at  launch.  The  Client  may  change  passwords  or  revoke  OBD's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971640" y="9554760"/>
            <a:ext cx="10692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access at any time.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647640" y="9364320"/>
            <a:ext cx="1623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3.3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"/>
          <p:cNvSpPr/>
          <p:nvPr/>
        </p:nvSpPr>
        <p:spPr>
          <a:xfrm>
            <a:off x="647640" y="866520"/>
            <a:ext cx="6267600" cy="9106200"/>
          </a:xfrm>
          <a:custGeom>
            <a:avLst/>
            <a:gdLst/>
            <a:ahLst/>
            <a:rect l="0" t="0" r="r" b="b"/>
            <a:pathLst>
              <a:path w="17410" h="25295">
                <a:moveTo>
                  <a:pt x="0" y="0"/>
                </a:moveTo>
                <a:lnTo>
                  <a:pt x="17410" y="0"/>
                </a:lnTo>
                <a:lnTo>
                  <a:pt x="17410" y="25295"/>
                </a:lnTo>
                <a:lnTo>
                  <a:pt x="0" y="252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647640" y="647280"/>
            <a:ext cx="12916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a26d8"/>
                </a:solidFill>
                <a:latin typeface="Inter"/>
                <a:ea typeface="Inter"/>
              </a:rPr>
              <a:t>SERVICE AGREEMENT · GFX-T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6038280" y="647280"/>
            <a:ext cx="9486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 B D - G F XT-2 0 2 6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6350400" y="10286640"/>
            <a:ext cx="4838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3 of 4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647640" y="891720"/>
            <a:ext cx="1735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4.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Client responsibilities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647640" y="1758600"/>
            <a:ext cx="941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5.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Ownership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647640" y="2835000"/>
            <a:ext cx="1229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6.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Confidentiality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647640" y="3463560"/>
            <a:ext cx="752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7.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Liability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647640" y="4520880"/>
            <a:ext cx="593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8.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Taxes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647640" y="5330520"/>
            <a:ext cx="1046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9.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Termination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647640" y="6568560"/>
            <a:ext cx="2256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10.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Governing law and disputes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647640" y="7378200"/>
            <a:ext cx="823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00" spc="-1" strike="noStrike">
                <a:solidFill>
                  <a:srgbClr val="6a26d8"/>
                </a:solidFill>
                <a:latin typeface="Inter-Semi"/>
                <a:ea typeface="Inter-Semi"/>
              </a:rPr>
              <a:t>11. </a:t>
            </a:r>
            <a:r>
              <a:rPr b="1" lang="en-US" sz="1000" spc="-1" strike="noStrike">
                <a:solidFill>
                  <a:srgbClr val="0e0e14"/>
                </a:solidFill>
                <a:latin typeface="Inter-Semi"/>
                <a:ea typeface="Inter-Semi"/>
              </a:rPr>
              <a:t>General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971640" y="1144080"/>
            <a:ext cx="5904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The Client will provide timely feedback, approvals and account access. Delays may affect the launch date.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647640" y="1134720"/>
            <a:ext cx="1425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4.1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971640" y="1391760"/>
            <a:ext cx="5607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The Client confirms that it has the right to use all content, images and logos supplied for the Website.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647640" y="1382400"/>
            <a:ext cx="16524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4.2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971640" y="2010960"/>
            <a:ext cx="5790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On full payment of the fees due, ownership of the Website's design, content and custom code passes to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971640" y="2201400"/>
            <a:ext cx="5616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the Client.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647640" y="2001600"/>
            <a:ext cx="1378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5.1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4967280" y="2452680"/>
            <a:ext cx="123840" cy="123840"/>
          </a:xfrm>
          <a:custGeom>
            <a:avLst/>
            <a:gdLst/>
            <a:ahLst/>
            <a:rect l="0" t="0" r="r" b="b"/>
            <a:pathLst>
              <a:path w="344" h="344">
                <a:moveTo>
                  <a:pt x="0" y="298"/>
                </a:moveTo>
                <a:lnTo>
                  <a:pt x="0" y="46"/>
                </a:lnTo>
                <a:cubicBezTo>
                  <a:pt x="0" y="40"/>
                  <a:pt x="1" y="34"/>
                  <a:pt x="3" y="28"/>
                </a:cubicBezTo>
                <a:cubicBezTo>
                  <a:pt x="5" y="23"/>
                  <a:pt x="9" y="18"/>
                  <a:pt x="13" y="13"/>
                </a:cubicBezTo>
                <a:cubicBezTo>
                  <a:pt x="18" y="9"/>
                  <a:pt x="23" y="5"/>
                  <a:pt x="28" y="3"/>
                </a:cubicBezTo>
                <a:cubicBezTo>
                  <a:pt x="34" y="1"/>
                  <a:pt x="40" y="0"/>
                  <a:pt x="46" y="0"/>
                </a:cubicBezTo>
                <a:lnTo>
                  <a:pt x="298" y="0"/>
                </a:lnTo>
                <a:cubicBezTo>
                  <a:pt x="304" y="0"/>
                  <a:pt x="310" y="1"/>
                  <a:pt x="316" y="3"/>
                </a:cubicBezTo>
                <a:cubicBezTo>
                  <a:pt x="321" y="5"/>
                  <a:pt x="326" y="9"/>
                  <a:pt x="331" y="13"/>
                </a:cubicBezTo>
                <a:cubicBezTo>
                  <a:pt x="335" y="18"/>
                  <a:pt x="339" y="23"/>
                  <a:pt x="341" y="28"/>
                </a:cubicBezTo>
                <a:cubicBezTo>
                  <a:pt x="343" y="34"/>
                  <a:pt x="344" y="40"/>
                  <a:pt x="344" y="46"/>
                </a:cubicBezTo>
                <a:lnTo>
                  <a:pt x="344" y="298"/>
                </a:lnTo>
                <a:cubicBezTo>
                  <a:pt x="344" y="304"/>
                  <a:pt x="343" y="310"/>
                  <a:pt x="341" y="316"/>
                </a:cubicBezTo>
                <a:cubicBezTo>
                  <a:pt x="339" y="321"/>
                  <a:pt x="335" y="326"/>
                  <a:pt x="331" y="331"/>
                </a:cubicBezTo>
                <a:cubicBezTo>
                  <a:pt x="326" y="335"/>
                  <a:pt x="321" y="339"/>
                  <a:pt x="316" y="341"/>
                </a:cubicBezTo>
                <a:cubicBezTo>
                  <a:pt x="310" y="343"/>
                  <a:pt x="304" y="344"/>
                  <a:pt x="298" y="344"/>
                </a:cubicBezTo>
                <a:lnTo>
                  <a:pt x="46" y="344"/>
                </a:lnTo>
                <a:cubicBezTo>
                  <a:pt x="40" y="344"/>
                  <a:pt x="34" y="343"/>
                  <a:pt x="28" y="341"/>
                </a:cubicBezTo>
                <a:cubicBezTo>
                  <a:pt x="23" y="339"/>
                  <a:pt x="18" y="335"/>
                  <a:pt x="13" y="331"/>
                </a:cubicBezTo>
                <a:cubicBezTo>
                  <a:pt x="9" y="326"/>
                  <a:pt x="5" y="321"/>
                  <a:pt x="3" y="316"/>
                </a:cubicBezTo>
                <a:cubicBezTo>
                  <a:pt x="1" y="310"/>
                  <a:pt x="0" y="304"/>
                  <a:pt x="0" y="298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971640" y="2462400"/>
            <a:ext cx="40392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OBD may reference the Website in its portfolio unless the Client objects: 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5167080" y="2441880"/>
            <a:ext cx="15843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The Client does not consent.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647640" y="2430360"/>
            <a:ext cx="1591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5.2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971640" y="3087360"/>
            <a:ext cx="5462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Each party will keep the other's business information, pricing and account credentials confidential.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647640" y="3078000"/>
            <a:ext cx="140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6.1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971640" y="3715920"/>
            <a:ext cx="6005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OBD  will  perform  the  services  with  reasonable  skill  and  care.  OBD  is  not  responsible  for  outages  or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971640" y="3897000"/>
            <a:ext cx="4563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changes made by third-party providers, but will assist the Client in resolving them.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647640" y="3706560"/>
            <a:ext cx="1350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7.1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971640" y="4144680"/>
            <a:ext cx="44431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OBD's total liability under this agreement is limited to the fees paid by the Client.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647640" y="4135320"/>
            <a:ext cx="15624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7.2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971640" y="4773240"/>
            <a:ext cx="59565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Each party is responsible for its own taxes under the laws of Pakistan. Where the Client withholds tax, it will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971640" y="4954320"/>
            <a:ext cx="2286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provide OBD with the relevant certificate.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647640" y="4763880"/>
            <a:ext cx="1393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8.1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971640" y="5582880"/>
            <a:ext cx="61743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Either  party  may  terminate  this  agreement  with  fourteen  14)  days'  written  notice,  including  by  email  or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971640" y="5763600"/>
            <a:ext cx="6102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WhatsApp.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647640" y="5573520"/>
            <a:ext cx="1407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9.1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971640" y="6011280"/>
            <a:ext cx="6044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Fees  for  work  already  completed  are  non-refundable.  On  termination,  OBD  will  hand  over  all  account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971640" y="6202080"/>
            <a:ext cx="38077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access and a copy of the Website once outstanding fees are settled.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647640" y="6002280"/>
            <a:ext cx="1623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9.2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971640" y="6820920"/>
            <a:ext cx="6168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The  parties  will  first  seek  to  resolve  any  dispute  amicably.  This  agreement  is  governed  by  the  laws  of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971640" y="7011720"/>
            <a:ext cx="3091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Pakistan, and the courts of Lahore will have jurisdiction.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647640" y="6811920"/>
            <a:ext cx="18504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10.1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1" name=""/>
          <p:cNvSpPr txBox="1"/>
          <p:nvPr/>
        </p:nvSpPr>
        <p:spPr>
          <a:xfrm>
            <a:off x="971640" y="7630560"/>
            <a:ext cx="61898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This  agreement  supersedes  all  previous  discussions  about  this  project.  Any  changes  must  be  agreed  in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2" name=""/>
          <p:cNvSpPr txBox="1"/>
          <p:nvPr/>
        </p:nvSpPr>
        <p:spPr>
          <a:xfrm>
            <a:off x="971640" y="7821000"/>
            <a:ext cx="4749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writing, and written confirmation from both parties by email or WhatsApp is sufficient.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647640" y="7621560"/>
            <a:ext cx="16092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11.1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971640" y="8059320"/>
            <a:ext cx="6131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This  agreement  may  be  signed  on  paper  or  electronically  under  the  Electronic  Transactions  Ordinance,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971640" y="8249760"/>
            <a:ext cx="2109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2002. Each signed copy is an original.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647640" y="8049960"/>
            <a:ext cx="18216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39" spc="-1" strike="noStrike">
                <a:solidFill>
                  <a:srgbClr val="6b6878"/>
                </a:solidFill>
                <a:latin typeface="Inter"/>
                <a:ea typeface="Inter"/>
              </a:rPr>
              <a:t>11.2</a:t>
            </a:r>
            <a:endParaRPr b="0" lang="en-US" sz="839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"/>
          <p:cNvSpPr/>
          <p:nvPr/>
        </p:nvSpPr>
        <p:spPr>
          <a:xfrm>
            <a:off x="647640" y="866520"/>
            <a:ext cx="6267600" cy="9106200"/>
          </a:xfrm>
          <a:custGeom>
            <a:avLst/>
            <a:gdLst/>
            <a:ahLst/>
            <a:rect l="0" t="0" r="r" b="b"/>
            <a:pathLst>
              <a:path w="17410" h="25295">
                <a:moveTo>
                  <a:pt x="0" y="0"/>
                </a:moveTo>
                <a:lnTo>
                  <a:pt x="17410" y="0"/>
                </a:lnTo>
                <a:lnTo>
                  <a:pt x="17410" y="25295"/>
                </a:lnTo>
                <a:lnTo>
                  <a:pt x="0" y="252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647640" y="647280"/>
            <a:ext cx="12916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a26d8"/>
                </a:solidFill>
                <a:latin typeface="Inter"/>
                <a:ea typeface="Inter"/>
              </a:rPr>
              <a:t>SERVICE AGREEMENT · GFX-T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6038280" y="647280"/>
            <a:ext cx="9486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 B D - G F XT-2 0 2 6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0" name=""/>
          <p:cNvSpPr txBox="1"/>
          <p:nvPr/>
        </p:nvSpPr>
        <p:spPr>
          <a:xfrm>
            <a:off x="6347880" y="10286640"/>
            <a:ext cx="4867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4 of 4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647640" y="1438200"/>
            <a:ext cx="4320" cy="4320"/>
          </a:xfrm>
          <a:custGeom>
            <a:avLst/>
            <a:gdLst/>
            <a:ahLst/>
            <a:rect l="0" t="0" r="r" b="b"/>
            <a:pathLst>
              <a:path w="12" h="12">
                <a:moveTo>
                  <a:pt x="0" y="0"/>
                </a:moveTo>
                <a:lnTo>
                  <a:pt x="0" y="12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647640" y="1438200"/>
            <a:ext cx="8280" cy="8280"/>
          </a:xfrm>
          <a:custGeom>
            <a:avLst/>
            <a:gdLst/>
            <a:ahLst/>
            <a:rect l="0" t="0" r="r" b="b"/>
            <a:pathLst>
              <a:path w="23" h="23">
                <a:moveTo>
                  <a:pt x="11" y="0"/>
                </a:moveTo>
                <a:lnTo>
                  <a:pt x="0" y="11"/>
                </a:lnTo>
                <a:lnTo>
                  <a:pt x="0" y="23"/>
                </a:lnTo>
                <a:lnTo>
                  <a:pt x="23" y="0"/>
                </a:lnTo>
                <a:lnTo>
                  <a:pt x="11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647640" y="143820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23" y="0"/>
                </a:moveTo>
                <a:lnTo>
                  <a:pt x="0" y="22"/>
                </a:lnTo>
                <a:lnTo>
                  <a:pt x="0" y="35"/>
                </a:lnTo>
                <a:lnTo>
                  <a:pt x="35" y="0"/>
                </a:lnTo>
                <a:lnTo>
                  <a:pt x="23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647640" y="1438200"/>
            <a:ext cx="16560" cy="16560"/>
          </a:xfrm>
          <a:custGeom>
            <a:avLst/>
            <a:gdLst/>
            <a:ahLst/>
            <a:rect l="0" t="0" r="r" b="b"/>
            <a:pathLst>
              <a:path w="46" h="46">
                <a:moveTo>
                  <a:pt x="35" y="0"/>
                </a:moveTo>
                <a:lnTo>
                  <a:pt x="0" y="35"/>
                </a:lnTo>
                <a:lnTo>
                  <a:pt x="0" y="46"/>
                </a:lnTo>
                <a:lnTo>
                  <a:pt x="46" y="0"/>
                </a:lnTo>
                <a:lnTo>
                  <a:pt x="35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647640" y="14382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5" y="0"/>
                </a:moveTo>
                <a:lnTo>
                  <a:pt x="0" y="46"/>
                </a:lnTo>
                <a:lnTo>
                  <a:pt x="0" y="54"/>
                </a:lnTo>
                <a:lnTo>
                  <a:pt x="54" y="0"/>
                </a:lnTo>
                <a:lnTo>
                  <a:pt x="45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647640" y="1438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4" y="54"/>
                </a:lnTo>
                <a:lnTo>
                  <a:pt x="5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64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65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657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66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665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66924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67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6775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681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685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689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694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698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702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706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710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71424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718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722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726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730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734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73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74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74700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75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7552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759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76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767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771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775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779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784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788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7923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796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80028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804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808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81252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8168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8208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82476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82908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83304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8373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84132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845280" y="143820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84960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853560" y="143820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857520" y="143820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86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8679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87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87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8740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87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87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88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88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884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88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88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890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89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894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8964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89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900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9025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90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9068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90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91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9129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91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91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91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92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923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92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927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929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93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933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935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93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939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9414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94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945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94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949680" y="1438200"/>
            <a:ext cx="21960" cy="19440"/>
          </a:xfrm>
          <a:custGeom>
            <a:avLst/>
            <a:gdLst/>
            <a:ahLst/>
            <a:rect l="0" t="0" r="r" b="b"/>
            <a:pathLst>
              <a:path w="61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1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9518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954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95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957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96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96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964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96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96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97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97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974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97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97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9802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98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984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986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98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9907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992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2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2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99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996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99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100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1002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100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100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100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101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1013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101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1017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10191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102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1023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1025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102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10296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1031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103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1035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103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1039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1041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1044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1045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1047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1050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1051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1054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1056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10580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1060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10623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10645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1066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10684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1070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1072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10746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7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1076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1078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1080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1082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1084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10868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10890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10908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10929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10951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10969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10990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11012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110340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3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3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11052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11073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110952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11113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11134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111564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111744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3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3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111960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112176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112356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112572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1127880" y="1438200"/>
            <a:ext cx="21240" cy="19440"/>
          </a:xfrm>
          <a:custGeom>
            <a:avLst/>
            <a:gdLst/>
            <a:ahLst/>
            <a:rect l="0" t="0" r="r" b="b"/>
            <a:pathLst>
              <a:path w="59" h="54">
                <a:moveTo>
                  <a:pt x="54" y="0"/>
                </a:moveTo>
                <a:lnTo>
                  <a:pt x="0" y="54"/>
                </a:lnTo>
                <a:lnTo>
                  <a:pt x="5" y="54"/>
                </a:lnTo>
                <a:lnTo>
                  <a:pt x="59" y="0"/>
                </a:lnTo>
                <a:lnTo>
                  <a:pt x="54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1129680" y="143820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60" y="0"/>
                </a:lnTo>
                <a:lnTo>
                  <a:pt x="54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1131840" y="1438200"/>
            <a:ext cx="20880" cy="19440"/>
          </a:xfrm>
          <a:custGeom>
            <a:avLst/>
            <a:gdLst/>
            <a:ahLst/>
            <a:rect l="0" t="0" r="r" b="b"/>
            <a:pathLst>
              <a:path w="58" h="54">
                <a:moveTo>
                  <a:pt x="54" y="0"/>
                </a:moveTo>
                <a:lnTo>
                  <a:pt x="0" y="54"/>
                </a:lnTo>
                <a:lnTo>
                  <a:pt x="6" y="54"/>
                </a:lnTo>
                <a:lnTo>
                  <a:pt x="58" y="1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1134000" y="1438560"/>
            <a:ext cx="18720" cy="19080"/>
          </a:xfrm>
          <a:custGeom>
            <a:avLst/>
            <a:gdLst/>
            <a:ahLst/>
            <a:rect l="0" t="0" r="r" b="b"/>
            <a:pathLst>
              <a:path w="52" h="53">
                <a:moveTo>
                  <a:pt x="52" y="0"/>
                </a:moveTo>
                <a:lnTo>
                  <a:pt x="0" y="53"/>
                </a:lnTo>
                <a:lnTo>
                  <a:pt x="5" y="53"/>
                </a:lnTo>
                <a:lnTo>
                  <a:pt x="52" y="6"/>
                </a:lnTo>
                <a:lnTo>
                  <a:pt x="52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1135800" y="1440720"/>
            <a:ext cx="16920" cy="16920"/>
          </a:xfrm>
          <a:custGeom>
            <a:avLst/>
            <a:gdLst/>
            <a:ahLst/>
            <a:rect l="0" t="0" r="r" b="b"/>
            <a:pathLst>
              <a:path w="47" h="47">
                <a:moveTo>
                  <a:pt x="47" y="0"/>
                </a:moveTo>
                <a:lnTo>
                  <a:pt x="0" y="47"/>
                </a:lnTo>
                <a:lnTo>
                  <a:pt x="6" y="47"/>
                </a:lnTo>
                <a:lnTo>
                  <a:pt x="47" y="6"/>
                </a:lnTo>
                <a:lnTo>
                  <a:pt x="47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1137960" y="1442880"/>
            <a:ext cx="14760" cy="14760"/>
          </a:xfrm>
          <a:custGeom>
            <a:avLst/>
            <a:gdLst/>
            <a:ahLst/>
            <a:rect l="0" t="0" r="r" b="b"/>
            <a:pathLst>
              <a:path w="41" h="41">
                <a:moveTo>
                  <a:pt x="41" y="0"/>
                </a:moveTo>
                <a:lnTo>
                  <a:pt x="0" y="41"/>
                </a:lnTo>
                <a:lnTo>
                  <a:pt x="6" y="41"/>
                </a:lnTo>
                <a:lnTo>
                  <a:pt x="41" y="6"/>
                </a:lnTo>
                <a:lnTo>
                  <a:pt x="41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1140120" y="1445040"/>
            <a:ext cx="12600" cy="12600"/>
          </a:xfrm>
          <a:custGeom>
            <a:avLst/>
            <a:gdLst/>
            <a:ahLst/>
            <a:rect l="0" t="0" r="r" b="b"/>
            <a:pathLst>
              <a:path w="35" h="35">
                <a:moveTo>
                  <a:pt x="35" y="0"/>
                </a:moveTo>
                <a:lnTo>
                  <a:pt x="0" y="35"/>
                </a:lnTo>
                <a:lnTo>
                  <a:pt x="6" y="35"/>
                </a:lnTo>
                <a:lnTo>
                  <a:pt x="35" y="5"/>
                </a:lnTo>
                <a:lnTo>
                  <a:pt x="35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1142280" y="1446840"/>
            <a:ext cx="10440" cy="10800"/>
          </a:xfrm>
          <a:custGeom>
            <a:avLst/>
            <a:gdLst/>
            <a:ahLst/>
            <a:rect l="0" t="0" r="r" b="b"/>
            <a:pathLst>
              <a:path w="29" h="30">
                <a:moveTo>
                  <a:pt x="29" y="0"/>
                </a:moveTo>
                <a:lnTo>
                  <a:pt x="0" y="30"/>
                </a:lnTo>
                <a:lnTo>
                  <a:pt x="6" y="30"/>
                </a:lnTo>
                <a:lnTo>
                  <a:pt x="29" y="6"/>
                </a:lnTo>
                <a:lnTo>
                  <a:pt x="29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1144080" y="1449000"/>
            <a:ext cx="9000" cy="8640"/>
          </a:xfrm>
          <a:custGeom>
            <a:avLst/>
            <a:gdLst/>
            <a:ahLst/>
            <a:rect l="0" t="0" r="r" b="b"/>
            <a:pathLst>
              <a:path w="25" h="24">
                <a:moveTo>
                  <a:pt x="25" y="0"/>
                </a:moveTo>
                <a:lnTo>
                  <a:pt x="0" y="24"/>
                </a:lnTo>
                <a:lnTo>
                  <a:pt x="7" y="24"/>
                </a:lnTo>
                <a:lnTo>
                  <a:pt x="25" y="6"/>
                </a:lnTo>
                <a:lnTo>
                  <a:pt x="25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1146240" y="145116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8" y="0"/>
                </a:moveTo>
                <a:lnTo>
                  <a:pt x="0" y="18"/>
                </a:lnTo>
                <a:lnTo>
                  <a:pt x="7" y="18"/>
                </a:lnTo>
                <a:lnTo>
                  <a:pt x="18" y="5"/>
                </a:lnTo>
                <a:lnTo>
                  <a:pt x="18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1148400" y="1452960"/>
            <a:ext cx="4320" cy="4680"/>
          </a:xfrm>
          <a:custGeom>
            <a:avLst/>
            <a:gdLst/>
            <a:ahLst/>
            <a:rect l="0" t="0" r="r" b="b"/>
            <a:pathLst>
              <a:path w="12" h="13">
                <a:moveTo>
                  <a:pt x="12" y="0"/>
                </a:moveTo>
                <a:lnTo>
                  <a:pt x="0" y="13"/>
                </a:lnTo>
                <a:lnTo>
                  <a:pt x="5" y="13"/>
                </a:lnTo>
                <a:lnTo>
                  <a:pt x="12" y="6"/>
                </a:lnTo>
                <a:lnTo>
                  <a:pt x="12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1150200" y="14551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7" y="0"/>
                </a:moveTo>
                <a:lnTo>
                  <a:pt x="0" y="8"/>
                </a:lnTo>
                <a:lnTo>
                  <a:pt x="7" y="8"/>
                </a:lnTo>
                <a:lnTo>
                  <a:pt x="7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647640" y="1952280"/>
            <a:ext cx="3067200" cy="10080"/>
          </a:xfrm>
          <a:custGeom>
            <a:avLst/>
            <a:gdLst/>
            <a:ahLst/>
            <a:rect l="0" t="0" r="r" b="b"/>
            <a:pathLst>
              <a:path w="8520" h="28">
                <a:moveTo>
                  <a:pt x="0" y="0"/>
                </a:moveTo>
                <a:lnTo>
                  <a:pt x="8520" y="0"/>
                </a:lnTo>
                <a:lnTo>
                  <a:pt x="85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3714480" y="195228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5505120" y="1952280"/>
            <a:ext cx="1410120" cy="10080"/>
          </a:xfrm>
          <a:custGeom>
            <a:avLst/>
            <a:gdLst/>
            <a:ahLst/>
            <a:rect l="0" t="0" r="r" b="b"/>
            <a:pathLst>
              <a:path w="3917" h="28">
                <a:moveTo>
                  <a:pt x="0" y="0"/>
                </a:moveTo>
                <a:lnTo>
                  <a:pt x="3917" y="0"/>
                </a:lnTo>
                <a:lnTo>
                  <a:pt x="39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647640" y="2333520"/>
            <a:ext cx="3067200" cy="9720"/>
          </a:xfrm>
          <a:custGeom>
            <a:avLst/>
            <a:gdLst/>
            <a:ahLst/>
            <a:rect l="0" t="0" r="r" b="b"/>
            <a:pathLst>
              <a:path w="8520" h="27">
                <a:moveTo>
                  <a:pt x="0" y="0"/>
                </a:moveTo>
                <a:lnTo>
                  <a:pt x="8520" y="0"/>
                </a:lnTo>
                <a:lnTo>
                  <a:pt x="8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3714480" y="233352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5505120" y="2333520"/>
            <a:ext cx="1410120" cy="9720"/>
          </a:xfrm>
          <a:custGeom>
            <a:avLst/>
            <a:gdLst/>
            <a:ahLst/>
            <a:rect l="0" t="0" r="r" b="b"/>
            <a:pathLst>
              <a:path w="3917" h="27">
                <a:moveTo>
                  <a:pt x="0" y="0"/>
                </a:moveTo>
                <a:lnTo>
                  <a:pt x="3917" y="0"/>
                </a:lnTo>
                <a:lnTo>
                  <a:pt x="3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647640" y="2705040"/>
            <a:ext cx="3067200" cy="9720"/>
          </a:xfrm>
          <a:custGeom>
            <a:avLst/>
            <a:gdLst/>
            <a:ahLst/>
            <a:rect l="0" t="0" r="r" b="b"/>
            <a:pathLst>
              <a:path w="8520" h="27">
                <a:moveTo>
                  <a:pt x="0" y="0"/>
                </a:moveTo>
                <a:lnTo>
                  <a:pt x="8520" y="0"/>
                </a:lnTo>
                <a:lnTo>
                  <a:pt x="85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3714480" y="270504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5505120" y="2705040"/>
            <a:ext cx="1410120" cy="9720"/>
          </a:xfrm>
          <a:custGeom>
            <a:avLst/>
            <a:gdLst/>
            <a:ahLst/>
            <a:rect l="0" t="0" r="r" b="b"/>
            <a:pathLst>
              <a:path w="3917" h="27">
                <a:moveTo>
                  <a:pt x="0" y="0"/>
                </a:moveTo>
                <a:lnTo>
                  <a:pt x="3917" y="0"/>
                </a:lnTo>
                <a:lnTo>
                  <a:pt x="39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8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647640" y="858240"/>
            <a:ext cx="119088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00" spc="-1" strike="noStrike">
                <a:solidFill>
                  <a:srgbClr val="6a26d8"/>
                </a:solidFill>
                <a:latin typeface="Inter-Semi"/>
                <a:ea typeface="Inter-Semi"/>
              </a:rPr>
              <a:t>F E E   S U M M A R Y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647640" y="1052280"/>
            <a:ext cx="46854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What's included and what it costs.</a:t>
            </a:r>
            <a:endParaRPr b="0" lang="en-US" sz="1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755640" y="1739160"/>
            <a:ext cx="3283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I T E M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4477320" y="1739160"/>
            <a:ext cx="112536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S TA N D A R D   R 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6128280" y="1739160"/>
            <a:ext cx="87696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A G R E E D   F E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4" name=""/>
          <p:cNvSpPr txBox="1"/>
          <p:nvPr/>
        </p:nvSpPr>
        <p:spPr>
          <a:xfrm>
            <a:off x="755640" y="2084760"/>
            <a:ext cx="14072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Website development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5" name=""/>
          <p:cNvSpPr txBox="1"/>
          <p:nvPr/>
        </p:nvSpPr>
        <p:spPr>
          <a:xfrm>
            <a:off x="1954800" y="2080080"/>
            <a:ext cx="5248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· 7 pages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4686120" y="2143080"/>
            <a:ext cx="636480" cy="9720"/>
          </a:xfrm>
          <a:custGeom>
            <a:avLst/>
            <a:gdLst/>
            <a:ahLst/>
            <a:rect l="0" t="0" r="r" b="b"/>
            <a:pathLst>
              <a:path w="1768" h="27">
                <a:moveTo>
                  <a:pt x="0" y="0"/>
                </a:moveTo>
                <a:lnTo>
                  <a:pt x="1768" y="0"/>
                </a:lnTo>
                <a:lnTo>
                  <a:pt x="17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a29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4686120" y="2080080"/>
            <a:ext cx="642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a29c9e"/>
                </a:solidFill>
                <a:latin typeface="Inter"/>
                <a:ea typeface="Inter"/>
              </a:rPr>
              <a:t>PKR 25,000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6174720" y="2084760"/>
            <a:ext cx="7412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PKR 15,000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755640" y="2456280"/>
            <a:ext cx="7794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Deployment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1422360" y="2451600"/>
            <a:ext cx="4838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· waived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4686120" y="2514240"/>
            <a:ext cx="636480" cy="10080"/>
          </a:xfrm>
          <a:custGeom>
            <a:avLst/>
            <a:gdLst/>
            <a:ahLst/>
            <a:rect l="0" t="0" r="r" b="b"/>
            <a:pathLst>
              <a:path w="1768" h="28">
                <a:moveTo>
                  <a:pt x="0" y="0"/>
                </a:moveTo>
                <a:lnTo>
                  <a:pt x="1768" y="0"/>
                </a:lnTo>
                <a:lnTo>
                  <a:pt x="17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a29c9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2" name=""/>
          <p:cNvSpPr txBox="1"/>
          <p:nvPr/>
        </p:nvSpPr>
        <p:spPr>
          <a:xfrm>
            <a:off x="4686120" y="2451600"/>
            <a:ext cx="642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a29c9e"/>
                </a:solidFill>
                <a:latin typeface="Inter"/>
                <a:ea typeface="Inter"/>
              </a:rPr>
              <a:t>PKR 25,000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3" name=""/>
          <p:cNvSpPr txBox="1"/>
          <p:nvPr/>
        </p:nvSpPr>
        <p:spPr>
          <a:xfrm>
            <a:off x="6474240" y="2456280"/>
            <a:ext cx="380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PKR 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4" name=""/>
          <p:cNvSpPr txBox="1"/>
          <p:nvPr/>
        </p:nvSpPr>
        <p:spPr>
          <a:xfrm>
            <a:off x="755640" y="2837160"/>
            <a:ext cx="15886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Total payable on signing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652320" y="3309840"/>
            <a:ext cx="3038760" cy="2410200"/>
          </a:xfrm>
          <a:custGeom>
            <a:avLst/>
            <a:gdLst/>
            <a:ahLst/>
            <a:rect l="0" t="0" r="r" b="b"/>
            <a:pathLst>
              <a:path w="8441" h="6695">
                <a:moveTo>
                  <a:pt x="0" y="6468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1"/>
                  <a:pt x="8259" y="4"/>
                </a:cubicBezTo>
                <a:cubicBezTo>
                  <a:pt x="8273" y="7"/>
                  <a:pt x="8287" y="11"/>
                  <a:pt x="8301" y="17"/>
                </a:cubicBezTo>
                <a:cubicBezTo>
                  <a:pt x="8315" y="23"/>
                  <a:pt x="8328" y="30"/>
                  <a:pt x="8340" y="38"/>
                </a:cubicBezTo>
                <a:cubicBezTo>
                  <a:pt x="8353" y="46"/>
                  <a:pt x="8364" y="56"/>
                  <a:pt x="8375" y="66"/>
                </a:cubicBezTo>
                <a:cubicBezTo>
                  <a:pt x="8385" y="77"/>
                  <a:pt x="8395" y="88"/>
                  <a:pt x="8403" y="101"/>
                </a:cubicBezTo>
                <a:cubicBezTo>
                  <a:pt x="8411" y="113"/>
                  <a:pt x="8418" y="126"/>
                  <a:pt x="8424" y="140"/>
                </a:cubicBezTo>
                <a:cubicBezTo>
                  <a:pt x="8430" y="154"/>
                  <a:pt x="8434" y="168"/>
                  <a:pt x="8437" y="182"/>
                </a:cubicBezTo>
                <a:cubicBezTo>
                  <a:pt x="8440" y="197"/>
                  <a:pt x="8441" y="212"/>
                  <a:pt x="8441" y="227"/>
                </a:cubicBezTo>
                <a:lnTo>
                  <a:pt x="8441" y="6468"/>
                </a:lnTo>
                <a:cubicBezTo>
                  <a:pt x="8441" y="6483"/>
                  <a:pt x="8440" y="6498"/>
                  <a:pt x="8437" y="6512"/>
                </a:cubicBezTo>
                <a:cubicBezTo>
                  <a:pt x="8434" y="6527"/>
                  <a:pt x="8430" y="6541"/>
                  <a:pt x="8424" y="6555"/>
                </a:cubicBezTo>
                <a:cubicBezTo>
                  <a:pt x="8418" y="6568"/>
                  <a:pt x="8411" y="6582"/>
                  <a:pt x="8403" y="6594"/>
                </a:cubicBezTo>
                <a:cubicBezTo>
                  <a:pt x="8395" y="6606"/>
                  <a:pt x="8385" y="6618"/>
                  <a:pt x="8375" y="6628"/>
                </a:cubicBezTo>
                <a:cubicBezTo>
                  <a:pt x="8364" y="6639"/>
                  <a:pt x="8353" y="6648"/>
                  <a:pt x="8340" y="6657"/>
                </a:cubicBezTo>
                <a:cubicBezTo>
                  <a:pt x="8328" y="6665"/>
                  <a:pt x="8315" y="6672"/>
                  <a:pt x="8301" y="6677"/>
                </a:cubicBezTo>
                <a:cubicBezTo>
                  <a:pt x="8287" y="6683"/>
                  <a:pt x="8273" y="6687"/>
                  <a:pt x="8259" y="6690"/>
                </a:cubicBezTo>
                <a:cubicBezTo>
                  <a:pt x="8244" y="6693"/>
                  <a:pt x="8229" y="6695"/>
                  <a:pt x="8214" y="6695"/>
                </a:cubicBezTo>
                <a:lnTo>
                  <a:pt x="227" y="6695"/>
                </a:lnTo>
                <a:cubicBezTo>
                  <a:pt x="212" y="6695"/>
                  <a:pt x="197" y="6693"/>
                  <a:pt x="182" y="6690"/>
                </a:cubicBezTo>
                <a:cubicBezTo>
                  <a:pt x="168" y="6687"/>
                  <a:pt x="154" y="6683"/>
                  <a:pt x="140" y="6677"/>
                </a:cubicBezTo>
                <a:cubicBezTo>
                  <a:pt x="126" y="6672"/>
                  <a:pt x="113" y="6665"/>
                  <a:pt x="101" y="6656"/>
                </a:cubicBezTo>
                <a:cubicBezTo>
                  <a:pt x="88" y="6648"/>
                  <a:pt x="77" y="6639"/>
                  <a:pt x="66" y="6628"/>
                </a:cubicBezTo>
                <a:cubicBezTo>
                  <a:pt x="56" y="6618"/>
                  <a:pt x="46" y="6606"/>
                  <a:pt x="38" y="6594"/>
                </a:cubicBezTo>
                <a:cubicBezTo>
                  <a:pt x="30" y="6582"/>
                  <a:pt x="23" y="6568"/>
                  <a:pt x="17" y="6555"/>
                </a:cubicBezTo>
                <a:cubicBezTo>
                  <a:pt x="11" y="6541"/>
                  <a:pt x="7" y="6527"/>
                  <a:pt x="4" y="6512"/>
                </a:cubicBezTo>
                <a:cubicBezTo>
                  <a:pt x="1" y="6498"/>
                  <a:pt x="0" y="6483"/>
                  <a:pt x="0" y="64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657000" y="3314520"/>
            <a:ext cx="3029400" cy="2400480"/>
          </a:xfrm>
          <a:custGeom>
            <a:avLst/>
            <a:gdLst/>
            <a:ahLst/>
            <a:rect l="0" t="0" r="r" b="b"/>
            <a:pathLst>
              <a:path w="8415" h="6668">
                <a:moveTo>
                  <a:pt x="0" y="6668"/>
                </a:moveTo>
                <a:lnTo>
                  <a:pt x="0" y="0"/>
                </a:lnTo>
                <a:lnTo>
                  <a:pt x="8415" y="0"/>
                </a:lnTo>
                <a:lnTo>
                  <a:pt x="8415" y="6668"/>
                </a:lnTo>
                <a:lnTo>
                  <a:pt x="0" y="6668"/>
                </a:lnTo>
                <a:moveTo>
                  <a:pt x="21" y="6455"/>
                </a:moveTo>
                <a:lnTo>
                  <a:pt x="21" y="214"/>
                </a:lnTo>
                <a:cubicBezTo>
                  <a:pt x="21" y="201"/>
                  <a:pt x="23" y="188"/>
                  <a:pt x="25" y="176"/>
                </a:cubicBezTo>
                <a:cubicBezTo>
                  <a:pt x="27" y="164"/>
                  <a:pt x="31" y="152"/>
                  <a:pt x="36" y="140"/>
                </a:cubicBezTo>
                <a:cubicBezTo>
                  <a:pt x="41" y="128"/>
                  <a:pt x="47" y="117"/>
                  <a:pt x="54" y="107"/>
                </a:cubicBezTo>
                <a:cubicBezTo>
                  <a:pt x="61" y="96"/>
                  <a:pt x="69" y="86"/>
                  <a:pt x="78" y="78"/>
                </a:cubicBezTo>
                <a:cubicBezTo>
                  <a:pt x="87" y="69"/>
                  <a:pt x="96" y="61"/>
                  <a:pt x="107" y="54"/>
                </a:cubicBezTo>
                <a:cubicBezTo>
                  <a:pt x="117" y="47"/>
                  <a:pt x="128" y="41"/>
                  <a:pt x="140" y="36"/>
                </a:cubicBezTo>
                <a:cubicBezTo>
                  <a:pt x="152" y="31"/>
                  <a:pt x="164" y="27"/>
                  <a:pt x="176" y="25"/>
                </a:cubicBezTo>
                <a:cubicBezTo>
                  <a:pt x="189" y="22"/>
                  <a:pt x="201" y="21"/>
                  <a:pt x="214" y="21"/>
                </a:cubicBezTo>
                <a:lnTo>
                  <a:pt x="8201" y="21"/>
                </a:lnTo>
                <a:cubicBezTo>
                  <a:pt x="8214" y="21"/>
                  <a:pt x="8226" y="22"/>
                  <a:pt x="8239" y="25"/>
                </a:cubicBezTo>
                <a:cubicBezTo>
                  <a:pt x="8251" y="27"/>
                  <a:pt x="8263" y="31"/>
                  <a:pt x="8275" y="36"/>
                </a:cubicBezTo>
                <a:cubicBezTo>
                  <a:pt x="8287" y="41"/>
                  <a:pt x="8298" y="47"/>
                  <a:pt x="8308" y="54"/>
                </a:cubicBezTo>
                <a:cubicBezTo>
                  <a:pt x="8319" y="61"/>
                  <a:pt x="8328" y="69"/>
                  <a:pt x="8337" y="78"/>
                </a:cubicBezTo>
                <a:cubicBezTo>
                  <a:pt x="8346" y="86"/>
                  <a:pt x="8354" y="96"/>
                  <a:pt x="8361" y="107"/>
                </a:cubicBezTo>
                <a:cubicBezTo>
                  <a:pt x="8368" y="117"/>
                  <a:pt x="8374" y="128"/>
                  <a:pt x="8379" y="140"/>
                </a:cubicBezTo>
                <a:cubicBezTo>
                  <a:pt x="8384" y="152"/>
                  <a:pt x="8388" y="164"/>
                  <a:pt x="8390" y="176"/>
                </a:cubicBezTo>
                <a:cubicBezTo>
                  <a:pt x="8392" y="188"/>
                  <a:pt x="8394" y="201"/>
                  <a:pt x="8394" y="214"/>
                </a:cubicBezTo>
                <a:lnTo>
                  <a:pt x="8394" y="6455"/>
                </a:lnTo>
                <a:cubicBezTo>
                  <a:pt x="8394" y="6468"/>
                  <a:pt x="8392" y="6480"/>
                  <a:pt x="8390" y="6492"/>
                </a:cubicBezTo>
                <a:cubicBezTo>
                  <a:pt x="8388" y="6505"/>
                  <a:pt x="8384" y="6517"/>
                  <a:pt x="8379" y="6529"/>
                </a:cubicBezTo>
                <a:cubicBezTo>
                  <a:pt x="8374" y="6540"/>
                  <a:pt x="8368" y="6551"/>
                  <a:pt x="8361" y="6562"/>
                </a:cubicBezTo>
                <a:cubicBezTo>
                  <a:pt x="8354" y="6572"/>
                  <a:pt x="8346" y="6582"/>
                  <a:pt x="8337" y="6591"/>
                </a:cubicBezTo>
                <a:cubicBezTo>
                  <a:pt x="8328" y="6600"/>
                  <a:pt x="8319" y="6608"/>
                  <a:pt x="8308" y="6615"/>
                </a:cubicBezTo>
                <a:cubicBezTo>
                  <a:pt x="8298" y="6622"/>
                  <a:pt x="8287" y="6628"/>
                  <a:pt x="8275" y="6633"/>
                </a:cubicBezTo>
                <a:cubicBezTo>
                  <a:pt x="8263" y="6638"/>
                  <a:pt x="8251" y="6641"/>
                  <a:pt x="8239" y="6644"/>
                </a:cubicBezTo>
                <a:cubicBezTo>
                  <a:pt x="8226" y="6646"/>
                  <a:pt x="8214" y="6647"/>
                  <a:pt x="8201" y="6647"/>
                </a:cubicBezTo>
                <a:lnTo>
                  <a:pt x="214" y="6647"/>
                </a:lnTo>
                <a:cubicBezTo>
                  <a:pt x="201" y="6647"/>
                  <a:pt x="189" y="6646"/>
                  <a:pt x="176" y="6644"/>
                </a:cubicBezTo>
                <a:cubicBezTo>
                  <a:pt x="164" y="6641"/>
                  <a:pt x="152" y="6638"/>
                  <a:pt x="140" y="6633"/>
                </a:cubicBezTo>
                <a:cubicBezTo>
                  <a:pt x="128" y="6628"/>
                  <a:pt x="117" y="6622"/>
                  <a:pt x="107" y="6615"/>
                </a:cubicBezTo>
                <a:cubicBezTo>
                  <a:pt x="96" y="6608"/>
                  <a:pt x="87" y="6600"/>
                  <a:pt x="78" y="6591"/>
                </a:cubicBezTo>
                <a:cubicBezTo>
                  <a:pt x="69" y="6582"/>
                  <a:pt x="61" y="6572"/>
                  <a:pt x="54" y="6562"/>
                </a:cubicBezTo>
                <a:cubicBezTo>
                  <a:pt x="47" y="6551"/>
                  <a:pt x="41" y="6540"/>
                  <a:pt x="36" y="6529"/>
                </a:cubicBezTo>
                <a:cubicBezTo>
                  <a:pt x="31" y="6517"/>
                  <a:pt x="27" y="6505"/>
                  <a:pt x="25" y="6492"/>
                </a:cubicBezTo>
                <a:cubicBezTo>
                  <a:pt x="23" y="6480"/>
                  <a:pt x="21" y="6468"/>
                  <a:pt x="21" y="6455"/>
                </a:cubicBezTo>
                <a:close/>
              </a:path>
            </a:pathLst>
          </a:custGeom>
          <a:solidFill>
            <a:srgbClr val="6a2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652320" y="3309840"/>
            <a:ext cx="3038760" cy="2410200"/>
          </a:xfrm>
          <a:custGeom>
            <a:avLst/>
            <a:gdLst/>
            <a:ahLst/>
            <a:rect l="0" t="0" r="r" b="b"/>
            <a:pathLst>
              <a:path w="8441" h="6695">
                <a:moveTo>
                  <a:pt x="0" y="6468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1"/>
                  <a:pt x="8259" y="4"/>
                </a:cubicBezTo>
                <a:cubicBezTo>
                  <a:pt x="8273" y="7"/>
                  <a:pt x="8287" y="11"/>
                  <a:pt x="8301" y="17"/>
                </a:cubicBezTo>
                <a:cubicBezTo>
                  <a:pt x="8315" y="23"/>
                  <a:pt x="8328" y="30"/>
                  <a:pt x="8340" y="38"/>
                </a:cubicBezTo>
                <a:cubicBezTo>
                  <a:pt x="8353" y="46"/>
                  <a:pt x="8364" y="56"/>
                  <a:pt x="8375" y="66"/>
                </a:cubicBezTo>
                <a:cubicBezTo>
                  <a:pt x="8385" y="77"/>
                  <a:pt x="8395" y="88"/>
                  <a:pt x="8403" y="101"/>
                </a:cubicBezTo>
                <a:cubicBezTo>
                  <a:pt x="8411" y="113"/>
                  <a:pt x="8418" y="126"/>
                  <a:pt x="8424" y="140"/>
                </a:cubicBezTo>
                <a:cubicBezTo>
                  <a:pt x="8430" y="154"/>
                  <a:pt x="8434" y="168"/>
                  <a:pt x="8437" y="182"/>
                </a:cubicBezTo>
                <a:cubicBezTo>
                  <a:pt x="8440" y="197"/>
                  <a:pt x="8441" y="212"/>
                  <a:pt x="8441" y="227"/>
                </a:cubicBezTo>
                <a:lnTo>
                  <a:pt x="8441" y="6468"/>
                </a:lnTo>
                <a:cubicBezTo>
                  <a:pt x="8441" y="6483"/>
                  <a:pt x="8440" y="6498"/>
                  <a:pt x="8437" y="6512"/>
                </a:cubicBezTo>
                <a:cubicBezTo>
                  <a:pt x="8434" y="6527"/>
                  <a:pt x="8430" y="6541"/>
                  <a:pt x="8424" y="6555"/>
                </a:cubicBezTo>
                <a:cubicBezTo>
                  <a:pt x="8418" y="6568"/>
                  <a:pt x="8411" y="6582"/>
                  <a:pt x="8403" y="6594"/>
                </a:cubicBezTo>
                <a:cubicBezTo>
                  <a:pt x="8395" y="6606"/>
                  <a:pt x="8385" y="6618"/>
                  <a:pt x="8375" y="6628"/>
                </a:cubicBezTo>
                <a:cubicBezTo>
                  <a:pt x="8364" y="6639"/>
                  <a:pt x="8353" y="6648"/>
                  <a:pt x="8340" y="6657"/>
                </a:cubicBezTo>
                <a:cubicBezTo>
                  <a:pt x="8328" y="6665"/>
                  <a:pt x="8315" y="6672"/>
                  <a:pt x="8301" y="6677"/>
                </a:cubicBezTo>
                <a:cubicBezTo>
                  <a:pt x="8287" y="6683"/>
                  <a:pt x="8273" y="6687"/>
                  <a:pt x="8259" y="6690"/>
                </a:cubicBezTo>
                <a:cubicBezTo>
                  <a:pt x="8244" y="6693"/>
                  <a:pt x="8229" y="6695"/>
                  <a:pt x="8214" y="6695"/>
                </a:cubicBezTo>
                <a:lnTo>
                  <a:pt x="227" y="6695"/>
                </a:lnTo>
                <a:cubicBezTo>
                  <a:pt x="212" y="6695"/>
                  <a:pt x="197" y="6693"/>
                  <a:pt x="182" y="6690"/>
                </a:cubicBezTo>
                <a:cubicBezTo>
                  <a:pt x="168" y="6687"/>
                  <a:pt x="154" y="6683"/>
                  <a:pt x="140" y="6677"/>
                </a:cubicBezTo>
                <a:cubicBezTo>
                  <a:pt x="126" y="6672"/>
                  <a:pt x="113" y="6665"/>
                  <a:pt x="101" y="6656"/>
                </a:cubicBezTo>
                <a:cubicBezTo>
                  <a:pt x="88" y="6648"/>
                  <a:pt x="77" y="6639"/>
                  <a:pt x="66" y="6628"/>
                </a:cubicBezTo>
                <a:cubicBezTo>
                  <a:pt x="56" y="6618"/>
                  <a:pt x="46" y="6606"/>
                  <a:pt x="38" y="6594"/>
                </a:cubicBezTo>
                <a:cubicBezTo>
                  <a:pt x="30" y="6582"/>
                  <a:pt x="23" y="6568"/>
                  <a:pt x="17" y="6555"/>
                </a:cubicBezTo>
                <a:cubicBezTo>
                  <a:pt x="11" y="6541"/>
                  <a:pt x="7" y="6527"/>
                  <a:pt x="4" y="6512"/>
                </a:cubicBezTo>
                <a:cubicBezTo>
                  <a:pt x="1" y="6498"/>
                  <a:pt x="0" y="6483"/>
                  <a:pt x="0" y="6468"/>
                </a:cubicBezTo>
                <a:close/>
              </a:path>
            </a:pathLst>
          </a:custGeom>
          <a:noFill/>
          <a:ln w="9360">
            <a:solidFill>
              <a:srgbClr val="6a26d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6174720" y="2837160"/>
            <a:ext cx="7412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PKR 15,000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3871800" y="3309840"/>
            <a:ext cx="3038760" cy="2410200"/>
          </a:xfrm>
          <a:custGeom>
            <a:avLst/>
            <a:gdLst/>
            <a:ahLst/>
            <a:rect l="0" t="0" r="r" b="b"/>
            <a:pathLst>
              <a:path w="8441" h="6695">
                <a:moveTo>
                  <a:pt x="0" y="6468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1"/>
                  <a:pt x="8258" y="4"/>
                </a:cubicBezTo>
                <a:cubicBezTo>
                  <a:pt x="8273" y="7"/>
                  <a:pt x="8287" y="11"/>
                  <a:pt x="8301" y="17"/>
                </a:cubicBezTo>
                <a:cubicBezTo>
                  <a:pt x="8315" y="23"/>
                  <a:pt x="8328" y="30"/>
                  <a:pt x="8340" y="38"/>
                </a:cubicBezTo>
                <a:cubicBezTo>
                  <a:pt x="8353" y="46"/>
                  <a:pt x="8364" y="56"/>
                  <a:pt x="8375" y="66"/>
                </a:cubicBezTo>
                <a:cubicBezTo>
                  <a:pt x="8385" y="77"/>
                  <a:pt x="8395" y="88"/>
                  <a:pt x="8403" y="101"/>
                </a:cubicBezTo>
                <a:cubicBezTo>
                  <a:pt x="8411" y="113"/>
                  <a:pt x="8418" y="126"/>
                  <a:pt x="8424" y="140"/>
                </a:cubicBezTo>
                <a:cubicBezTo>
                  <a:pt x="8429" y="154"/>
                  <a:pt x="8434" y="168"/>
                  <a:pt x="8437" y="182"/>
                </a:cubicBezTo>
                <a:cubicBezTo>
                  <a:pt x="8440" y="197"/>
                  <a:pt x="8441" y="212"/>
                  <a:pt x="8441" y="227"/>
                </a:cubicBezTo>
                <a:lnTo>
                  <a:pt x="8441" y="6468"/>
                </a:lnTo>
                <a:cubicBezTo>
                  <a:pt x="8441" y="6483"/>
                  <a:pt x="8440" y="6498"/>
                  <a:pt x="8437" y="6512"/>
                </a:cubicBezTo>
                <a:cubicBezTo>
                  <a:pt x="8434" y="6527"/>
                  <a:pt x="8429" y="6541"/>
                  <a:pt x="8424" y="6555"/>
                </a:cubicBezTo>
                <a:cubicBezTo>
                  <a:pt x="8418" y="6568"/>
                  <a:pt x="8411" y="6582"/>
                  <a:pt x="8403" y="6594"/>
                </a:cubicBezTo>
                <a:cubicBezTo>
                  <a:pt x="8395" y="6606"/>
                  <a:pt x="8385" y="6618"/>
                  <a:pt x="8375" y="6628"/>
                </a:cubicBezTo>
                <a:cubicBezTo>
                  <a:pt x="8364" y="6639"/>
                  <a:pt x="8353" y="6648"/>
                  <a:pt x="8340" y="6657"/>
                </a:cubicBezTo>
                <a:cubicBezTo>
                  <a:pt x="8328" y="6665"/>
                  <a:pt x="8315" y="6672"/>
                  <a:pt x="8301" y="6677"/>
                </a:cubicBezTo>
                <a:cubicBezTo>
                  <a:pt x="8287" y="6683"/>
                  <a:pt x="8273" y="6687"/>
                  <a:pt x="8258" y="6690"/>
                </a:cubicBezTo>
                <a:cubicBezTo>
                  <a:pt x="8244" y="6693"/>
                  <a:pt x="8229" y="6695"/>
                  <a:pt x="8214" y="6695"/>
                </a:cubicBezTo>
                <a:lnTo>
                  <a:pt x="227" y="6695"/>
                </a:lnTo>
                <a:cubicBezTo>
                  <a:pt x="212" y="6695"/>
                  <a:pt x="197" y="6693"/>
                  <a:pt x="182" y="6690"/>
                </a:cubicBezTo>
                <a:cubicBezTo>
                  <a:pt x="168" y="6687"/>
                  <a:pt x="154" y="6683"/>
                  <a:pt x="140" y="6677"/>
                </a:cubicBezTo>
                <a:cubicBezTo>
                  <a:pt x="126" y="6672"/>
                  <a:pt x="113" y="6665"/>
                  <a:pt x="101" y="6656"/>
                </a:cubicBezTo>
                <a:cubicBezTo>
                  <a:pt x="88" y="6648"/>
                  <a:pt x="77" y="6639"/>
                  <a:pt x="66" y="6628"/>
                </a:cubicBezTo>
                <a:cubicBezTo>
                  <a:pt x="56" y="6618"/>
                  <a:pt x="46" y="6606"/>
                  <a:pt x="38" y="6594"/>
                </a:cubicBezTo>
                <a:cubicBezTo>
                  <a:pt x="30" y="6582"/>
                  <a:pt x="23" y="6568"/>
                  <a:pt x="17" y="6555"/>
                </a:cubicBezTo>
                <a:cubicBezTo>
                  <a:pt x="11" y="6541"/>
                  <a:pt x="7" y="6527"/>
                  <a:pt x="4" y="6512"/>
                </a:cubicBezTo>
                <a:cubicBezTo>
                  <a:pt x="1" y="6498"/>
                  <a:pt x="0" y="6483"/>
                  <a:pt x="0" y="6468"/>
                </a:cubicBezTo>
                <a:close/>
              </a:path>
            </a:pathLst>
          </a:custGeom>
          <a:solidFill>
            <a:srgbClr val="f8f6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3871800" y="3309840"/>
            <a:ext cx="3038760" cy="2410200"/>
          </a:xfrm>
          <a:custGeom>
            <a:avLst/>
            <a:gdLst/>
            <a:ahLst/>
            <a:rect l="0" t="0" r="r" b="b"/>
            <a:pathLst>
              <a:path w="8441" h="6695">
                <a:moveTo>
                  <a:pt x="0" y="6468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8214" y="0"/>
                </a:lnTo>
                <a:cubicBezTo>
                  <a:pt x="8229" y="0"/>
                  <a:pt x="8244" y="1"/>
                  <a:pt x="8258" y="4"/>
                </a:cubicBezTo>
                <a:cubicBezTo>
                  <a:pt x="8273" y="7"/>
                  <a:pt x="8287" y="11"/>
                  <a:pt x="8301" y="17"/>
                </a:cubicBezTo>
                <a:cubicBezTo>
                  <a:pt x="8315" y="23"/>
                  <a:pt x="8328" y="30"/>
                  <a:pt x="8340" y="38"/>
                </a:cubicBezTo>
                <a:cubicBezTo>
                  <a:pt x="8353" y="46"/>
                  <a:pt x="8364" y="56"/>
                  <a:pt x="8375" y="66"/>
                </a:cubicBezTo>
                <a:cubicBezTo>
                  <a:pt x="8385" y="77"/>
                  <a:pt x="8395" y="88"/>
                  <a:pt x="8403" y="101"/>
                </a:cubicBezTo>
                <a:cubicBezTo>
                  <a:pt x="8411" y="113"/>
                  <a:pt x="8418" y="126"/>
                  <a:pt x="8424" y="140"/>
                </a:cubicBezTo>
                <a:cubicBezTo>
                  <a:pt x="8429" y="154"/>
                  <a:pt x="8434" y="168"/>
                  <a:pt x="8437" y="182"/>
                </a:cubicBezTo>
                <a:cubicBezTo>
                  <a:pt x="8440" y="197"/>
                  <a:pt x="8441" y="212"/>
                  <a:pt x="8441" y="227"/>
                </a:cubicBezTo>
                <a:lnTo>
                  <a:pt x="8441" y="6468"/>
                </a:lnTo>
                <a:cubicBezTo>
                  <a:pt x="8441" y="6483"/>
                  <a:pt x="8440" y="6498"/>
                  <a:pt x="8437" y="6512"/>
                </a:cubicBezTo>
                <a:cubicBezTo>
                  <a:pt x="8434" y="6527"/>
                  <a:pt x="8429" y="6541"/>
                  <a:pt x="8424" y="6555"/>
                </a:cubicBezTo>
                <a:cubicBezTo>
                  <a:pt x="8418" y="6568"/>
                  <a:pt x="8411" y="6582"/>
                  <a:pt x="8403" y="6594"/>
                </a:cubicBezTo>
                <a:cubicBezTo>
                  <a:pt x="8395" y="6606"/>
                  <a:pt x="8385" y="6618"/>
                  <a:pt x="8375" y="6628"/>
                </a:cubicBezTo>
                <a:cubicBezTo>
                  <a:pt x="8364" y="6639"/>
                  <a:pt x="8353" y="6648"/>
                  <a:pt x="8340" y="6657"/>
                </a:cubicBezTo>
                <a:cubicBezTo>
                  <a:pt x="8328" y="6665"/>
                  <a:pt x="8315" y="6672"/>
                  <a:pt x="8301" y="6677"/>
                </a:cubicBezTo>
                <a:cubicBezTo>
                  <a:pt x="8287" y="6683"/>
                  <a:pt x="8273" y="6687"/>
                  <a:pt x="8258" y="6690"/>
                </a:cubicBezTo>
                <a:cubicBezTo>
                  <a:pt x="8244" y="6693"/>
                  <a:pt x="8229" y="6695"/>
                  <a:pt x="8214" y="6695"/>
                </a:cubicBezTo>
                <a:lnTo>
                  <a:pt x="227" y="6695"/>
                </a:lnTo>
                <a:cubicBezTo>
                  <a:pt x="212" y="6695"/>
                  <a:pt x="197" y="6693"/>
                  <a:pt x="182" y="6690"/>
                </a:cubicBezTo>
                <a:cubicBezTo>
                  <a:pt x="168" y="6687"/>
                  <a:pt x="154" y="6683"/>
                  <a:pt x="140" y="6677"/>
                </a:cubicBezTo>
                <a:cubicBezTo>
                  <a:pt x="126" y="6672"/>
                  <a:pt x="113" y="6665"/>
                  <a:pt x="101" y="6656"/>
                </a:cubicBezTo>
                <a:cubicBezTo>
                  <a:pt x="88" y="6648"/>
                  <a:pt x="77" y="6639"/>
                  <a:pt x="66" y="6628"/>
                </a:cubicBezTo>
                <a:cubicBezTo>
                  <a:pt x="56" y="6618"/>
                  <a:pt x="46" y="6606"/>
                  <a:pt x="38" y="6594"/>
                </a:cubicBezTo>
                <a:cubicBezTo>
                  <a:pt x="30" y="6582"/>
                  <a:pt x="23" y="6568"/>
                  <a:pt x="17" y="6555"/>
                </a:cubicBezTo>
                <a:cubicBezTo>
                  <a:pt x="11" y="6541"/>
                  <a:pt x="7" y="6527"/>
                  <a:pt x="4" y="6512"/>
                </a:cubicBezTo>
                <a:cubicBezTo>
                  <a:pt x="1" y="6498"/>
                  <a:pt x="0" y="6483"/>
                  <a:pt x="0" y="6468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837000" y="3508560"/>
            <a:ext cx="17578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D E P L O Y M E N T   I N C L U D E S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4060800" y="3508560"/>
            <a:ext cx="17960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O P T I O N A L ,   O N   R E Q U E S 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4060800" y="3730320"/>
            <a:ext cx="16909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Additional email account: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5488200" y="3725280"/>
            <a:ext cx="12106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PKR 1,500 each (paid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4060800" y="3916080"/>
            <a:ext cx="435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to OBD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4060800" y="4168800"/>
            <a:ext cx="26204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Plus the mailbox subscription, paid by the Client to the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4060800" y="4330800"/>
            <a:ext cx="7185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email provider.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4057560" y="4914720"/>
            <a:ext cx="648000" cy="9720"/>
          </a:xfrm>
          <a:custGeom>
            <a:avLst/>
            <a:gdLst/>
            <a:ahLst/>
            <a:rect l="0" t="0" r="r" b="b"/>
            <a:pathLst>
              <a:path w="1800" h="27">
                <a:moveTo>
                  <a:pt x="0" y="0"/>
                </a:moveTo>
                <a:lnTo>
                  <a:pt x="1800" y="0"/>
                </a:lnTo>
                <a:lnTo>
                  <a:pt x="18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4060800" y="4606920"/>
            <a:ext cx="20322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Number of additional accounts requested: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4096800" y="4768920"/>
            <a:ext cx="1011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0e0e14"/>
                </a:solidFill>
                <a:latin typeface="Inter"/>
                <a:ea typeface="Inter"/>
              </a:rPr>
              <a:t> 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647640" y="5887440"/>
            <a:ext cx="227772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00" spc="-1" strike="noStrike">
                <a:solidFill>
                  <a:srgbClr val="0e0e14"/>
                </a:solidFill>
                <a:latin typeface="Inter-Semi"/>
                <a:ea typeface="Inter-Semi"/>
              </a:rPr>
              <a:t>Paid by the Client directly to providers: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2545560" y="5883480"/>
            <a:ext cx="41551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 </a:t>
            </a:r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Domain 1 year approx. ~ PKR 3,000 · Hosting 1 year approx. ~ PKR 7,000 · Mailbox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647640" y="6045120"/>
            <a:ext cx="23277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subscription: as per the email provider's pricing.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4" name=""/>
          <p:cNvSpPr txBox="1"/>
          <p:nvPr/>
        </p:nvSpPr>
        <p:spPr>
          <a:xfrm>
            <a:off x="647640" y="6435360"/>
            <a:ext cx="456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20" spc="-1" strike="noStrike">
                <a:solidFill>
                  <a:srgbClr val="0e0e14"/>
                </a:solidFill>
                <a:latin typeface="Inter-Semi"/>
                <a:ea typeface="Inter-Semi"/>
              </a:rPr>
              <a:t>Signed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1040400" y="6430680"/>
            <a:ext cx="5892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 </a:t>
            </a:r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by the parties to confirm their agreement to the terms above. As OBD AI Solutions is an equal partnership,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652320" y="6929280"/>
            <a:ext cx="1933920" cy="2076840"/>
          </a:xfrm>
          <a:custGeom>
            <a:avLst/>
            <a:gdLst/>
            <a:ahLst/>
            <a:rect l="0" t="0" r="r" b="b"/>
            <a:pathLst>
              <a:path w="5372" h="5769">
                <a:moveTo>
                  <a:pt x="0" y="5542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5145" y="0"/>
                </a:lnTo>
                <a:cubicBezTo>
                  <a:pt x="5160" y="0"/>
                  <a:pt x="5175" y="1"/>
                  <a:pt x="5189" y="4"/>
                </a:cubicBezTo>
                <a:cubicBezTo>
                  <a:pt x="5204" y="7"/>
                  <a:pt x="5218" y="11"/>
                  <a:pt x="5232" y="17"/>
                </a:cubicBezTo>
                <a:cubicBezTo>
                  <a:pt x="5246" y="23"/>
                  <a:pt x="5259" y="30"/>
                  <a:pt x="5271" y="38"/>
                </a:cubicBezTo>
                <a:cubicBezTo>
                  <a:pt x="5284" y="46"/>
                  <a:pt x="5295" y="56"/>
                  <a:pt x="5306" y="66"/>
                </a:cubicBezTo>
                <a:cubicBezTo>
                  <a:pt x="5316" y="77"/>
                  <a:pt x="5325" y="88"/>
                  <a:pt x="5334" y="101"/>
                </a:cubicBezTo>
                <a:cubicBezTo>
                  <a:pt x="5342" y="113"/>
                  <a:pt x="5349" y="126"/>
                  <a:pt x="5355" y="140"/>
                </a:cubicBezTo>
                <a:cubicBezTo>
                  <a:pt x="5360" y="154"/>
                  <a:pt x="5365" y="168"/>
                  <a:pt x="5368" y="182"/>
                </a:cubicBezTo>
                <a:cubicBezTo>
                  <a:pt x="5370" y="197"/>
                  <a:pt x="5372" y="212"/>
                  <a:pt x="5372" y="227"/>
                </a:cubicBezTo>
                <a:lnTo>
                  <a:pt x="5372" y="5542"/>
                </a:lnTo>
                <a:cubicBezTo>
                  <a:pt x="5372" y="5557"/>
                  <a:pt x="5370" y="5572"/>
                  <a:pt x="5368" y="5586"/>
                </a:cubicBezTo>
                <a:cubicBezTo>
                  <a:pt x="5365" y="5601"/>
                  <a:pt x="5360" y="5615"/>
                  <a:pt x="5355" y="5629"/>
                </a:cubicBezTo>
                <a:cubicBezTo>
                  <a:pt x="5349" y="5643"/>
                  <a:pt x="5342" y="5656"/>
                  <a:pt x="5334" y="5668"/>
                </a:cubicBezTo>
                <a:cubicBezTo>
                  <a:pt x="5325" y="5680"/>
                  <a:pt x="5316" y="5692"/>
                  <a:pt x="5306" y="5702"/>
                </a:cubicBezTo>
                <a:cubicBezTo>
                  <a:pt x="5295" y="5713"/>
                  <a:pt x="5284" y="5722"/>
                  <a:pt x="5271" y="5731"/>
                </a:cubicBezTo>
                <a:cubicBezTo>
                  <a:pt x="5259" y="5739"/>
                  <a:pt x="5246" y="5746"/>
                  <a:pt x="5232" y="5752"/>
                </a:cubicBezTo>
                <a:cubicBezTo>
                  <a:pt x="5218" y="5757"/>
                  <a:pt x="5204" y="5762"/>
                  <a:pt x="5189" y="5764"/>
                </a:cubicBezTo>
                <a:cubicBezTo>
                  <a:pt x="5175" y="5767"/>
                  <a:pt x="5160" y="5769"/>
                  <a:pt x="5145" y="5769"/>
                </a:cubicBezTo>
                <a:lnTo>
                  <a:pt x="227" y="5769"/>
                </a:lnTo>
                <a:cubicBezTo>
                  <a:pt x="212" y="5769"/>
                  <a:pt x="197" y="5767"/>
                  <a:pt x="182" y="5764"/>
                </a:cubicBezTo>
                <a:cubicBezTo>
                  <a:pt x="168" y="5762"/>
                  <a:pt x="154" y="5757"/>
                  <a:pt x="140" y="5752"/>
                </a:cubicBezTo>
                <a:cubicBezTo>
                  <a:pt x="126" y="5746"/>
                  <a:pt x="113" y="5739"/>
                  <a:pt x="101" y="5731"/>
                </a:cubicBezTo>
                <a:cubicBezTo>
                  <a:pt x="88" y="5722"/>
                  <a:pt x="77" y="5713"/>
                  <a:pt x="66" y="5702"/>
                </a:cubicBezTo>
                <a:cubicBezTo>
                  <a:pt x="56" y="5692"/>
                  <a:pt x="46" y="5680"/>
                  <a:pt x="38" y="5668"/>
                </a:cubicBezTo>
                <a:cubicBezTo>
                  <a:pt x="30" y="5656"/>
                  <a:pt x="23" y="5643"/>
                  <a:pt x="17" y="5629"/>
                </a:cubicBezTo>
                <a:cubicBezTo>
                  <a:pt x="11" y="5615"/>
                  <a:pt x="7" y="5601"/>
                  <a:pt x="4" y="5586"/>
                </a:cubicBezTo>
                <a:cubicBezTo>
                  <a:pt x="1" y="5572"/>
                  <a:pt x="0" y="5557"/>
                  <a:pt x="0" y="5542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838080" y="771516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838080" y="819144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838080" y="867708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647640" y="6611400"/>
            <a:ext cx="17611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20" spc="-1" strike="noStrike">
                <a:solidFill>
                  <a:srgbClr val="2a2934"/>
                </a:solidFill>
                <a:latin typeface="Inter"/>
                <a:ea typeface="Inter"/>
              </a:rPr>
              <a:t>both partners sign on its behalf:</a:t>
            </a:r>
            <a:endParaRPr b="0" lang="en-US" sz="9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837000" y="7092360"/>
            <a:ext cx="17395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a26d8"/>
                </a:solidFill>
                <a:latin typeface="Inter-Semi"/>
                <a:ea typeface="Inter-Semi"/>
              </a:rPr>
              <a:t>F O R   O B D   A I   S O L U T I O N S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837000" y="7762320"/>
            <a:ext cx="3999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Signature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837000" y="7988760"/>
            <a:ext cx="10310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Omer Bin Dawood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837000" y="8238600"/>
            <a:ext cx="3481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Founder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837000" y="8465040"/>
            <a:ext cx="1202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 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2814480" y="6929280"/>
            <a:ext cx="1933920" cy="2076840"/>
          </a:xfrm>
          <a:custGeom>
            <a:avLst/>
            <a:gdLst/>
            <a:ahLst/>
            <a:rect l="0" t="0" r="r" b="b"/>
            <a:pathLst>
              <a:path w="5372" h="5769">
                <a:moveTo>
                  <a:pt x="0" y="5542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2" y="4"/>
                </a:cubicBezTo>
                <a:cubicBezTo>
                  <a:pt x="197" y="1"/>
                  <a:pt x="212" y="0"/>
                  <a:pt x="227" y="0"/>
                </a:cubicBezTo>
                <a:lnTo>
                  <a:pt x="5145" y="0"/>
                </a:lnTo>
                <a:cubicBezTo>
                  <a:pt x="5160" y="0"/>
                  <a:pt x="5175" y="1"/>
                  <a:pt x="5189" y="4"/>
                </a:cubicBezTo>
                <a:cubicBezTo>
                  <a:pt x="5204" y="7"/>
                  <a:pt x="5218" y="11"/>
                  <a:pt x="5232" y="17"/>
                </a:cubicBezTo>
                <a:cubicBezTo>
                  <a:pt x="5246" y="23"/>
                  <a:pt x="5259" y="30"/>
                  <a:pt x="5271" y="38"/>
                </a:cubicBezTo>
                <a:cubicBezTo>
                  <a:pt x="5284" y="46"/>
                  <a:pt x="5295" y="56"/>
                  <a:pt x="5306" y="66"/>
                </a:cubicBezTo>
                <a:cubicBezTo>
                  <a:pt x="5316" y="77"/>
                  <a:pt x="5325" y="88"/>
                  <a:pt x="5334" y="101"/>
                </a:cubicBezTo>
                <a:cubicBezTo>
                  <a:pt x="5342" y="113"/>
                  <a:pt x="5349" y="126"/>
                  <a:pt x="5355" y="140"/>
                </a:cubicBezTo>
                <a:cubicBezTo>
                  <a:pt x="5360" y="154"/>
                  <a:pt x="5365" y="168"/>
                  <a:pt x="5368" y="182"/>
                </a:cubicBezTo>
                <a:cubicBezTo>
                  <a:pt x="5371" y="197"/>
                  <a:pt x="5372" y="212"/>
                  <a:pt x="5372" y="227"/>
                </a:cubicBezTo>
                <a:lnTo>
                  <a:pt x="5372" y="5542"/>
                </a:lnTo>
                <a:cubicBezTo>
                  <a:pt x="5372" y="5557"/>
                  <a:pt x="5371" y="5572"/>
                  <a:pt x="5368" y="5586"/>
                </a:cubicBezTo>
                <a:cubicBezTo>
                  <a:pt x="5365" y="5601"/>
                  <a:pt x="5360" y="5615"/>
                  <a:pt x="5355" y="5629"/>
                </a:cubicBezTo>
                <a:cubicBezTo>
                  <a:pt x="5349" y="5643"/>
                  <a:pt x="5342" y="5656"/>
                  <a:pt x="5334" y="5668"/>
                </a:cubicBezTo>
                <a:cubicBezTo>
                  <a:pt x="5325" y="5680"/>
                  <a:pt x="5316" y="5692"/>
                  <a:pt x="5306" y="5702"/>
                </a:cubicBezTo>
                <a:cubicBezTo>
                  <a:pt x="5295" y="5713"/>
                  <a:pt x="5284" y="5722"/>
                  <a:pt x="5271" y="5731"/>
                </a:cubicBezTo>
                <a:cubicBezTo>
                  <a:pt x="5259" y="5739"/>
                  <a:pt x="5246" y="5746"/>
                  <a:pt x="5232" y="5752"/>
                </a:cubicBezTo>
                <a:cubicBezTo>
                  <a:pt x="5218" y="5757"/>
                  <a:pt x="5204" y="5762"/>
                  <a:pt x="5189" y="5764"/>
                </a:cubicBezTo>
                <a:cubicBezTo>
                  <a:pt x="5175" y="5767"/>
                  <a:pt x="5160" y="5769"/>
                  <a:pt x="5145" y="5769"/>
                </a:cubicBezTo>
                <a:lnTo>
                  <a:pt x="227" y="5769"/>
                </a:lnTo>
                <a:cubicBezTo>
                  <a:pt x="212" y="5769"/>
                  <a:pt x="197" y="5767"/>
                  <a:pt x="182" y="5764"/>
                </a:cubicBezTo>
                <a:cubicBezTo>
                  <a:pt x="168" y="5762"/>
                  <a:pt x="154" y="5757"/>
                  <a:pt x="140" y="5752"/>
                </a:cubicBezTo>
                <a:cubicBezTo>
                  <a:pt x="126" y="5746"/>
                  <a:pt x="113" y="5739"/>
                  <a:pt x="101" y="5731"/>
                </a:cubicBezTo>
                <a:cubicBezTo>
                  <a:pt x="88" y="5722"/>
                  <a:pt x="77" y="5713"/>
                  <a:pt x="66" y="5702"/>
                </a:cubicBezTo>
                <a:cubicBezTo>
                  <a:pt x="56" y="5692"/>
                  <a:pt x="46" y="5680"/>
                  <a:pt x="38" y="5668"/>
                </a:cubicBezTo>
                <a:cubicBezTo>
                  <a:pt x="30" y="5656"/>
                  <a:pt x="23" y="5643"/>
                  <a:pt x="17" y="5629"/>
                </a:cubicBezTo>
                <a:cubicBezTo>
                  <a:pt x="11" y="5615"/>
                  <a:pt x="7" y="5601"/>
                  <a:pt x="4" y="5586"/>
                </a:cubicBezTo>
                <a:cubicBezTo>
                  <a:pt x="1" y="5572"/>
                  <a:pt x="0" y="5557"/>
                  <a:pt x="0" y="5542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3000240" y="771516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3000240" y="819144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3000240" y="867708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837000" y="8724600"/>
            <a:ext cx="1944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Date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2998440" y="7092360"/>
            <a:ext cx="17395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a26d8"/>
                </a:solidFill>
                <a:latin typeface="Inter-Semi"/>
                <a:ea typeface="Inter-Semi"/>
              </a:rPr>
              <a:t>F O R   O B D   A I   S O L U T I O N S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2" name=""/>
          <p:cNvSpPr txBox="1"/>
          <p:nvPr/>
        </p:nvSpPr>
        <p:spPr>
          <a:xfrm>
            <a:off x="2998440" y="7762320"/>
            <a:ext cx="3999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Signature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2998440" y="7988760"/>
            <a:ext cx="5144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Hira Baig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2998440" y="8238600"/>
            <a:ext cx="7732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Managing Director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2998440" y="8465040"/>
            <a:ext cx="1202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 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4976640" y="6929280"/>
            <a:ext cx="1933920" cy="2076840"/>
          </a:xfrm>
          <a:custGeom>
            <a:avLst/>
            <a:gdLst/>
            <a:ahLst/>
            <a:rect l="0" t="0" r="r" b="b"/>
            <a:pathLst>
              <a:path w="5372" h="5769">
                <a:moveTo>
                  <a:pt x="0" y="5542"/>
                </a:moveTo>
                <a:lnTo>
                  <a:pt x="0" y="227"/>
                </a:lnTo>
                <a:cubicBezTo>
                  <a:pt x="0" y="212"/>
                  <a:pt x="1" y="197"/>
                  <a:pt x="4" y="182"/>
                </a:cubicBezTo>
                <a:cubicBezTo>
                  <a:pt x="7" y="168"/>
                  <a:pt x="12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3" y="4"/>
                </a:cubicBezTo>
                <a:cubicBezTo>
                  <a:pt x="197" y="1"/>
                  <a:pt x="212" y="0"/>
                  <a:pt x="227" y="0"/>
                </a:cubicBezTo>
                <a:lnTo>
                  <a:pt x="5145" y="0"/>
                </a:lnTo>
                <a:cubicBezTo>
                  <a:pt x="5160" y="0"/>
                  <a:pt x="5175" y="1"/>
                  <a:pt x="5189" y="4"/>
                </a:cubicBezTo>
                <a:cubicBezTo>
                  <a:pt x="5204" y="7"/>
                  <a:pt x="5218" y="11"/>
                  <a:pt x="5232" y="17"/>
                </a:cubicBezTo>
                <a:cubicBezTo>
                  <a:pt x="5246" y="23"/>
                  <a:pt x="5259" y="30"/>
                  <a:pt x="5271" y="38"/>
                </a:cubicBezTo>
                <a:cubicBezTo>
                  <a:pt x="5284" y="46"/>
                  <a:pt x="5295" y="56"/>
                  <a:pt x="5306" y="66"/>
                </a:cubicBezTo>
                <a:cubicBezTo>
                  <a:pt x="5316" y="77"/>
                  <a:pt x="5326" y="88"/>
                  <a:pt x="5334" y="101"/>
                </a:cubicBezTo>
                <a:cubicBezTo>
                  <a:pt x="5342" y="113"/>
                  <a:pt x="5349" y="126"/>
                  <a:pt x="5355" y="140"/>
                </a:cubicBezTo>
                <a:cubicBezTo>
                  <a:pt x="5360" y="154"/>
                  <a:pt x="5365" y="168"/>
                  <a:pt x="5368" y="182"/>
                </a:cubicBezTo>
                <a:cubicBezTo>
                  <a:pt x="5371" y="197"/>
                  <a:pt x="5372" y="212"/>
                  <a:pt x="5372" y="227"/>
                </a:cubicBezTo>
                <a:lnTo>
                  <a:pt x="5372" y="5542"/>
                </a:lnTo>
                <a:cubicBezTo>
                  <a:pt x="5372" y="5557"/>
                  <a:pt x="5371" y="5572"/>
                  <a:pt x="5368" y="5586"/>
                </a:cubicBezTo>
                <a:cubicBezTo>
                  <a:pt x="5365" y="5601"/>
                  <a:pt x="5360" y="5615"/>
                  <a:pt x="5355" y="5629"/>
                </a:cubicBezTo>
                <a:cubicBezTo>
                  <a:pt x="5349" y="5643"/>
                  <a:pt x="5342" y="5656"/>
                  <a:pt x="5334" y="5668"/>
                </a:cubicBezTo>
                <a:cubicBezTo>
                  <a:pt x="5326" y="5680"/>
                  <a:pt x="5316" y="5692"/>
                  <a:pt x="5306" y="5702"/>
                </a:cubicBezTo>
                <a:cubicBezTo>
                  <a:pt x="5295" y="5713"/>
                  <a:pt x="5284" y="5722"/>
                  <a:pt x="5271" y="5731"/>
                </a:cubicBezTo>
                <a:cubicBezTo>
                  <a:pt x="5259" y="5739"/>
                  <a:pt x="5246" y="5746"/>
                  <a:pt x="5232" y="5752"/>
                </a:cubicBezTo>
                <a:cubicBezTo>
                  <a:pt x="5218" y="5757"/>
                  <a:pt x="5204" y="5762"/>
                  <a:pt x="5189" y="5764"/>
                </a:cubicBezTo>
                <a:cubicBezTo>
                  <a:pt x="5175" y="5767"/>
                  <a:pt x="5160" y="5769"/>
                  <a:pt x="5145" y="5769"/>
                </a:cubicBezTo>
                <a:lnTo>
                  <a:pt x="227" y="5769"/>
                </a:lnTo>
                <a:cubicBezTo>
                  <a:pt x="212" y="5769"/>
                  <a:pt x="197" y="5767"/>
                  <a:pt x="183" y="5764"/>
                </a:cubicBezTo>
                <a:cubicBezTo>
                  <a:pt x="168" y="5762"/>
                  <a:pt x="154" y="5757"/>
                  <a:pt x="140" y="5752"/>
                </a:cubicBezTo>
                <a:cubicBezTo>
                  <a:pt x="126" y="5746"/>
                  <a:pt x="113" y="5739"/>
                  <a:pt x="101" y="5731"/>
                </a:cubicBezTo>
                <a:cubicBezTo>
                  <a:pt x="88" y="5722"/>
                  <a:pt x="77" y="5713"/>
                  <a:pt x="66" y="5702"/>
                </a:cubicBezTo>
                <a:cubicBezTo>
                  <a:pt x="56" y="5692"/>
                  <a:pt x="46" y="5680"/>
                  <a:pt x="38" y="5668"/>
                </a:cubicBezTo>
                <a:cubicBezTo>
                  <a:pt x="30" y="5656"/>
                  <a:pt x="23" y="5643"/>
                  <a:pt x="17" y="5629"/>
                </a:cubicBezTo>
                <a:cubicBezTo>
                  <a:pt x="12" y="5615"/>
                  <a:pt x="7" y="5601"/>
                  <a:pt x="4" y="5586"/>
                </a:cubicBezTo>
                <a:cubicBezTo>
                  <a:pt x="1" y="5572"/>
                  <a:pt x="0" y="5557"/>
                  <a:pt x="0" y="5542"/>
                </a:cubicBezTo>
                <a:close/>
              </a:path>
            </a:pathLst>
          </a:custGeom>
          <a:noFill/>
          <a:ln w="9360">
            <a:solidFill>
              <a:srgbClr val="e6e1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5162400" y="771516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5162400" y="819144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5162400" y="867708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2998440" y="8724600"/>
            <a:ext cx="1944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Date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5159520" y="7092360"/>
            <a:ext cx="7657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a26d8"/>
                </a:solidFill>
                <a:latin typeface="Inter-Semi"/>
                <a:ea typeface="Inter-Semi"/>
              </a:rPr>
              <a:t>F O R   G F X - T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5159520" y="7762320"/>
            <a:ext cx="3999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Signature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5159520" y="7988760"/>
            <a:ext cx="1202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 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5159520" y="8238600"/>
            <a:ext cx="83736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Name &amp; designation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5159520" y="8465040"/>
            <a:ext cx="12024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50" spc="-1" strike="noStrike">
                <a:solidFill>
                  <a:srgbClr val="0e0e14"/>
                </a:solidFill>
                <a:latin typeface="Inter"/>
                <a:ea typeface="Inter"/>
              </a:rPr>
              <a:t> </a:t>
            </a:r>
            <a:endParaRPr b="0" lang="en-US" sz="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5159520" y="8724600"/>
            <a:ext cx="1944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6b6878"/>
                </a:solidFill>
                <a:latin typeface="Inter"/>
                <a:ea typeface="Inter"/>
              </a:rPr>
              <a:t>Date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1035000" y="3768840"/>
            <a:ext cx="13752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Domain &amp; DNS configuration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837000" y="3762720"/>
            <a:ext cx="107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50" spc="-1" strike="noStrike">
                <a:solidFill>
                  <a:srgbClr val="6a26d8"/>
                </a:solidFill>
                <a:latin typeface="Inter"/>
                <a:ea typeface="Inter"/>
              </a:rPr>
              <a:t>✓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1035000" y="4025880"/>
            <a:ext cx="16513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Hosting setup and website go-live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837000" y="4019760"/>
            <a:ext cx="107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50" spc="-1" strike="noStrike">
                <a:solidFill>
                  <a:srgbClr val="6a26d8"/>
                </a:solidFill>
                <a:latin typeface="Inter"/>
                <a:ea typeface="Inter"/>
              </a:rPr>
              <a:t>✓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1035000" y="4283280"/>
            <a:ext cx="20671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SSL certificate HTTPS) and security setup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837000" y="4276800"/>
            <a:ext cx="107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50" spc="-1" strike="noStrike">
                <a:solidFill>
                  <a:srgbClr val="6a26d8"/>
                </a:solidFill>
                <a:latin typeface="Inter"/>
                <a:ea typeface="Inter"/>
              </a:rPr>
              <a:t>✓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1035000" y="4540320"/>
            <a:ext cx="18723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1 professional mailbox configured (e.g.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1035000" y="4702320"/>
            <a:ext cx="7473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info@gfxt.com)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837000" y="4534200"/>
            <a:ext cx="107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50" spc="-1" strike="noStrike">
                <a:solidFill>
                  <a:srgbClr val="6a26d8"/>
                </a:solidFill>
                <a:latin typeface="Inter"/>
                <a:ea typeface="Inter"/>
              </a:rPr>
              <a:t>✓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1035000" y="4959360"/>
            <a:ext cx="21481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Mailbox set up on one phone and one laptop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837000" y="4953240"/>
            <a:ext cx="107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50" spc="-1" strike="noStrike">
                <a:solidFill>
                  <a:srgbClr val="6a26d8"/>
                </a:solidFill>
                <a:latin typeface="Inter"/>
                <a:ea typeface="Inter"/>
              </a:rPr>
              <a:t>✓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1035000" y="5216400"/>
            <a:ext cx="23295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Launch support: fixes reported within 14 days of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9" name=""/>
          <p:cNvSpPr txBox="1"/>
          <p:nvPr/>
        </p:nvSpPr>
        <p:spPr>
          <a:xfrm>
            <a:off x="1035000" y="5378400"/>
            <a:ext cx="3376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go-live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837000" y="5210280"/>
            <a:ext cx="107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850" spc="-1" strike="noStrike">
                <a:solidFill>
                  <a:srgbClr val="6a26d8"/>
                </a:solidFill>
                <a:latin typeface="Inter"/>
                <a:ea typeface="Inter"/>
              </a:rPr>
              <a:t>✓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